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2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40"/>
  </p:normalViewPr>
  <p:slideViewPr>
    <p:cSldViewPr snapToGrid="0" snapToObjects="1">
      <p:cViewPr varScale="1">
        <p:scale>
          <a:sx n="107" d="100"/>
          <a:sy n="107" d="100"/>
        </p:scale>
        <p:origin x="560" y="1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4FAC933-205D-4715-95BA-F8B02A41C93C}" type="doc">
      <dgm:prSet loTypeId="urn:microsoft.com/office/officeart/2009/3/layout/HorizontalOrganizationChart" loCatId="hierarchy" qsTypeId="urn:microsoft.com/office/officeart/2005/8/quickstyle/simple2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F652D1E3-D396-40EC-8FF3-74B3F58E2622}">
      <dgm:prSet/>
      <dgm:spPr/>
      <dgm:t>
        <a:bodyPr/>
        <a:lstStyle/>
        <a:p>
          <a:r>
            <a:rPr lang="en-US" baseline="0"/>
            <a:t>Audience: Netflix executives &amp; content strategists</a:t>
          </a:r>
          <a:endParaRPr lang="en-US"/>
        </a:p>
      </dgm:t>
    </dgm:pt>
    <dgm:pt modelId="{0C7D1493-A71C-45D8-B034-87F0F47EA60A}" type="parTrans" cxnId="{E6893785-9884-40A9-84E0-F41410CD96A3}">
      <dgm:prSet/>
      <dgm:spPr/>
      <dgm:t>
        <a:bodyPr/>
        <a:lstStyle/>
        <a:p>
          <a:endParaRPr lang="en-US"/>
        </a:p>
      </dgm:t>
    </dgm:pt>
    <dgm:pt modelId="{395C8171-24F5-4CB6-9EAE-9A78A1EF2E51}" type="sibTrans" cxnId="{E6893785-9884-40A9-84E0-F41410CD96A3}">
      <dgm:prSet/>
      <dgm:spPr/>
      <dgm:t>
        <a:bodyPr/>
        <a:lstStyle/>
        <a:p>
          <a:endParaRPr lang="en-US"/>
        </a:p>
      </dgm:t>
    </dgm:pt>
    <dgm:pt modelId="{AD0D8EA3-6B39-4AAA-9AAC-B1C2A2A622BD}">
      <dgm:prSet/>
      <dgm:spPr/>
      <dgm:t>
        <a:bodyPr/>
        <a:lstStyle/>
        <a:p>
          <a:r>
            <a:rPr lang="en-US" baseline="0"/>
            <a:t>Purpose: Secure greenlight for a data-inspired series</a:t>
          </a:r>
          <a:endParaRPr lang="en-US"/>
        </a:p>
      </dgm:t>
    </dgm:pt>
    <dgm:pt modelId="{8D4AE6B8-4C37-4092-B48D-E53194449FAC}" type="parTrans" cxnId="{442F770E-EFE6-442D-866E-077BE9EA3413}">
      <dgm:prSet/>
      <dgm:spPr/>
      <dgm:t>
        <a:bodyPr/>
        <a:lstStyle/>
        <a:p>
          <a:endParaRPr lang="en-US"/>
        </a:p>
      </dgm:t>
    </dgm:pt>
    <dgm:pt modelId="{4AE98C31-C06A-4947-9E6E-C912DBFBEA12}" type="sibTrans" cxnId="{442F770E-EFE6-442D-866E-077BE9EA3413}">
      <dgm:prSet/>
      <dgm:spPr/>
      <dgm:t>
        <a:bodyPr/>
        <a:lstStyle/>
        <a:p>
          <a:endParaRPr lang="en-US"/>
        </a:p>
      </dgm:t>
    </dgm:pt>
    <dgm:pt modelId="{93AC21CF-3A33-4213-A442-183E00E112F1}">
      <dgm:prSet/>
      <dgm:spPr/>
      <dgm:t>
        <a:bodyPr/>
        <a:lstStyle/>
        <a:p>
          <a:r>
            <a:rPr lang="en-US" baseline="0"/>
            <a:t>Medium: 10–15 slide PowerPoint + Python Notebook</a:t>
          </a:r>
          <a:endParaRPr lang="en-US"/>
        </a:p>
      </dgm:t>
    </dgm:pt>
    <dgm:pt modelId="{5B79712E-2626-41AC-AD3B-1679C8348477}" type="parTrans" cxnId="{94CA4FDC-5457-4ADD-9E28-AEB1833E5603}">
      <dgm:prSet/>
      <dgm:spPr/>
      <dgm:t>
        <a:bodyPr/>
        <a:lstStyle/>
        <a:p>
          <a:endParaRPr lang="en-US"/>
        </a:p>
      </dgm:t>
    </dgm:pt>
    <dgm:pt modelId="{B66AC573-970C-40C6-A46B-3D28160F9BB8}" type="sibTrans" cxnId="{94CA4FDC-5457-4ADD-9E28-AEB1833E5603}">
      <dgm:prSet/>
      <dgm:spPr/>
      <dgm:t>
        <a:bodyPr/>
        <a:lstStyle/>
        <a:p>
          <a:endParaRPr lang="en-US"/>
        </a:p>
      </dgm:t>
    </dgm:pt>
    <dgm:pt modelId="{0643466E-CBDD-C147-A834-147C4DD9EDAE}" type="pres">
      <dgm:prSet presAssocID="{B4FAC933-205D-4715-95BA-F8B02A41C93C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E5C23706-234E-D548-ACA1-D17650707FA3}" type="pres">
      <dgm:prSet presAssocID="{F652D1E3-D396-40EC-8FF3-74B3F58E2622}" presName="hierRoot1" presStyleCnt="0">
        <dgm:presLayoutVars>
          <dgm:hierBranch val="init"/>
        </dgm:presLayoutVars>
      </dgm:prSet>
      <dgm:spPr/>
    </dgm:pt>
    <dgm:pt modelId="{4D38DA24-54A6-694C-A3B0-67AB4DC28CD3}" type="pres">
      <dgm:prSet presAssocID="{F652D1E3-D396-40EC-8FF3-74B3F58E2622}" presName="rootComposite1" presStyleCnt="0"/>
      <dgm:spPr/>
    </dgm:pt>
    <dgm:pt modelId="{F8A73DA2-0745-7B42-9A32-3F3D63254D68}" type="pres">
      <dgm:prSet presAssocID="{F652D1E3-D396-40EC-8FF3-74B3F58E2622}" presName="rootText1" presStyleLbl="node0" presStyleIdx="0" presStyleCnt="3">
        <dgm:presLayoutVars>
          <dgm:chPref val="3"/>
        </dgm:presLayoutVars>
      </dgm:prSet>
      <dgm:spPr/>
    </dgm:pt>
    <dgm:pt modelId="{55DB2C4D-7A89-EB49-B751-E7A845F37408}" type="pres">
      <dgm:prSet presAssocID="{F652D1E3-D396-40EC-8FF3-74B3F58E2622}" presName="rootConnector1" presStyleLbl="node1" presStyleIdx="0" presStyleCnt="0"/>
      <dgm:spPr/>
    </dgm:pt>
    <dgm:pt modelId="{145D12FE-AA85-104A-8F51-D417983D46A7}" type="pres">
      <dgm:prSet presAssocID="{F652D1E3-D396-40EC-8FF3-74B3F58E2622}" presName="hierChild2" presStyleCnt="0"/>
      <dgm:spPr/>
    </dgm:pt>
    <dgm:pt modelId="{EB48AD0E-DCF8-A047-9A74-5CFED901D7D5}" type="pres">
      <dgm:prSet presAssocID="{F652D1E3-D396-40EC-8FF3-74B3F58E2622}" presName="hierChild3" presStyleCnt="0"/>
      <dgm:spPr/>
    </dgm:pt>
    <dgm:pt modelId="{98D7722B-BAB5-F344-9179-184A72A5BF96}" type="pres">
      <dgm:prSet presAssocID="{AD0D8EA3-6B39-4AAA-9AAC-B1C2A2A622BD}" presName="hierRoot1" presStyleCnt="0">
        <dgm:presLayoutVars>
          <dgm:hierBranch val="init"/>
        </dgm:presLayoutVars>
      </dgm:prSet>
      <dgm:spPr/>
    </dgm:pt>
    <dgm:pt modelId="{3E572257-4F82-A949-9E6C-1ED196754D04}" type="pres">
      <dgm:prSet presAssocID="{AD0D8EA3-6B39-4AAA-9AAC-B1C2A2A622BD}" presName="rootComposite1" presStyleCnt="0"/>
      <dgm:spPr/>
    </dgm:pt>
    <dgm:pt modelId="{69C02A04-217F-9E43-AD91-48193F04BF6A}" type="pres">
      <dgm:prSet presAssocID="{AD0D8EA3-6B39-4AAA-9AAC-B1C2A2A622BD}" presName="rootText1" presStyleLbl="node0" presStyleIdx="1" presStyleCnt="3">
        <dgm:presLayoutVars>
          <dgm:chPref val="3"/>
        </dgm:presLayoutVars>
      </dgm:prSet>
      <dgm:spPr/>
    </dgm:pt>
    <dgm:pt modelId="{4093F32E-C95D-774B-9B37-87D467FAA4AA}" type="pres">
      <dgm:prSet presAssocID="{AD0D8EA3-6B39-4AAA-9AAC-B1C2A2A622BD}" presName="rootConnector1" presStyleLbl="node1" presStyleIdx="0" presStyleCnt="0"/>
      <dgm:spPr/>
    </dgm:pt>
    <dgm:pt modelId="{677CDE81-72D3-BA4E-B3CD-709E237542AA}" type="pres">
      <dgm:prSet presAssocID="{AD0D8EA3-6B39-4AAA-9AAC-B1C2A2A622BD}" presName="hierChild2" presStyleCnt="0"/>
      <dgm:spPr/>
    </dgm:pt>
    <dgm:pt modelId="{105FB895-5794-6B43-B6ED-5D289E92CEFD}" type="pres">
      <dgm:prSet presAssocID="{AD0D8EA3-6B39-4AAA-9AAC-B1C2A2A622BD}" presName="hierChild3" presStyleCnt="0"/>
      <dgm:spPr/>
    </dgm:pt>
    <dgm:pt modelId="{FB32C4D4-D721-AB4B-9418-DFD877A6EBF2}" type="pres">
      <dgm:prSet presAssocID="{93AC21CF-3A33-4213-A442-183E00E112F1}" presName="hierRoot1" presStyleCnt="0">
        <dgm:presLayoutVars>
          <dgm:hierBranch val="init"/>
        </dgm:presLayoutVars>
      </dgm:prSet>
      <dgm:spPr/>
    </dgm:pt>
    <dgm:pt modelId="{0C931633-E2D3-0542-924A-AC864DB5289F}" type="pres">
      <dgm:prSet presAssocID="{93AC21CF-3A33-4213-A442-183E00E112F1}" presName="rootComposite1" presStyleCnt="0"/>
      <dgm:spPr/>
    </dgm:pt>
    <dgm:pt modelId="{59F5C7C5-0191-A545-B60E-71A1D5FF948F}" type="pres">
      <dgm:prSet presAssocID="{93AC21CF-3A33-4213-A442-183E00E112F1}" presName="rootText1" presStyleLbl="node0" presStyleIdx="2" presStyleCnt="3">
        <dgm:presLayoutVars>
          <dgm:chPref val="3"/>
        </dgm:presLayoutVars>
      </dgm:prSet>
      <dgm:spPr/>
    </dgm:pt>
    <dgm:pt modelId="{8FFBEC6E-767D-AF4C-91C4-76E865BC0126}" type="pres">
      <dgm:prSet presAssocID="{93AC21CF-3A33-4213-A442-183E00E112F1}" presName="rootConnector1" presStyleLbl="node1" presStyleIdx="0" presStyleCnt="0"/>
      <dgm:spPr/>
    </dgm:pt>
    <dgm:pt modelId="{728BC9AC-6D5B-4E45-812D-76555D183825}" type="pres">
      <dgm:prSet presAssocID="{93AC21CF-3A33-4213-A442-183E00E112F1}" presName="hierChild2" presStyleCnt="0"/>
      <dgm:spPr/>
    </dgm:pt>
    <dgm:pt modelId="{9AFC610C-1A9A-A142-A87B-AA8155B3DC07}" type="pres">
      <dgm:prSet presAssocID="{93AC21CF-3A33-4213-A442-183E00E112F1}" presName="hierChild3" presStyleCnt="0"/>
      <dgm:spPr/>
    </dgm:pt>
  </dgm:ptLst>
  <dgm:cxnLst>
    <dgm:cxn modelId="{442F770E-EFE6-442D-866E-077BE9EA3413}" srcId="{B4FAC933-205D-4715-95BA-F8B02A41C93C}" destId="{AD0D8EA3-6B39-4AAA-9AAC-B1C2A2A622BD}" srcOrd="1" destOrd="0" parTransId="{8D4AE6B8-4C37-4092-B48D-E53194449FAC}" sibTransId="{4AE98C31-C06A-4947-9E6E-C912DBFBEA12}"/>
    <dgm:cxn modelId="{3647B216-C45B-DB40-81C4-16DB7CB3A9D7}" type="presOf" srcId="{F652D1E3-D396-40EC-8FF3-74B3F58E2622}" destId="{55DB2C4D-7A89-EB49-B751-E7A845F37408}" srcOrd="1" destOrd="0" presId="urn:microsoft.com/office/officeart/2009/3/layout/HorizontalOrganizationChart"/>
    <dgm:cxn modelId="{24867A38-FA97-5F4F-B113-16EA1291F3D9}" type="presOf" srcId="{F652D1E3-D396-40EC-8FF3-74B3F58E2622}" destId="{F8A73DA2-0745-7B42-9A32-3F3D63254D68}" srcOrd="0" destOrd="0" presId="urn:microsoft.com/office/officeart/2009/3/layout/HorizontalOrganizationChart"/>
    <dgm:cxn modelId="{7845E555-3B5E-7A44-AE77-7DB394278599}" type="presOf" srcId="{AD0D8EA3-6B39-4AAA-9AAC-B1C2A2A622BD}" destId="{69C02A04-217F-9E43-AD91-48193F04BF6A}" srcOrd="0" destOrd="0" presId="urn:microsoft.com/office/officeart/2009/3/layout/HorizontalOrganizationChart"/>
    <dgm:cxn modelId="{E2FA2B5C-0C17-FC48-8E1C-6E6135E55901}" type="presOf" srcId="{93AC21CF-3A33-4213-A442-183E00E112F1}" destId="{8FFBEC6E-767D-AF4C-91C4-76E865BC0126}" srcOrd="1" destOrd="0" presId="urn:microsoft.com/office/officeart/2009/3/layout/HorizontalOrganizationChart"/>
    <dgm:cxn modelId="{C4BBB05F-E49D-2145-86F5-F5956A3ED75F}" type="presOf" srcId="{AD0D8EA3-6B39-4AAA-9AAC-B1C2A2A622BD}" destId="{4093F32E-C95D-774B-9B37-87D467FAA4AA}" srcOrd="1" destOrd="0" presId="urn:microsoft.com/office/officeart/2009/3/layout/HorizontalOrganizationChart"/>
    <dgm:cxn modelId="{E6893785-9884-40A9-84E0-F41410CD96A3}" srcId="{B4FAC933-205D-4715-95BA-F8B02A41C93C}" destId="{F652D1E3-D396-40EC-8FF3-74B3F58E2622}" srcOrd="0" destOrd="0" parTransId="{0C7D1493-A71C-45D8-B034-87F0F47EA60A}" sibTransId="{395C8171-24F5-4CB6-9EAE-9A78A1EF2E51}"/>
    <dgm:cxn modelId="{CE84CA8D-E4B0-1F42-A3FC-2F8197A6D572}" type="presOf" srcId="{93AC21CF-3A33-4213-A442-183E00E112F1}" destId="{59F5C7C5-0191-A545-B60E-71A1D5FF948F}" srcOrd="0" destOrd="0" presId="urn:microsoft.com/office/officeart/2009/3/layout/HorizontalOrganizationChart"/>
    <dgm:cxn modelId="{2A45C6B7-253C-9C43-89D6-C895AD9FA27F}" type="presOf" srcId="{B4FAC933-205D-4715-95BA-F8B02A41C93C}" destId="{0643466E-CBDD-C147-A834-147C4DD9EDAE}" srcOrd="0" destOrd="0" presId="urn:microsoft.com/office/officeart/2009/3/layout/HorizontalOrganizationChart"/>
    <dgm:cxn modelId="{94CA4FDC-5457-4ADD-9E28-AEB1833E5603}" srcId="{B4FAC933-205D-4715-95BA-F8B02A41C93C}" destId="{93AC21CF-3A33-4213-A442-183E00E112F1}" srcOrd="2" destOrd="0" parTransId="{5B79712E-2626-41AC-AD3B-1679C8348477}" sibTransId="{B66AC573-970C-40C6-A46B-3D28160F9BB8}"/>
    <dgm:cxn modelId="{A79647B4-B65D-1F43-8427-2D6809959223}" type="presParOf" srcId="{0643466E-CBDD-C147-A834-147C4DD9EDAE}" destId="{E5C23706-234E-D548-ACA1-D17650707FA3}" srcOrd="0" destOrd="0" presId="urn:microsoft.com/office/officeart/2009/3/layout/HorizontalOrganizationChart"/>
    <dgm:cxn modelId="{E706E0EA-1922-B94C-BEB1-677F0CFADE21}" type="presParOf" srcId="{E5C23706-234E-D548-ACA1-D17650707FA3}" destId="{4D38DA24-54A6-694C-A3B0-67AB4DC28CD3}" srcOrd="0" destOrd="0" presId="urn:microsoft.com/office/officeart/2009/3/layout/HorizontalOrganizationChart"/>
    <dgm:cxn modelId="{86C615E7-FAA3-8D4F-8E1F-12B5C1B0F229}" type="presParOf" srcId="{4D38DA24-54A6-694C-A3B0-67AB4DC28CD3}" destId="{F8A73DA2-0745-7B42-9A32-3F3D63254D68}" srcOrd="0" destOrd="0" presId="urn:microsoft.com/office/officeart/2009/3/layout/HorizontalOrganizationChart"/>
    <dgm:cxn modelId="{4C81F7EC-65D7-6848-8612-33C5DA677054}" type="presParOf" srcId="{4D38DA24-54A6-694C-A3B0-67AB4DC28CD3}" destId="{55DB2C4D-7A89-EB49-B751-E7A845F37408}" srcOrd="1" destOrd="0" presId="urn:microsoft.com/office/officeart/2009/3/layout/HorizontalOrganizationChart"/>
    <dgm:cxn modelId="{16AD76B0-1264-0445-9A3B-09B08E1D4963}" type="presParOf" srcId="{E5C23706-234E-D548-ACA1-D17650707FA3}" destId="{145D12FE-AA85-104A-8F51-D417983D46A7}" srcOrd="1" destOrd="0" presId="urn:microsoft.com/office/officeart/2009/3/layout/HorizontalOrganizationChart"/>
    <dgm:cxn modelId="{208D7E39-78A7-CA41-8320-8CC5F8273336}" type="presParOf" srcId="{E5C23706-234E-D548-ACA1-D17650707FA3}" destId="{EB48AD0E-DCF8-A047-9A74-5CFED901D7D5}" srcOrd="2" destOrd="0" presId="urn:microsoft.com/office/officeart/2009/3/layout/HorizontalOrganizationChart"/>
    <dgm:cxn modelId="{2D7925CD-C3CB-9041-85B9-FF5FAB9E8F67}" type="presParOf" srcId="{0643466E-CBDD-C147-A834-147C4DD9EDAE}" destId="{98D7722B-BAB5-F344-9179-184A72A5BF96}" srcOrd="1" destOrd="0" presId="urn:microsoft.com/office/officeart/2009/3/layout/HorizontalOrganizationChart"/>
    <dgm:cxn modelId="{C45D54F8-2F93-DD45-9555-1A02CEEAA862}" type="presParOf" srcId="{98D7722B-BAB5-F344-9179-184A72A5BF96}" destId="{3E572257-4F82-A949-9E6C-1ED196754D04}" srcOrd="0" destOrd="0" presId="urn:microsoft.com/office/officeart/2009/3/layout/HorizontalOrganizationChart"/>
    <dgm:cxn modelId="{1DCC4950-60BC-9B44-9BEB-E04E562CC1A0}" type="presParOf" srcId="{3E572257-4F82-A949-9E6C-1ED196754D04}" destId="{69C02A04-217F-9E43-AD91-48193F04BF6A}" srcOrd="0" destOrd="0" presId="urn:microsoft.com/office/officeart/2009/3/layout/HorizontalOrganizationChart"/>
    <dgm:cxn modelId="{C8924002-5A60-8540-AB11-76C63DFBD821}" type="presParOf" srcId="{3E572257-4F82-A949-9E6C-1ED196754D04}" destId="{4093F32E-C95D-774B-9B37-87D467FAA4AA}" srcOrd="1" destOrd="0" presId="urn:microsoft.com/office/officeart/2009/3/layout/HorizontalOrganizationChart"/>
    <dgm:cxn modelId="{82AFB928-AFDB-3C4A-BE8F-F5014EE0AE10}" type="presParOf" srcId="{98D7722B-BAB5-F344-9179-184A72A5BF96}" destId="{677CDE81-72D3-BA4E-B3CD-709E237542AA}" srcOrd="1" destOrd="0" presId="urn:microsoft.com/office/officeart/2009/3/layout/HorizontalOrganizationChart"/>
    <dgm:cxn modelId="{D52D2B71-6704-9247-8219-34FC24A58F32}" type="presParOf" srcId="{98D7722B-BAB5-F344-9179-184A72A5BF96}" destId="{105FB895-5794-6B43-B6ED-5D289E92CEFD}" srcOrd="2" destOrd="0" presId="urn:microsoft.com/office/officeart/2009/3/layout/HorizontalOrganizationChart"/>
    <dgm:cxn modelId="{28D06B5D-9C52-C44A-A9B5-DBC67A9A0437}" type="presParOf" srcId="{0643466E-CBDD-C147-A834-147C4DD9EDAE}" destId="{FB32C4D4-D721-AB4B-9418-DFD877A6EBF2}" srcOrd="2" destOrd="0" presId="urn:microsoft.com/office/officeart/2009/3/layout/HorizontalOrganizationChart"/>
    <dgm:cxn modelId="{28C73C3E-EF80-714B-BB78-ED38AF945324}" type="presParOf" srcId="{FB32C4D4-D721-AB4B-9418-DFD877A6EBF2}" destId="{0C931633-E2D3-0542-924A-AC864DB5289F}" srcOrd="0" destOrd="0" presId="urn:microsoft.com/office/officeart/2009/3/layout/HorizontalOrganizationChart"/>
    <dgm:cxn modelId="{90857646-368A-4743-89FF-51364FC8B403}" type="presParOf" srcId="{0C931633-E2D3-0542-924A-AC864DB5289F}" destId="{59F5C7C5-0191-A545-B60E-71A1D5FF948F}" srcOrd="0" destOrd="0" presId="urn:microsoft.com/office/officeart/2009/3/layout/HorizontalOrganizationChart"/>
    <dgm:cxn modelId="{01B2C734-FAD5-1941-82A3-5D576226BB11}" type="presParOf" srcId="{0C931633-E2D3-0542-924A-AC864DB5289F}" destId="{8FFBEC6E-767D-AF4C-91C4-76E865BC0126}" srcOrd="1" destOrd="0" presId="urn:microsoft.com/office/officeart/2009/3/layout/HorizontalOrganizationChart"/>
    <dgm:cxn modelId="{2BE2FF5B-976D-AE46-ADB6-CB153BA8968D}" type="presParOf" srcId="{FB32C4D4-D721-AB4B-9418-DFD877A6EBF2}" destId="{728BC9AC-6D5B-4E45-812D-76555D183825}" srcOrd="1" destOrd="0" presId="urn:microsoft.com/office/officeart/2009/3/layout/HorizontalOrganizationChart"/>
    <dgm:cxn modelId="{C545885C-8572-CD4E-AE3A-C6308607463C}" type="presParOf" srcId="{FB32C4D4-D721-AB4B-9418-DFD877A6EBF2}" destId="{9AFC610C-1A9A-A142-A87B-AA8155B3DC07}" srcOrd="2" destOrd="0" presId="urn:microsoft.com/office/officeart/2009/3/layout/HorizontalOrganizationChart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9A1040DD-41FD-4D65-9A0E-93FFA5415183}" type="doc">
      <dgm:prSet loTypeId="urn:microsoft.com/office/officeart/2005/8/layout/vList2" loCatId="list" qsTypeId="urn:microsoft.com/office/officeart/2005/8/quickstyle/simple2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1FE2B2FD-74BE-4C86-A5A0-94A2A261CFDD}">
      <dgm:prSet/>
      <dgm:spPr/>
      <dgm:t>
        <a:bodyPr/>
        <a:lstStyle/>
        <a:p>
          <a:r>
            <a:rPr lang="en-US" baseline="0"/>
            <a:t>• Color: Netflix red (global) &amp; slate blue (regional)</a:t>
          </a:r>
          <a:endParaRPr lang="en-US"/>
        </a:p>
      </dgm:t>
    </dgm:pt>
    <dgm:pt modelId="{A4062CCA-0B28-4254-8FC7-5B4B2CDCF798}" type="parTrans" cxnId="{DE01C833-219F-4E4D-AFB0-DD4F1BADCE25}">
      <dgm:prSet/>
      <dgm:spPr/>
      <dgm:t>
        <a:bodyPr/>
        <a:lstStyle/>
        <a:p>
          <a:endParaRPr lang="en-US"/>
        </a:p>
      </dgm:t>
    </dgm:pt>
    <dgm:pt modelId="{A6F0FCE9-E817-4A12-9E2A-0D9146A9BA69}" type="sibTrans" cxnId="{DE01C833-219F-4E4D-AFB0-DD4F1BADCE25}">
      <dgm:prSet/>
      <dgm:spPr/>
      <dgm:t>
        <a:bodyPr/>
        <a:lstStyle/>
        <a:p>
          <a:endParaRPr lang="en-US"/>
        </a:p>
      </dgm:t>
    </dgm:pt>
    <dgm:pt modelId="{86515E7F-C25A-49C2-99F5-B5B6D3DFC293}">
      <dgm:prSet/>
      <dgm:spPr/>
      <dgm:t>
        <a:bodyPr/>
        <a:lstStyle/>
        <a:p>
          <a:r>
            <a:rPr lang="en-US" baseline="0"/>
            <a:t>• Layout: White background, clean fonts, ample whitespace</a:t>
          </a:r>
          <a:endParaRPr lang="en-US"/>
        </a:p>
      </dgm:t>
    </dgm:pt>
    <dgm:pt modelId="{61C1EA88-58C4-4359-BE18-34E147B5CC38}" type="parTrans" cxnId="{10547DD9-2BDD-43DF-B0B8-7577F77A168F}">
      <dgm:prSet/>
      <dgm:spPr/>
      <dgm:t>
        <a:bodyPr/>
        <a:lstStyle/>
        <a:p>
          <a:endParaRPr lang="en-US"/>
        </a:p>
      </dgm:t>
    </dgm:pt>
    <dgm:pt modelId="{6E2029E3-E83B-4353-B272-50164E4915B9}" type="sibTrans" cxnId="{10547DD9-2BDD-43DF-B0B8-7577F77A168F}">
      <dgm:prSet/>
      <dgm:spPr/>
      <dgm:t>
        <a:bodyPr/>
        <a:lstStyle/>
        <a:p>
          <a:endParaRPr lang="en-US"/>
        </a:p>
      </dgm:t>
    </dgm:pt>
    <dgm:pt modelId="{CFA397EF-F895-42BF-B844-BED6BB9184C4}">
      <dgm:prSet/>
      <dgm:spPr/>
      <dgm:t>
        <a:bodyPr/>
        <a:lstStyle/>
        <a:p>
          <a:r>
            <a:rPr lang="en-US" baseline="0"/>
            <a:t>• Charts: Bars for comparisons, lines for trends</a:t>
          </a:r>
          <a:endParaRPr lang="en-US"/>
        </a:p>
      </dgm:t>
    </dgm:pt>
    <dgm:pt modelId="{DDCB06BF-38EE-45F3-90C8-F36BCAFBB3BF}" type="parTrans" cxnId="{47418613-4C10-4C11-AE23-6EFD6561EFE3}">
      <dgm:prSet/>
      <dgm:spPr/>
      <dgm:t>
        <a:bodyPr/>
        <a:lstStyle/>
        <a:p>
          <a:endParaRPr lang="en-US"/>
        </a:p>
      </dgm:t>
    </dgm:pt>
    <dgm:pt modelId="{4DF7970E-9158-480F-B53E-17075FE062BF}" type="sibTrans" cxnId="{47418613-4C10-4C11-AE23-6EFD6561EFE3}">
      <dgm:prSet/>
      <dgm:spPr/>
      <dgm:t>
        <a:bodyPr/>
        <a:lstStyle/>
        <a:p>
          <a:endParaRPr lang="en-US"/>
        </a:p>
      </dgm:t>
    </dgm:pt>
    <dgm:pt modelId="{CA6E43F1-5995-9044-9BA8-7281A039B899}" type="pres">
      <dgm:prSet presAssocID="{9A1040DD-41FD-4D65-9A0E-93FFA5415183}" presName="linear" presStyleCnt="0">
        <dgm:presLayoutVars>
          <dgm:animLvl val="lvl"/>
          <dgm:resizeHandles val="exact"/>
        </dgm:presLayoutVars>
      </dgm:prSet>
      <dgm:spPr/>
    </dgm:pt>
    <dgm:pt modelId="{BE529C38-9423-064D-A33F-872300575A50}" type="pres">
      <dgm:prSet presAssocID="{1FE2B2FD-74BE-4C86-A5A0-94A2A261CFDD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89BDF916-D881-5242-A1C0-52412EB22C75}" type="pres">
      <dgm:prSet presAssocID="{A6F0FCE9-E817-4A12-9E2A-0D9146A9BA69}" presName="spacer" presStyleCnt="0"/>
      <dgm:spPr/>
    </dgm:pt>
    <dgm:pt modelId="{D35C9592-39DB-9440-8F26-218AF081735E}" type="pres">
      <dgm:prSet presAssocID="{86515E7F-C25A-49C2-99F5-B5B6D3DFC293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19321647-3879-DB45-AC59-FB27E7E26D82}" type="pres">
      <dgm:prSet presAssocID="{6E2029E3-E83B-4353-B272-50164E4915B9}" presName="spacer" presStyleCnt="0"/>
      <dgm:spPr/>
    </dgm:pt>
    <dgm:pt modelId="{621DBE8B-F79D-4A45-B4F9-2093A5F6A153}" type="pres">
      <dgm:prSet presAssocID="{CFA397EF-F895-42BF-B844-BED6BB9184C4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949D160C-F7BB-8F47-BDFB-F963B1A67951}" type="presOf" srcId="{86515E7F-C25A-49C2-99F5-B5B6D3DFC293}" destId="{D35C9592-39DB-9440-8F26-218AF081735E}" srcOrd="0" destOrd="0" presId="urn:microsoft.com/office/officeart/2005/8/layout/vList2"/>
    <dgm:cxn modelId="{47418613-4C10-4C11-AE23-6EFD6561EFE3}" srcId="{9A1040DD-41FD-4D65-9A0E-93FFA5415183}" destId="{CFA397EF-F895-42BF-B844-BED6BB9184C4}" srcOrd="2" destOrd="0" parTransId="{DDCB06BF-38EE-45F3-90C8-F36BCAFBB3BF}" sibTransId="{4DF7970E-9158-480F-B53E-17075FE062BF}"/>
    <dgm:cxn modelId="{DE01C833-219F-4E4D-AFB0-DD4F1BADCE25}" srcId="{9A1040DD-41FD-4D65-9A0E-93FFA5415183}" destId="{1FE2B2FD-74BE-4C86-A5A0-94A2A261CFDD}" srcOrd="0" destOrd="0" parTransId="{A4062CCA-0B28-4254-8FC7-5B4B2CDCF798}" sibTransId="{A6F0FCE9-E817-4A12-9E2A-0D9146A9BA69}"/>
    <dgm:cxn modelId="{CA9F4691-EFC6-6F4E-BF6B-714CDE135E6E}" type="presOf" srcId="{CFA397EF-F895-42BF-B844-BED6BB9184C4}" destId="{621DBE8B-F79D-4A45-B4F9-2093A5F6A153}" srcOrd="0" destOrd="0" presId="urn:microsoft.com/office/officeart/2005/8/layout/vList2"/>
    <dgm:cxn modelId="{558005AC-9D8A-C245-A1F2-8403633A76C0}" type="presOf" srcId="{9A1040DD-41FD-4D65-9A0E-93FFA5415183}" destId="{CA6E43F1-5995-9044-9BA8-7281A039B899}" srcOrd="0" destOrd="0" presId="urn:microsoft.com/office/officeart/2005/8/layout/vList2"/>
    <dgm:cxn modelId="{013D1AC6-7E4B-1D49-B6B3-16909FD21419}" type="presOf" srcId="{1FE2B2FD-74BE-4C86-A5A0-94A2A261CFDD}" destId="{BE529C38-9423-064D-A33F-872300575A50}" srcOrd="0" destOrd="0" presId="urn:microsoft.com/office/officeart/2005/8/layout/vList2"/>
    <dgm:cxn modelId="{10547DD9-2BDD-43DF-B0B8-7577F77A168F}" srcId="{9A1040DD-41FD-4D65-9A0E-93FFA5415183}" destId="{86515E7F-C25A-49C2-99F5-B5B6D3DFC293}" srcOrd="1" destOrd="0" parTransId="{61C1EA88-58C4-4359-BE18-34E147B5CC38}" sibTransId="{6E2029E3-E83B-4353-B272-50164E4915B9}"/>
    <dgm:cxn modelId="{33A23645-B0D2-0F48-8806-51F72836C7D3}" type="presParOf" srcId="{CA6E43F1-5995-9044-9BA8-7281A039B899}" destId="{BE529C38-9423-064D-A33F-872300575A50}" srcOrd="0" destOrd="0" presId="urn:microsoft.com/office/officeart/2005/8/layout/vList2"/>
    <dgm:cxn modelId="{A4682990-A769-A741-B85A-CACC7888CA7B}" type="presParOf" srcId="{CA6E43F1-5995-9044-9BA8-7281A039B899}" destId="{89BDF916-D881-5242-A1C0-52412EB22C75}" srcOrd="1" destOrd="0" presId="urn:microsoft.com/office/officeart/2005/8/layout/vList2"/>
    <dgm:cxn modelId="{00E746E3-74F5-4743-8DB1-E5CCB14D3F5A}" type="presParOf" srcId="{CA6E43F1-5995-9044-9BA8-7281A039B899}" destId="{D35C9592-39DB-9440-8F26-218AF081735E}" srcOrd="2" destOrd="0" presId="urn:microsoft.com/office/officeart/2005/8/layout/vList2"/>
    <dgm:cxn modelId="{AB03E2C2-42E6-E144-8ACA-A024FCF955CA}" type="presParOf" srcId="{CA6E43F1-5995-9044-9BA8-7281A039B899}" destId="{19321647-3879-DB45-AC59-FB27E7E26D82}" srcOrd="3" destOrd="0" presId="urn:microsoft.com/office/officeart/2005/8/layout/vList2"/>
    <dgm:cxn modelId="{BB751F4A-35EE-FF4F-AAB6-7E6640177601}" type="presParOf" srcId="{CA6E43F1-5995-9044-9BA8-7281A039B899}" destId="{621DBE8B-F79D-4A45-B4F9-2093A5F6A153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8A73DA2-0745-7B42-9A32-3F3D63254D68}">
      <dsp:nvSpPr>
        <dsp:cNvPr id="0" name=""/>
        <dsp:cNvSpPr/>
      </dsp:nvSpPr>
      <dsp:spPr>
        <a:xfrm>
          <a:off x="82260" y="3067"/>
          <a:ext cx="4155220" cy="126734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8415" tIns="18415" rIns="18415" bIns="18415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 baseline="0"/>
            <a:t>Audience: Netflix executives &amp; content strategists</a:t>
          </a:r>
          <a:endParaRPr lang="en-US" sz="2900" kern="1200"/>
        </a:p>
      </dsp:txBody>
      <dsp:txXfrm>
        <a:off x="82260" y="3067"/>
        <a:ext cx="4155220" cy="1267342"/>
      </dsp:txXfrm>
    </dsp:sp>
    <dsp:sp modelId="{69C02A04-217F-9E43-AD91-48193F04BF6A}">
      <dsp:nvSpPr>
        <dsp:cNvPr id="0" name=""/>
        <dsp:cNvSpPr/>
      </dsp:nvSpPr>
      <dsp:spPr>
        <a:xfrm>
          <a:off x="82260" y="1789812"/>
          <a:ext cx="4155220" cy="126734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8415" tIns="18415" rIns="18415" bIns="18415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 baseline="0"/>
            <a:t>Purpose: Secure greenlight for a data-inspired series</a:t>
          </a:r>
          <a:endParaRPr lang="en-US" sz="2900" kern="1200"/>
        </a:p>
      </dsp:txBody>
      <dsp:txXfrm>
        <a:off x="82260" y="1789812"/>
        <a:ext cx="4155220" cy="1267342"/>
      </dsp:txXfrm>
    </dsp:sp>
    <dsp:sp modelId="{59F5C7C5-0191-A545-B60E-71A1D5FF948F}">
      <dsp:nvSpPr>
        <dsp:cNvPr id="0" name=""/>
        <dsp:cNvSpPr/>
      </dsp:nvSpPr>
      <dsp:spPr>
        <a:xfrm>
          <a:off x="82260" y="3576557"/>
          <a:ext cx="4155220" cy="126734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8415" tIns="18415" rIns="18415" bIns="18415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 baseline="0"/>
            <a:t>Medium: 10–15 slide PowerPoint + Python Notebook</a:t>
          </a:r>
          <a:endParaRPr lang="en-US" sz="2900" kern="1200"/>
        </a:p>
      </dsp:txBody>
      <dsp:txXfrm>
        <a:off x="82260" y="3576557"/>
        <a:ext cx="4155220" cy="1267342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E529C38-9423-064D-A33F-872300575A50}">
      <dsp:nvSpPr>
        <dsp:cNvPr id="0" name=""/>
        <dsp:cNvSpPr/>
      </dsp:nvSpPr>
      <dsp:spPr>
        <a:xfrm>
          <a:off x="0" y="80128"/>
          <a:ext cx="4319742" cy="1510396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 baseline="0"/>
            <a:t>• Color: Netflix red (global) &amp; slate blue (regional)</a:t>
          </a:r>
          <a:endParaRPr lang="en-US" sz="2700" kern="1200"/>
        </a:p>
      </dsp:txBody>
      <dsp:txXfrm>
        <a:off x="73731" y="153859"/>
        <a:ext cx="4172280" cy="1362934"/>
      </dsp:txXfrm>
    </dsp:sp>
    <dsp:sp modelId="{D35C9592-39DB-9440-8F26-218AF081735E}">
      <dsp:nvSpPr>
        <dsp:cNvPr id="0" name=""/>
        <dsp:cNvSpPr/>
      </dsp:nvSpPr>
      <dsp:spPr>
        <a:xfrm>
          <a:off x="0" y="1668285"/>
          <a:ext cx="4319742" cy="1510396"/>
        </a:xfrm>
        <a:prstGeom prst="roundRect">
          <a:avLst/>
        </a:prstGeom>
        <a:solidFill>
          <a:schemeClr val="accent2">
            <a:hueOff val="1799994"/>
            <a:satOff val="-925"/>
            <a:lumOff val="-235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 baseline="0"/>
            <a:t>• Layout: White background, clean fonts, ample whitespace</a:t>
          </a:r>
          <a:endParaRPr lang="en-US" sz="2700" kern="1200"/>
        </a:p>
      </dsp:txBody>
      <dsp:txXfrm>
        <a:off x="73731" y="1742016"/>
        <a:ext cx="4172280" cy="1362934"/>
      </dsp:txXfrm>
    </dsp:sp>
    <dsp:sp modelId="{621DBE8B-F79D-4A45-B4F9-2093A5F6A153}">
      <dsp:nvSpPr>
        <dsp:cNvPr id="0" name=""/>
        <dsp:cNvSpPr/>
      </dsp:nvSpPr>
      <dsp:spPr>
        <a:xfrm>
          <a:off x="0" y="3256441"/>
          <a:ext cx="4319742" cy="1510396"/>
        </a:xfrm>
        <a:prstGeom prst="roundRect">
          <a:avLst/>
        </a:prstGeom>
        <a:solidFill>
          <a:schemeClr val="accent2">
            <a:hueOff val="3599988"/>
            <a:satOff val="-1850"/>
            <a:lumOff val="-4706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 baseline="0"/>
            <a:t>• Charts: Bars for comparisons, lines for trends</a:t>
          </a:r>
          <a:endParaRPr lang="en-US" sz="2700" kern="1200"/>
        </a:p>
      </dsp:txBody>
      <dsp:txXfrm>
        <a:off x="73731" y="3330172"/>
        <a:ext cx="4172280" cy="136293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9/3/layout/HorizontalOrganizationChart">
  <dgm:title val=""/>
  <dgm:desc val=""/>
  <dgm:catLst>
    <dgm:cat type="hierarchy" pri="43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T"/>
          <dgm:param type="chAlign" val="l"/>
        </dgm:alg>
      </dgm:if>
      <dgm:else name="Name2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305"/>
      <dgm:constr type="w" for="des" forName="rootComposite" refType="w" fact="10"/>
      <dgm:constr type="h" for="des" forName="rootComposite" refType="w" refFor="des" refForName="rootComposite1" fact="0.305"/>
      <dgm:constr type="w" for="des" forName="rootComposite3" refType="w" fact="10"/>
      <dgm:constr type="h" for="des" forName="rootComposite3" refType="w" refFor="des" refForName="rootComposite1" fact="0.305"/>
      <dgm:constr type="primFontSz" for="des" ptType="node" op="equ"/>
      <dgm:constr type="sp" for="des" op="equ"/>
      <dgm:constr type="sp" for="des" forName="hierRoot1" refType="w" refFor="des" refForName="rootComposite1" fact="0.2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125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125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func="var" arg="dir" op="equ" val="norm">
                  <dgm:alg type="hierRoot">
                    <dgm:param type="hierAlign" val="lT"/>
                  </dgm:alg>
                  <dgm:constrLst>
                    <dgm:constr type="alignOff" val="0.75"/>
                  </dgm:constrLst>
                </dgm:if>
                <dgm:else name="Name9">
                  <dgm:alg type="hierRoot">
                    <dgm:param type="hierAlign" val="rT"/>
                  </dgm:alg>
                  <dgm:constrLst>
                    <dgm:constr type="alignOff" val="0.75"/>
                  </dgm:constrLst>
                </dgm:else>
              </dgm:choose>
            </dgm:if>
            <dgm:if name="Name10" func="var" arg="hierBranch" op="equ" val="r">
              <dgm:choose name="Name11">
                <dgm:if name="Name12" func="var" arg="dir" op="equ" val="norm">
                  <dgm:alg type="hierRoot">
                    <dgm:param type="hierAlign" val="lB"/>
                  </dgm:alg>
                  <dgm:constrLst>
                    <dgm:constr type="alignOff" val="0.75"/>
                  </dgm:constrLst>
                </dgm:if>
                <dgm:else name="Name13">
                  <dgm:alg type="hierRoot">
                    <dgm:param type="hierAlign" val="rB"/>
                  </dgm:alg>
                  <dgm:constrLst>
                    <dgm:constr type="alignOff" val="0.75"/>
                  </dgm:constrLst>
                </dgm:else>
              </dgm:choose>
            </dgm:if>
            <dgm:if name="Name14" func="var" arg="hierBranch" op="equ" val="hang">
              <dgm:choose name="Name15">
                <dgm:if name="Name16" func="var" arg="dir" op="equ" val="norm">
                  <dgm:alg type="hierRoot">
                    <dgm:param type="hierAlign" val="lCtrCh"/>
                  </dgm:alg>
                  <dgm:constrLst>
                    <dgm:constr type="alignOff" val="0.65"/>
                  </dgm:constrLst>
                </dgm:if>
                <dgm:else name="Name17">
                  <dgm:alg type="hierRoot">
                    <dgm:param type="hierAlign" val="rCtrCh"/>
                  </dgm:alg>
                  <dgm:constrLst>
                    <dgm:constr type="alignOff" val="0.65"/>
                  </dgm:constrLst>
                </dgm:else>
              </dgm:choose>
            </dgm:if>
            <dgm:else name="Name18">
              <dgm:choose name="Name19">
                <dgm:if name="Name20" func="var" arg="dir" op="equ" val="norm">
                  <dgm:alg type="hierRoot">
                    <dgm:param type="hierAlign" val="lCtrCh"/>
                  </dgm:alg>
                  <dgm:constrLst>
                    <dgm:constr type="alignOff"/>
                    <dgm:constr type="bendDist" for="des" ptType="parTrans" refType="sp" fact="0.5"/>
                  </dgm:constrLst>
                </dgm:if>
                <dgm:else name="Name21">
                  <dgm:alg type="hierRoot">
                    <dgm:param type="hierAlign" val="rCtrCh"/>
                  </dgm:alg>
                  <dgm:constrLst>
                    <dgm:constr type="alignOff"/>
                    <dgm:constr type="bendDist" for="des" ptType="parTrans" refType="sp" fact="0.5"/>
                  </dgm:constrLst>
                </dgm:else>
              </dgm:choose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22">
              <dgm:if name="Name23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24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25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6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7">
              <dgm:if name="Name28" func="var" arg="hierBranch" op="equ" val="l">
                <dgm:choose name="Name29">
                  <dgm:if name="Name30" func="var" arg="dir" op="equ" val="norm">
                    <dgm:alg type="hierChild">
                      <dgm:param type="chAlign" val="t"/>
                      <dgm:param type="linDir" val="fromL"/>
                    </dgm:alg>
                  </dgm:if>
                  <dgm:else name="Name31">
                    <dgm:alg type="hierChild">
                      <dgm:param type="chAlign" val="t"/>
                      <dgm:param type="linDir" val="fromR"/>
                    </dgm:alg>
                  </dgm:else>
                </dgm:choose>
              </dgm:if>
              <dgm:if name="Name32" func="var" arg="hierBranch" op="equ" val="r">
                <dgm:choose name="Name33">
                  <dgm:if name="Name34" func="var" arg="dir" op="equ" val="norm">
                    <dgm:alg type="hierChild">
                      <dgm:param type="chAlign" val="b"/>
                      <dgm:param type="linDir" val="fromL"/>
                    </dgm:alg>
                  </dgm:if>
                  <dgm:else name="Name35">
                    <dgm:alg type="hierChild">
                      <dgm:param type="chAlign" val="b"/>
                      <dgm:param type="linDir" val="fromR"/>
                    </dgm:alg>
                  </dgm:else>
                </dgm:choose>
              </dgm:if>
              <dgm:if name="Name36" func="var" arg="hierBranch" op="equ" val="hang">
                <dgm:choose name="Name37">
                  <dgm:if name="Name38" func="var" arg="dir" op="equ" val="norm">
                    <dgm:alg type="hierChild">
                      <dgm:param type="chAlign" val="l"/>
                      <dgm:param type="linDir" val="fromT"/>
                      <dgm:param type="secChAlign" val="t"/>
                      <dgm:param type="secLinDir" val="fromL"/>
                    </dgm:alg>
                  </dgm:if>
                  <dgm:else name="Name39">
                    <dgm:alg type="hierChild">
                      <dgm:param type="chAlign" val="r"/>
                      <dgm:param type="linDir" val="fromT"/>
                      <dgm:param type="secChAlign" val="t"/>
                      <dgm:param type="secLinDir" val="fromR"/>
                    </dgm:alg>
                  </dgm:else>
                </dgm:choose>
              </dgm:if>
              <dgm:else name="Name40">
                <dgm:choose name="Name41">
                  <dgm:if name="Name42" func="var" arg="dir" op="equ" val="norm">
                    <dgm:alg type="hierChild">
                      <dgm:param type="linDir" val="fromT"/>
                      <dgm:param type="chAlign" val="l"/>
                    </dgm:alg>
                  </dgm:if>
                  <dgm:else name="Name43">
                    <dgm:alg type="hierChild">
                      <dgm:param type="linDir" val="fromT"/>
                      <dgm:param type="chAlign" val="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44" axis="precedSib" ptType="parTrans" st="-1" cnt="1">
                <dgm:choose name="Name45">
                  <dgm:if name="Name46" func="var" arg="hierBranch" op="equ" val="hang">
                    <dgm:layoutNode name="Name47">
                      <dgm:choose name="Name48">
                        <dgm:if name="Name49" func="var" arg="dir" op="equ" val="norm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R"/>
                            <dgm:param type="endPts" val="bCtr tCtr"/>
                          </dgm:alg>
                        </dgm:if>
                        <dgm:else name="Name50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L"/>
                            <dgm:param type="endPts" val="bCtr tCtr"/>
                          </dgm:alg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51" func="var" arg="hierBranch" op="equ" val="l">
                    <dgm:layoutNode name="Name52">
                      <dgm:choose name="Name53">
                        <dgm:if name="Name54" func="var" arg="dir" op="equ" val="norm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R"/>
                            <dgm:param type="endPts" val="tCtr"/>
                          </dgm:alg>
                        </dgm:if>
                        <dgm:else name="Name55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L"/>
                            <dgm:param type="endPts" val="tCtr"/>
                          </dgm:alg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56" func="var" arg="hierBranch" op="equ" val="r">
                    <dgm:layoutNode name="Name57">
                      <dgm:choose name="Name58">
                        <dgm:if name="Name59" func="var" arg="dir" op="equ" val="norm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R"/>
                            <dgm:param type="endPts" val="bCtr"/>
                          </dgm:alg>
                        </dgm:if>
                        <dgm:else name="Name60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L"/>
                            <dgm:param type="endPts" val="bCtr"/>
                          </dgm:alg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61">
                    <dgm:choose name="Name62">
                      <dgm:if name="Name63" func="var" arg="dir" op="equ" val="norm">
                        <dgm:layoutNode name="Name64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R"/>
                            <dgm:param type="endPts" val="midL"/>
                            <dgm:param type="bendPt" val="end"/>
                          </dgm:alg>
                          <dgm:shape xmlns:r="http://schemas.openxmlformats.org/officeDocument/2006/relationships" type="conn" r:blip="" zOrderOff="-99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if>
                      <dgm:else name="Name65">
                        <dgm:layoutNode name="Name66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L"/>
                            <dgm:param type="endPts" val="midR"/>
                            <dgm:param type="bendPt" val="end"/>
                          </dgm:alg>
                          <dgm:shape xmlns:r="http://schemas.openxmlformats.org/officeDocument/2006/relationships" type="conn" r:blip="" zOrderOff="-99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else>
                    </dgm:choos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7">
                  <dgm:if name="Name68" func="var" arg="hierBranch" op="equ" val="l">
                    <dgm:choose name="Name69">
                      <dgm:if name="Name70" func="var" arg="dir" op="equ" val="norm">
                        <dgm:alg type="hierRoot">
                          <dgm:param type="hierAlign" val="lT"/>
                        </dgm:alg>
                        <dgm:constrLst>
                          <dgm:constr type="alignOff" val="0.75"/>
                        </dgm:constrLst>
                      </dgm:if>
                      <dgm:else name="Name71">
                        <dgm:alg type="hierRoot">
                          <dgm:param type="hierAlign" val="rT"/>
                        </dgm:alg>
                        <dgm:constrLst>
                          <dgm:constr type="alignOff" val="0.75"/>
                        </dgm:constrLst>
                      </dgm:else>
                    </dgm:choose>
                  </dgm:if>
                  <dgm:if name="Name72" func="var" arg="hierBranch" op="equ" val="r">
                    <dgm:choose name="Name73">
                      <dgm:if name="Name74" func="var" arg="dir" op="equ" val="norm">
                        <dgm:alg type="hierRoot">
                          <dgm:param type="hierAlign" val="lB"/>
                        </dgm:alg>
                        <dgm:constrLst>
                          <dgm:constr type="alignOff" val="0.75"/>
                        </dgm:constrLst>
                      </dgm:if>
                      <dgm:else name="Name75">
                        <dgm:alg type="hierRoot">
                          <dgm:param type="hierAlign" val="rB"/>
                        </dgm:alg>
                        <dgm:constrLst>
                          <dgm:constr type="alignOff" val="0.75"/>
                        </dgm:constrLst>
                      </dgm:else>
                    </dgm:choose>
                  </dgm:if>
                  <dgm:if name="Name76" func="var" arg="hierBranch" op="equ" val="hang">
                    <dgm:choose name="Name77">
                      <dgm:if name="Name78" func="var" arg="dir" op="equ" val="norm">
                        <dgm:alg type="hierRoot">
                          <dgm:param type="hierAlign" val="lCtrCh"/>
                        </dgm:alg>
                        <dgm:constrLst>
                          <dgm:constr type="alignOff" val="0.65"/>
                        </dgm:constrLst>
                      </dgm:if>
                      <dgm:else name="Name79">
                        <dgm:alg type="hierRoot">
                          <dgm:param type="hierAlign" val="rCtrCh"/>
                        </dgm:alg>
                        <dgm:constrLst>
                          <dgm:constr type="alignOff" val="0.65"/>
                        </dgm:constrLst>
                      </dgm:else>
                    </dgm:choose>
                  </dgm:if>
                  <dgm:else name="Name80">
                    <dgm:choose name="Name81">
                      <dgm:if name="Name82" func="var" arg="dir" op="equ" val="norm">
                        <dgm:alg type="hierRoot">
                          <dgm:param type="hierAlign" val="lCtrCh"/>
                        </dgm:alg>
                        <dgm:constrLst>
                          <dgm:constr type="alignOff"/>
                          <dgm:constr type="bendDist" for="des" ptType="parTrans" refType="sp" fact="0.5"/>
                        </dgm:constrLst>
                      </dgm:if>
                      <dgm:else name="Name83">
                        <dgm:alg type="hierRoot">
                          <dgm:param type="hierAlign" val="rCtrCh"/>
                        </dgm:alg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84">
                    <dgm:if name="Name85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6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7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8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9">
                    <dgm:if name="Name90" func="var" arg="hierBranch" op="equ" val="l">
                      <dgm:choose name="Name91">
                        <dgm:if name="Name92" func="var" arg="dir" op="equ" val="norm">
                          <dgm:alg type="hierChild">
                            <dgm:param type="chAlign" val="t"/>
                            <dgm:param type="linDir" val="fromL"/>
                          </dgm:alg>
                        </dgm:if>
                        <dgm:else name="Name93">
                          <dgm:alg type="hierChild">
                            <dgm:param type="chAlign" val="t"/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r">
                      <dgm:choose name="Name95">
                        <dgm:if name="Name96" func="var" arg="dir" op="equ" val="norm">
                          <dgm:alg type="hierChild">
                            <dgm:param type="chAlign" val="b"/>
                            <dgm:param type="linDir" val="fromL"/>
                          </dgm:alg>
                        </dgm:if>
                        <dgm:else name="Name97">
                          <dgm:alg type="hierChild">
                            <dgm:param type="chAlign" val="b"/>
                            <dgm:param type="linDir" val="fromR"/>
                          </dgm:alg>
                        </dgm:else>
                      </dgm:choose>
                    </dgm:if>
                    <dgm:if name="Name98" func="var" arg="hierBranch" op="equ" val="hang">
                      <dgm:choose name="Name99">
                        <dgm:if name="Name100" func="var" arg="dir" op="equ" val="norm">
                          <dgm:alg type="hierChild">
                            <dgm:param type="chAlign" val="l"/>
                            <dgm:param type="linDir" val="fromT"/>
                            <dgm:param type="secChAlign" val="t"/>
                            <dgm:param type="secLinDir" val="fromL"/>
                          </dgm:alg>
                        </dgm:if>
                        <dgm:else name="Name101">
                          <dgm:alg type="hierChild">
                            <dgm:param type="chAlign" val="r"/>
                            <dgm:param type="linDir" val="fromT"/>
                            <dgm:param type="secChAlign" val="t"/>
                            <dgm:param type="secLinDir" val="fromR"/>
                          </dgm:alg>
                        </dgm:else>
                      </dgm:choose>
                    </dgm:if>
                    <dgm:else name="Name102">
                      <dgm:choose name="Name103">
                        <dgm:if name="Name104" func="var" arg="dir" op="equ" val="norm">
                          <dgm:alg type="hierChild">
                            <dgm:param type="linDir" val="fromT"/>
                            <dgm:param type="chAlign" val="l"/>
                          </dgm:alg>
                        </dgm:if>
                        <dgm:else name="Name105">
                          <dgm:alg type="hierChild">
                            <dgm:param type="linDir" val="fromT"/>
                            <dgm:param type="ch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a"/>
                </dgm:layoutNode>
                <dgm:layoutNode name="hierChild5">
                  <dgm:choose name="Name107">
                    <dgm:if name="Name108" func="var" arg="dir" op="equ" val="norm">
                      <dgm:alg type="hierChild">
                        <dgm:param type="chAlign" val="l"/>
                        <dgm:param type="linDir" val="fromT"/>
                        <dgm:param type="secChAlign" val="t"/>
                        <dgm:param type="secLinDir" val="fromL"/>
                      </dgm:alg>
                    </dgm:if>
                    <dgm:else name="Name109">
                      <dgm:alg type="hierChild">
                        <dgm:param type="chAlign" val="r"/>
                        <dgm:param type="linDir" val="fromT"/>
                        <dgm:param type="secChAlign" val="t"/>
                        <dgm:param type="sec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10" ref="rep2b"/>
                </dgm:layoutNode>
              </dgm:layoutNode>
            </dgm:forEach>
          </dgm:layoutNode>
          <dgm:layoutNode name="hierChild3">
            <dgm:choose name="Name111">
              <dgm:if name="Name112" func="var" arg="dir" op="equ" val="norm">
                <dgm:alg type="hierChild">
                  <dgm:param type="chAlign" val="l"/>
                  <dgm:param type="linDir" val="fromT"/>
                  <dgm:param type="secChAlign" val="t"/>
                  <dgm:param type="secLinDir" val="fromL"/>
                </dgm:alg>
              </dgm:if>
              <dgm:else name="Name113">
                <dgm:alg type="hierChild">
                  <dgm:param type="chAlign" val="r"/>
                  <dgm:param type="linDir" val="fromT"/>
                  <dgm:param type="secChAlign" val="t"/>
                  <dgm:param type="sec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4" axis="precedSib" ptType="parTrans" st="-1" cnt="1">
                <dgm:layoutNode name="Name115">
                  <dgm:choose name="Name116">
                    <dgm:if name="Name117" func="var" arg="dir" op="equ" val="norm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midR"/>
                        <dgm:param type="endPts" val="bCtr tCtr"/>
                      </dgm:alg>
                    </dgm:if>
                    <dgm:else name="Name11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midL"/>
                        <dgm:param type="endPts" val="bCtr tCtr"/>
                      </dgm:alg>
                    </dgm:else>
                  </dgm:choose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9">
                  <dgm:if name="Name120" func="var" arg="hierBranch" op="equ" val="l">
                    <dgm:choose name="Name121">
                      <dgm:if name="Name122" func="var" arg="dir" op="equ" val="norm">
                        <dgm:alg type="hierRoot">
                          <dgm:param type="hierAlign" val="lT"/>
                        </dgm:alg>
                        <dgm:constrLst>
                          <dgm:constr type="alignOff" val="0.75"/>
                        </dgm:constrLst>
                      </dgm:if>
                      <dgm:else name="Name123">
                        <dgm:alg type="hierRoot">
                          <dgm:param type="hierAlign" val="rT"/>
                        </dgm:alg>
                        <dgm:constrLst>
                          <dgm:constr type="alignOff" val="0.75"/>
                        </dgm:constrLst>
                      </dgm:else>
                    </dgm:choose>
                  </dgm:if>
                  <dgm:if name="Name124" func="var" arg="hierBranch" op="equ" val="r">
                    <dgm:choose name="Name125">
                      <dgm:if name="Name126" func="var" arg="dir" op="equ" val="norm">
                        <dgm:alg type="hierRoot">
                          <dgm:param type="hierAlign" val="lB"/>
                        </dgm:alg>
                        <dgm:constrLst>
                          <dgm:constr type="alignOff" val="0.75"/>
                        </dgm:constrLst>
                      </dgm:if>
                      <dgm:else name="Name127">
                        <dgm:alg type="hierRoot">
                          <dgm:param type="hierAlign" val="rB"/>
                        </dgm:alg>
                        <dgm:constrLst>
                          <dgm:constr type="alignOff" val="0.75"/>
                        </dgm:constrLst>
                      </dgm:else>
                    </dgm:choose>
                  </dgm:if>
                  <dgm:if name="Name128" func="var" arg="hierBranch" op="equ" val="hang">
                    <dgm:choose name="Name129">
                      <dgm:if name="Name130" func="var" arg="dir" op="equ" val="norm">
                        <dgm:alg type="hierRoot">
                          <dgm:param type="hierAlign" val="lCtrCh"/>
                        </dgm:alg>
                        <dgm:constrLst>
                          <dgm:constr type="alignOff" val="0.65"/>
                        </dgm:constrLst>
                      </dgm:if>
                      <dgm:else name="Name131">
                        <dgm:alg type="hierRoot">
                          <dgm:param type="hierAlign" val="rCtrCh"/>
                        </dgm:alg>
                        <dgm:constrLst>
                          <dgm:constr type="alignOff" val="0.65"/>
                        </dgm:constrLst>
                      </dgm:else>
                    </dgm:choose>
                  </dgm:if>
                  <dgm:else name="Name132">
                    <dgm:choose name="Name133">
                      <dgm:if name="Name134" func="var" arg="dir" op="equ" val="norm">
                        <dgm:alg type="hierRoot">
                          <dgm:param type="hierAlign" val="lCtrCh"/>
                        </dgm:alg>
                        <dgm:constrLst>
                          <dgm:constr type="alignOff"/>
                          <dgm:constr type="bendDist" for="des" ptType="parTrans" refType="sp" fact="0.5"/>
                        </dgm:constrLst>
                      </dgm:if>
                      <dgm:else name="Name135">
                        <dgm:alg type="hierRoot">
                          <dgm:param type="hierAlign" val="rCtrCh"/>
                        </dgm:alg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36">
                    <dgm:if name="Name137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38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39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40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41">
                    <dgm:if name="Name142" func="var" arg="hierBranch" op="equ" val="l">
                      <dgm:choose name="Name143">
                        <dgm:if name="Name144" func="var" arg="dir" op="equ" val="norm">
                          <dgm:alg type="hierChild">
                            <dgm:param type="chAlign" val="t"/>
                            <dgm:param type="linDir" val="fromL"/>
                          </dgm:alg>
                        </dgm:if>
                        <dgm:else name="Name145">
                          <dgm:alg type="hierChild">
                            <dgm:param type="chAlign" val="t"/>
                            <dgm:param type="linDir" val="fromR"/>
                          </dgm:alg>
                        </dgm:else>
                      </dgm:choose>
                    </dgm:if>
                    <dgm:if name="Name146" func="var" arg="hierBranch" op="equ" val="r">
                      <dgm:choose name="Name147">
                        <dgm:if name="Name148" func="var" arg="dir" op="equ" val="norm">
                          <dgm:alg type="hierChild">
                            <dgm:param type="chAlign" val="b"/>
                            <dgm:param type="linDir" val="fromL"/>
                          </dgm:alg>
                        </dgm:if>
                        <dgm:else name="Name149">
                          <dgm:alg type="hierChild">
                            <dgm:param type="chAlign" val="b"/>
                            <dgm:param type="linDir" val="fromR"/>
                          </dgm:alg>
                        </dgm:else>
                      </dgm:choose>
                    </dgm:if>
                    <dgm:if name="Name150" func="var" arg="hierBranch" op="equ" val="hang">
                      <dgm:choose name="Name151">
                        <dgm:if name="Name152" func="var" arg="dir" op="equ" val="norm">
                          <dgm:alg type="hierChild">
                            <dgm:param type="chAlign" val="l"/>
                            <dgm:param type="linDir" val="fromT"/>
                            <dgm:param type="secChAlign" val="t"/>
                            <dgm:param type="secLinDir" val="fromL"/>
                          </dgm:alg>
                        </dgm:if>
                        <dgm:else name="Name153">
                          <dgm:alg type="hierChild">
                            <dgm:param type="chAlign" val="r"/>
                            <dgm:param type="linDir" val="fromT"/>
                            <dgm:param type="secChAlign" val="t"/>
                            <dgm:param type="secLinDir" val="fromR"/>
                          </dgm:alg>
                        </dgm:else>
                      </dgm:choose>
                    </dgm:if>
                    <dgm:else name="Name154">
                      <dgm:choose name="Name155">
                        <dgm:if name="Name156" func="var" arg="dir" op="equ" val="norm">
                          <dgm:alg type="hierChild">
                            <dgm:param type="linDir" val="fromT"/>
                            <dgm:param type="chAlign" val="l"/>
                          </dgm:alg>
                        </dgm:if>
                        <dgm:else name="Name157">
                          <dgm:alg type="hierChild">
                            <dgm:param type="linDir" val="fromT"/>
                            <dgm:param type="ch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58" ref="rep2a"/>
                </dgm:layoutNode>
                <dgm:layoutNode name="hierChild7">
                  <dgm:choose name="Name159">
                    <dgm:if name="Name160" func="var" arg="dir" op="equ" val="norm">
                      <dgm:alg type="hierChild">
                        <dgm:param type="chAlign" val="l"/>
                        <dgm:param type="linDir" val="fromT"/>
                        <dgm:param type="secChAlign" val="t"/>
                        <dgm:param type="secLinDir" val="fromL"/>
                      </dgm:alg>
                    </dgm:if>
                    <dgm:else name="Name161">
                      <dgm:alg type="hierChild">
                        <dgm:param type="chAlign" val="r"/>
                        <dgm:param type="linDir" val="fromT"/>
                        <dgm:param type="secChAlign" val="t"/>
                        <dgm:param type="sec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62" ref="rep2b"/>
                </dgm:layoutNode>
              </dgm:layoutNode>
            </dgm:forEach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Brickwork-SD-R1acrop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 useBgFill="1">
        <p:nvSpPr>
          <p:cNvPr id="13" name="Freeform 12"/>
          <p:cNvSpPr/>
          <p:nvPr/>
        </p:nvSpPr>
        <p:spPr>
          <a:xfrm>
            <a:off x="-8467" y="-16933"/>
            <a:ext cx="8754534" cy="6451600"/>
          </a:xfrm>
          <a:custGeom>
            <a:avLst/>
            <a:gdLst/>
            <a:ahLst/>
            <a:cxnLst/>
            <a:rect l="l" t="t" r="r" b="b"/>
            <a:pathLst>
              <a:path w="8754534" h="6451600">
                <a:moveTo>
                  <a:pt x="8373534" y="0"/>
                </a:moveTo>
                <a:lnTo>
                  <a:pt x="8754534" y="5994400"/>
                </a:lnTo>
                <a:lnTo>
                  <a:pt x="0" y="6451600"/>
                </a:lnTo>
                <a:lnTo>
                  <a:pt x="0" y="0"/>
                </a:lnTo>
                <a:lnTo>
                  <a:pt x="8373534" y="0"/>
                </a:lnTo>
                <a:close/>
              </a:path>
            </a:pathLst>
          </a:custGeom>
          <a:ln>
            <a:noFill/>
          </a:ln>
          <a:effectLst>
            <a:outerShdw blurRad="98425" dist="76200" dir="4380000" algn="tl" rotWithShape="0">
              <a:srgbClr val="000000">
                <a:alpha val="6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3" name="Freeform 22"/>
          <p:cNvSpPr/>
          <p:nvPr/>
        </p:nvSpPr>
        <p:spPr>
          <a:xfrm>
            <a:off x="-10379" y="4445000"/>
            <a:ext cx="8464695" cy="1715811"/>
          </a:xfrm>
          <a:custGeom>
            <a:avLst/>
            <a:gdLst/>
            <a:ahLst/>
            <a:cxnLst/>
            <a:rect l="l" t="t" r="r" b="b"/>
            <a:pathLst>
              <a:path w="8428428" h="1878553">
                <a:moveTo>
                  <a:pt x="0" y="438229"/>
                </a:moveTo>
                <a:lnTo>
                  <a:pt x="8343246" y="0"/>
                </a:lnTo>
                <a:lnTo>
                  <a:pt x="8428428" y="1424838"/>
                </a:lnTo>
                <a:lnTo>
                  <a:pt x="7515" y="1878553"/>
                </a:lnTo>
                <a:lnTo>
                  <a:pt x="0" y="438229"/>
                </a:lnTo>
                <a:close/>
              </a:path>
            </a:pathLst>
          </a:custGeom>
          <a:gradFill flip="none" rotWithShape="1">
            <a:gsLst>
              <a:gs pos="34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9" name="Freeform 28"/>
          <p:cNvSpPr/>
          <p:nvPr/>
        </p:nvSpPr>
        <p:spPr>
          <a:xfrm>
            <a:off x="-2864" y="0"/>
            <a:ext cx="5811235" cy="321615"/>
          </a:xfrm>
          <a:custGeom>
            <a:avLst/>
            <a:gdLst/>
            <a:ahLst/>
            <a:cxnLst/>
            <a:rect l="l" t="t" r="r" b="b"/>
            <a:pathLst>
              <a:path w="5811235" h="321615">
                <a:moveTo>
                  <a:pt x="0" y="0"/>
                </a:moveTo>
                <a:lnTo>
                  <a:pt x="5811235" y="0"/>
                </a:lnTo>
                <a:lnTo>
                  <a:pt x="1" y="321615"/>
                </a:lnTo>
                <a:cubicBezTo>
                  <a:pt x="1" y="214410"/>
                  <a:pt x="0" y="107205"/>
                  <a:pt x="0" y="0"/>
                </a:cubicBezTo>
                <a:close/>
              </a:path>
            </a:pathLst>
          </a:custGeom>
          <a:gradFill flip="none" rotWithShape="1">
            <a:gsLst>
              <a:gs pos="34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30" name="Freeform 29"/>
          <p:cNvSpPr/>
          <p:nvPr/>
        </p:nvSpPr>
        <p:spPr>
          <a:xfrm rot="21420000">
            <a:off x="-170768" y="213023"/>
            <a:ext cx="8480534" cy="5746008"/>
          </a:xfrm>
          <a:custGeom>
            <a:avLst/>
            <a:gdLst/>
            <a:ahLst/>
            <a:cxnLst/>
            <a:rect l="l" t="t" r="r" b="b"/>
            <a:pathLst>
              <a:path w="11307378" h="5746008">
                <a:moveTo>
                  <a:pt x="11270997" y="0"/>
                </a:moveTo>
                <a:lnTo>
                  <a:pt x="11307378" y="5746008"/>
                </a:lnTo>
                <a:lnTo>
                  <a:pt x="1" y="5743137"/>
                </a:lnTo>
              </a:path>
            </a:pathLst>
          </a:custGeom>
          <a:ln w="82550">
            <a:solidFill>
              <a:schemeClr val="tx1">
                <a:lumMod val="50000"/>
                <a:lumOff val="50000"/>
              </a:schemeClr>
            </a:solidFill>
            <a:miter lim="800000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 rot="21420000">
            <a:off x="451416" y="668338"/>
            <a:ext cx="7533524" cy="2766528"/>
          </a:xfrm>
        </p:spPr>
        <p:txBody>
          <a:bodyPr anchor="b">
            <a:normAutofit/>
          </a:bodyPr>
          <a:lstStyle>
            <a:lvl1pPr algn="r"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 rot="21420000">
            <a:off x="554462" y="3446830"/>
            <a:ext cx="7512060" cy="550333"/>
          </a:xfrm>
        </p:spPr>
        <p:txBody>
          <a:bodyPr anchor="t">
            <a:noAutofit/>
          </a:bodyPr>
          <a:lstStyle>
            <a:lvl1pPr marL="0" indent="0" algn="r">
              <a:buNone/>
              <a:defRPr sz="24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 rot="21420000">
            <a:off x="3669071" y="4714242"/>
            <a:ext cx="4607740" cy="942356"/>
          </a:xfrm>
        </p:spPr>
        <p:txBody>
          <a:bodyPr/>
          <a:lstStyle>
            <a:lvl1pPr algn="ctr">
              <a:defRPr sz="420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6/14/25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 rot="21420000">
            <a:off x="-12134" y="4954635"/>
            <a:ext cx="2987069" cy="918361"/>
          </a:xfrm>
        </p:spPr>
        <p:txBody>
          <a:bodyPr vert="horz" lIns="91440" tIns="45720" rIns="91440" bIns="45720" rtlCol="0" anchor="ctr"/>
          <a:lstStyle>
            <a:lvl1pPr algn="r">
              <a:defRPr lang="en-US" sz="4200" dirty="0"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 rot="21420000">
            <a:off x="7401518" y="3819948"/>
            <a:ext cx="680390" cy="498470"/>
          </a:xfrm>
        </p:spPr>
        <p:txBody>
          <a:bodyPr/>
          <a:lstStyle>
            <a:lvl1pPr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33" name="5-Point Star 32"/>
          <p:cNvSpPr/>
          <p:nvPr/>
        </p:nvSpPr>
        <p:spPr>
          <a:xfrm rot="21420000">
            <a:off x="3121951" y="5057183"/>
            <a:ext cx="515386" cy="515386"/>
          </a:xfrm>
          <a:prstGeom prst="star5">
            <a:avLst>
              <a:gd name="adj" fmla="val 26693"/>
              <a:gd name="hf" fmla="val 105146"/>
              <a:gd name="vf" fmla="val 110557"/>
            </a:avLst>
          </a:prstGeom>
          <a:solidFill>
            <a:schemeClr val="tx1">
              <a:alpha val="4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4188812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514351" y="2063396"/>
            <a:ext cx="7796030" cy="33111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58734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4351" y="685801"/>
            <a:ext cx="7796030" cy="3193487"/>
          </a:xfrm>
        </p:spPr>
        <p:txBody>
          <a:bodyPr anchor="b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4351" y="3742267"/>
            <a:ext cx="7796030" cy="1639614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3133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514351" y="685800"/>
            <a:ext cx="7797662" cy="115814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514350" y="2063396"/>
            <a:ext cx="3816536" cy="3311189"/>
          </a:xfrm>
        </p:spPr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Content Placeholder 3"/>
          <p:cNvSpPr>
            <a:spLocks noGrp="1"/>
          </p:cNvSpPr>
          <p:nvPr>
            <p:ph sz="quarter" idx="14"/>
          </p:nvPr>
        </p:nvSpPr>
        <p:spPr>
          <a:xfrm>
            <a:off x="4495478" y="2063396"/>
            <a:ext cx="3814904" cy="3311189"/>
          </a:xfrm>
        </p:spPr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6/14/25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97154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514351" y="685800"/>
            <a:ext cx="7796030" cy="115814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39569" y="2063396"/>
            <a:ext cx="3591317" cy="679994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6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quarter" idx="13"/>
          </p:nvPr>
        </p:nvSpPr>
        <p:spPr>
          <a:xfrm>
            <a:off x="514352" y="2861733"/>
            <a:ext cx="3816534" cy="2512852"/>
          </a:xfrm>
        </p:spPr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15340" y="2063396"/>
            <a:ext cx="3596671" cy="679994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6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Content Placeholder 5"/>
          <p:cNvSpPr>
            <a:spLocks noGrp="1"/>
          </p:cNvSpPr>
          <p:nvPr>
            <p:ph sz="quarter" idx="14"/>
          </p:nvPr>
        </p:nvSpPr>
        <p:spPr>
          <a:xfrm>
            <a:off x="4495477" y="2861733"/>
            <a:ext cx="3816535" cy="2512852"/>
          </a:xfrm>
        </p:spPr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6/14/25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14097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6/14/25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81470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6/14/25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19447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0232" y="685800"/>
            <a:ext cx="3095145" cy="2023252"/>
          </a:xfrm>
        </p:spPr>
        <p:txBody>
          <a:bodyPr anchor="b">
            <a:normAutofit/>
          </a:bodyPr>
          <a:lstStyle>
            <a:lvl1pPr algn="ctr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Content Placeholder 2"/>
          <p:cNvSpPr>
            <a:spLocks noGrp="1"/>
          </p:cNvSpPr>
          <p:nvPr>
            <p:ph sz="quarter" idx="13"/>
          </p:nvPr>
        </p:nvSpPr>
        <p:spPr>
          <a:xfrm>
            <a:off x="3784600" y="685801"/>
            <a:ext cx="4525781" cy="46887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20232" y="2709053"/>
            <a:ext cx="3095146" cy="2665533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6/14/25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17126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4351" y="685800"/>
            <a:ext cx="4408172" cy="2023252"/>
          </a:xfrm>
        </p:spPr>
        <p:txBody>
          <a:bodyPr anchor="b">
            <a:normAutofit/>
          </a:bodyPr>
          <a:lstStyle>
            <a:lvl1pPr algn="ctr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47740" y="1"/>
            <a:ext cx="3162641" cy="5071533"/>
          </a:xfr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14351" y="2709053"/>
            <a:ext cx="4408171" cy="2362481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6/14/25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49377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4350" y="4106333"/>
            <a:ext cx="7796031" cy="58884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4351" y="685800"/>
            <a:ext cx="7794385" cy="3194903"/>
          </a:xfr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14335" y="4702923"/>
            <a:ext cx="7796046" cy="682472"/>
          </a:xfrm>
        </p:spPr>
        <p:txBody>
          <a:bodyPr anchor="t"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6/14/25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76406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4351" y="685801"/>
            <a:ext cx="7797677" cy="3194903"/>
          </a:xfrm>
        </p:spPr>
        <p:txBody>
          <a:bodyPr anchor="ctr">
            <a:norm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14335" y="4106333"/>
            <a:ext cx="7796047" cy="127360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6/14/25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953895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99" y="685800"/>
            <a:ext cx="7143765" cy="2916704"/>
          </a:xfrm>
        </p:spPr>
        <p:txBody>
          <a:bodyPr anchor="ctr">
            <a:norm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162698" y="3610032"/>
            <a:ext cx="6500967" cy="377768"/>
          </a:xfrm>
        </p:spPr>
        <p:txBody>
          <a:bodyPr anchor="t">
            <a:normAutofit/>
          </a:bodyPr>
          <a:lstStyle>
            <a:lvl1pPr marL="0" indent="0" algn="r">
              <a:buNone/>
              <a:defRPr sz="14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14351" y="4106334"/>
            <a:ext cx="7797662" cy="1268252"/>
          </a:xfrm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6/14/25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TextBox 9"/>
          <p:cNvSpPr txBox="1"/>
          <p:nvPr/>
        </p:nvSpPr>
        <p:spPr>
          <a:xfrm>
            <a:off x="404280" y="887850"/>
            <a:ext cx="4572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97147" y="2906482"/>
            <a:ext cx="4572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06366658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4351" y="1723855"/>
            <a:ext cx="7796030" cy="2511835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14351" y="4247468"/>
            <a:ext cx="7796030" cy="114064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6/14/25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030547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514351" y="685801"/>
            <a:ext cx="7796030" cy="1151965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514352" y="2063395"/>
            <a:ext cx="2482596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514352" y="2639658"/>
            <a:ext cx="2482596" cy="273492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175967" y="2063395"/>
            <a:ext cx="2482596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175966" y="2639658"/>
            <a:ext cx="2482596" cy="273492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827785" y="2063395"/>
            <a:ext cx="2482596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5827785" y="2639658"/>
            <a:ext cx="2482596" cy="273492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6/14/25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919144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514351" y="685801"/>
            <a:ext cx="7797662" cy="1151965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518880" y="3813025"/>
            <a:ext cx="2482596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2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514335" y="2063396"/>
            <a:ext cx="2482596" cy="1536725"/>
          </a:xfrm>
          <a:prstGeom prst="roundRect">
            <a:avLst>
              <a:gd name="adj" fmla="val 0"/>
            </a:avLst>
          </a:prstGeo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518880" y="4389288"/>
            <a:ext cx="2482596" cy="985299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178058" y="3813025"/>
            <a:ext cx="2482596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2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176999" y="2063396"/>
            <a:ext cx="2482596" cy="1535237"/>
          </a:xfrm>
          <a:prstGeom prst="roundRect">
            <a:avLst>
              <a:gd name="adj" fmla="val 0"/>
            </a:avLst>
          </a:prstGeo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176998" y="4389286"/>
            <a:ext cx="2483655" cy="98530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826708" y="3813025"/>
            <a:ext cx="2482596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2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5826614" y="2063394"/>
            <a:ext cx="2482596" cy="1537196"/>
          </a:xfrm>
          <a:prstGeom prst="roundRect">
            <a:avLst>
              <a:gd name="adj" fmla="val 0"/>
            </a:avLst>
          </a:prstGeo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826614" y="4389284"/>
            <a:ext cx="2482596" cy="985302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6/14/25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51674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514351" y="2063396"/>
            <a:ext cx="7796030" cy="331119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395035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11896" y="685801"/>
            <a:ext cx="1698485" cy="4688785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514351" y="685801"/>
            <a:ext cx="5928323" cy="4688785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782000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03665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jp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Brickwork-SD-R1acrop.jpg"/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grpSp>
        <p:nvGrpSpPr>
          <p:cNvPr id="10" name="Group 9"/>
          <p:cNvGrpSpPr/>
          <p:nvPr/>
        </p:nvGrpSpPr>
        <p:grpSpPr>
          <a:xfrm>
            <a:off x="-19048" y="1"/>
            <a:ext cx="9004013" cy="6644081"/>
            <a:chOff x="-25397" y="0"/>
            <a:chExt cx="12005350" cy="6644081"/>
          </a:xfrm>
        </p:grpSpPr>
        <p:sp useBgFill="1">
          <p:nvSpPr>
            <p:cNvPr id="11" name="Rectangle 10"/>
            <p:cNvSpPr/>
            <p:nvPr/>
          </p:nvSpPr>
          <p:spPr>
            <a:xfrm>
              <a:off x="1" y="0"/>
              <a:ext cx="11979952" cy="6644081"/>
            </a:xfrm>
            <a:prstGeom prst="rect">
              <a:avLst/>
            </a:prstGeom>
            <a:ln>
              <a:noFill/>
            </a:ln>
            <a:effectLst>
              <a:outerShdw blurRad="98425" dist="76200" dir="4380000" algn="tl" rotWithShape="0">
                <a:srgbClr val="000000">
                  <a:alpha val="68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Rectangle 12"/>
            <p:cNvSpPr/>
            <p:nvPr/>
          </p:nvSpPr>
          <p:spPr>
            <a:xfrm>
              <a:off x="1" y="5600215"/>
              <a:ext cx="11706512" cy="780581"/>
            </a:xfrm>
            <a:prstGeom prst="rect">
              <a:avLst/>
            </a:prstGeom>
            <a:gradFill flip="none" rotWithShape="1">
              <a:gsLst>
                <a:gs pos="34000">
                  <a:schemeClr val="accent1"/>
                </a:gs>
                <a:gs pos="100000">
                  <a:schemeClr val="accent1">
                    <a:lumMod val="5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>
            <a:xfrm>
              <a:off x="-25397" y="0"/>
              <a:ext cx="11773291" cy="6419514"/>
            </a:xfrm>
            <a:custGeom>
              <a:avLst/>
              <a:gdLst/>
              <a:ahLst/>
              <a:cxnLst/>
              <a:rect l="l" t="t" r="r" b="b"/>
              <a:pathLst>
                <a:path w="11773291" h="6419514">
                  <a:moveTo>
                    <a:pt x="11750059" y="0"/>
                  </a:moveTo>
                  <a:lnTo>
                    <a:pt x="11773291" y="6419514"/>
                  </a:lnTo>
                  <a:lnTo>
                    <a:pt x="0" y="6411047"/>
                  </a:lnTo>
                </a:path>
              </a:pathLst>
            </a:custGeom>
            <a:ln w="82550">
              <a:solidFill>
                <a:schemeClr val="tx1">
                  <a:lumMod val="50000"/>
                  <a:lumOff val="50000"/>
                </a:schemeClr>
              </a:solidFill>
              <a:miter lim="800000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14351" y="685801"/>
            <a:ext cx="7797662" cy="115196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4351" y="2063396"/>
            <a:ext cx="7797662" cy="331118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473562" y="5757334"/>
            <a:ext cx="2838450" cy="49847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800" cap="all"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6/14/25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14351" y="5757334"/>
            <a:ext cx="4124789" cy="49847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800" cap="all"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715341" y="5757334"/>
            <a:ext cx="680390" cy="49847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800" cap="all"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98287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  <p:sldLayoutId id="2147483685" r:id="rId13"/>
    <p:sldLayoutId id="2147483686" r:id="rId14"/>
    <p:sldLayoutId id="2147483687" r:id="rId15"/>
    <p:sldLayoutId id="2147483688" r:id="rId16"/>
    <p:sldLayoutId id="2147483689" r:id="rId17"/>
    <p:sldLayoutId id="2147483690" r:id="rId18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cap="all" baseline="0">
          <a:solidFill>
            <a:schemeClr val="accent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20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8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6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8.xml"/></Relationships>
</file>

<file path=ppt/slides/_rels/slide3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image" Target="../media/image7.jpeg"/><Relationship Id="rId7" Type="http://schemas.openxmlformats.org/officeDocument/2006/relationships/diagramColors" Target="../diagrams/colors1.xml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8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/Relationships>
</file>

<file path=ppt/slides/_rels/slide4.xml.rels><?xml version="1.0" encoding="UTF-8" standalone="yes"?>
<Relationships xmlns="http://schemas.openxmlformats.org/package/2006/relationships"><Relationship Id="rId8" Type="http://schemas.microsoft.com/office/2007/relationships/diagramDrawing" Target="../diagrams/drawing2.xml"/><Relationship Id="rId3" Type="http://schemas.openxmlformats.org/officeDocument/2006/relationships/image" Target="../media/image7.jpeg"/><Relationship Id="rId7" Type="http://schemas.openxmlformats.org/officeDocument/2006/relationships/diagramColors" Target="../diagrams/colors2.xml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8.xml"/><Relationship Id="rId6" Type="http://schemas.openxmlformats.org/officeDocument/2006/relationships/diagramQuickStyle" Target="../diagrams/quickStyle2.xml"/><Relationship Id="rId5" Type="http://schemas.openxmlformats.org/officeDocument/2006/relationships/diagramLayout" Target="../diagrams/layout2.xml"/><Relationship Id="rId4" Type="http://schemas.openxmlformats.org/officeDocument/2006/relationships/diagramData" Target="../diagrams/data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6F776733-A05B-4A45-903C-A77D9DEBDE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43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Chairs in a cinema">
            <a:extLst>
              <a:ext uri="{FF2B5EF4-FFF2-40B4-BE49-F238E27FC236}">
                <a16:creationId xmlns:a16="http://schemas.microsoft.com/office/drawing/2014/main" id="{70E6DDBB-AC57-5610-ADFC-10B879F3023D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  <a:alphaModFix amt="40000"/>
          </a:blip>
          <a:srcRect l="8845" r="8155"/>
          <a:stretch>
            <a:fillRect/>
          </a:stretch>
        </p:blipFill>
        <p:spPr>
          <a:xfrm>
            <a:off x="20" y="10"/>
            <a:ext cx="9143980" cy="685799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65770" y="1966816"/>
            <a:ext cx="7299923" cy="2481507"/>
          </a:xfrm>
        </p:spPr>
        <p:txBody>
          <a:bodyPr anchor="ctr">
            <a:normAutofit/>
          </a:bodyPr>
          <a:lstStyle/>
          <a:p>
            <a:pPr algn="l"/>
            <a:r>
              <a:rPr lang="en-US" dirty="0">
                <a:solidFill>
                  <a:schemeClr val="tx1"/>
                </a:solidFill>
              </a:rPr>
              <a:t>Netflix Viewership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28493" y="4591668"/>
            <a:ext cx="7249735" cy="748739"/>
          </a:xfrm>
        </p:spPr>
        <p:txBody>
          <a:bodyPr>
            <a:normAutofit/>
          </a:bodyPr>
          <a:lstStyle/>
          <a:p>
            <a:pPr algn="l"/>
            <a:r>
              <a:rPr lang="en-US">
                <a:solidFill>
                  <a:schemeClr val="tx1"/>
                </a:solidFill>
              </a:rPr>
              <a:t>Taylor Duncan</a:t>
            </a:r>
          </a:p>
        </p:txBody>
      </p:sp>
      <p:sp>
        <p:nvSpPr>
          <p:cNvPr id="12" name="5-Point Star 12">
            <a:extLst>
              <a:ext uri="{FF2B5EF4-FFF2-40B4-BE49-F238E27FC236}">
                <a16:creationId xmlns:a16="http://schemas.microsoft.com/office/drawing/2014/main" id="{5350CB18-9C03-468A-8579-F1850E8BEC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9053" y="2650454"/>
            <a:ext cx="630111" cy="778546"/>
          </a:xfrm>
          <a:prstGeom prst="star5">
            <a:avLst>
              <a:gd name="adj" fmla="val 25889"/>
              <a:gd name="hf" fmla="val 105146"/>
              <a:gd name="vf" fmla="val 110557"/>
            </a:avLst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duotone>
              <a:schemeClr val="bg1">
                <a:shade val="48000"/>
                <a:satMod val="110000"/>
                <a:lumMod val="40000"/>
              </a:schemeClr>
              <a:schemeClr val="bg1">
                <a:tint val="90000"/>
                <a:lumMod val="106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bstract defocused red lights">
            <a:extLst>
              <a:ext uri="{FF2B5EF4-FFF2-40B4-BE49-F238E27FC236}">
                <a16:creationId xmlns:a16="http://schemas.microsoft.com/office/drawing/2014/main" id="{46FB1A65-0C2D-8B5F-8F5F-CF8AA8E96DA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4546" r="19091" b="4546"/>
          <a:stretch>
            <a:fillRect/>
          </a:stretch>
        </p:blipFill>
        <p:spPr>
          <a:xfrm>
            <a:off x="20" y="10"/>
            <a:ext cx="9143980" cy="6857990"/>
          </a:xfrm>
          <a:prstGeom prst="rect">
            <a:avLst/>
          </a:prstGeom>
        </p:spPr>
      </p:pic>
      <p:sp>
        <p:nvSpPr>
          <p:cNvPr id="10" name="Rectangle 10">
            <a:extLst>
              <a:ext uri="{FF2B5EF4-FFF2-40B4-BE49-F238E27FC236}">
                <a16:creationId xmlns:a16="http://schemas.microsoft.com/office/drawing/2014/main" id="{CC146B38-3E4E-4A67-91CF-55DBCC51B4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 rot="21420000">
            <a:off x="-114800" y="613608"/>
            <a:ext cx="6033080" cy="5638800"/>
          </a:xfrm>
          <a:custGeom>
            <a:avLst/>
            <a:gdLst/>
            <a:ahLst/>
            <a:cxnLst/>
            <a:rect l="l" t="t" r="r" b="b"/>
            <a:pathLst>
              <a:path w="8044107" h="5638800">
                <a:moveTo>
                  <a:pt x="8044107" y="0"/>
                </a:moveTo>
                <a:lnTo>
                  <a:pt x="8044107" y="5638800"/>
                </a:lnTo>
                <a:lnTo>
                  <a:pt x="0" y="5638800"/>
                </a:lnTo>
                <a:lnTo>
                  <a:pt x="295517" y="0"/>
                </a:lnTo>
                <a:close/>
              </a:path>
            </a:pathLst>
          </a:custGeom>
          <a:solidFill>
            <a:schemeClr val="accent1">
              <a:alpha val="82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 rot="21420000">
            <a:off x="364584" y="1220999"/>
            <a:ext cx="5138391" cy="1151965"/>
          </a:xfrm>
        </p:spPr>
        <p:txBody>
          <a:bodyPr>
            <a:normAutofit/>
          </a:bodyPr>
          <a:lstStyle/>
          <a:p>
            <a:r>
              <a:rPr lang="en-US">
                <a:solidFill>
                  <a:schemeClr val="bg1"/>
                </a:solidFill>
              </a:rPr>
              <a:t>Define the Story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 rot="21420000">
            <a:off x="440404" y="2448453"/>
            <a:ext cx="5144399" cy="2944652"/>
          </a:xfrm>
        </p:spPr>
        <p:txBody>
          <a:bodyPr>
            <a:normAutofit/>
          </a:bodyPr>
          <a:lstStyle/>
          <a:p>
            <a:r>
              <a:rPr lang="en-US" sz="1600">
                <a:solidFill>
                  <a:schemeClr val="bg1"/>
                </a:solidFill>
              </a:rPr>
              <a:t>Pitch a new Netflix original series using Top 10 viewership trends to identify high-engagement genres and formats.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duotone>
              <a:schemeClr val="bg1">
                <a:shade val="48000"/>
                <a:satMod val="110000"/>
                <a:lumMod val="40000"/>
              </a:schemeClr>
              <a:schemeClr val="bg1">
                <a:tint val="90000"/>
                <a:lumMod val="106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90A9C49B-76D8-4E9B-B430-D1ADF40F1C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F88A5712-2FE0-4DD4-BDC6-099EA378A0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984964" cy="6644081"/>
          </a:xfrm>
          <a:prstGeom prst="rect">
            <a:avLst/>
          </a:prstGeom>
          <a:ln>
            <a:noFill/>
          </a:ln>
          <a:effectLst>
            <a:outerShdw blurRad="98425" dist="76200" dir="4380000" algn="tl" rotWithShape="0">
              <a:srgbClr val="000000">
                <a:alpha val="6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3" name="Freeform 9">
            <a:extLst>
              <a:ext uri="{FF2B5EF4-FFF2-40B4-BE49-F238E27FC236}">
                <a16:creationId xmlns:a16="http://schemas.microsoft.com/office/drawing/2014/main" id="{448E5503-E0F8-4B94-81A3-B1FA57623E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9047" y="0"/>
            <a:ext cx="8829967" cy="6419514"/>
          </a:xfrm>
          <a:custGeom>
            <a:avLst/>
            <a:gdLst/>
            <a:ahLst/>
            <a:cxnLst/>
            <a:rect l="l" t="t" r="r" b="b"/>
            <a:pathLst>
              <a:path w="11773291" h="6419514">
                <a:moveTo>
                  <a:pt x="11750059" y="0"/>
                </a:moveTo>
                <a:lnTo>
                  <a:pt x="11773291" y="6419514"/>
                </a:lnTo>
                <a:lnTo>
                  <a:pt x="0" y="6411047"/>
                </a:lnTo>
              </a:path>
            </a:pathLst>
          </a:custGeom>
          <a:ln w="82550">
            <a:solidFill>
              <a:schemeClr val="tx1">
                <a:lumMod val="50000"/>
                <a:lumOff val="50000"/>
              </a:schemeClr>
            </a:solidFill>
            <a:miter lim="800000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E54F896-85E7-4403-9E37-1B004731F8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3490722" cy="6380796"/>
          </a:xfrm>
          <a:prstGeom prst="rect">
            <a:avLst/>
          </a:prstGeom>
          <a:gradFill flip="none" rotWithShape="1">
            <a:gsLst>
              <a:gs pos="34000">
                <a:schemeClr val="accent1"/>
              </a:gs>
              <a:gs pos="100000">
                <a:schemeClr val="accent1">
                  <a:lumMod val="60000"/>
                </a:schemeClr>
              </a:gs>
            </a:gsLst>
            <a:lin ang="8100000" scaled="1"/>
            <a:tileRect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4351" y="685800"/>
            <a:ext cx="2536460" cy="4846967"/>
          </a:xfrm>
        </p:spPr>
        <p:txBody>
          <a:bodyPr>
            <a:normAutofit/>
          </a:bodyPr>
          <a:lstStyle/>
          <a:p>
            <a:r>
              <a:rPr lang="en-US" sz="4200">
                <a:solidFill>
                  <a:srgbClr val="FFFFFF"/>
                </a:solidFill>
              </a:rPr>
              <a:t>Audience, Purpose &amp; Medium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1B8BD5B9-BE02-03FB-7B14-66B0D378EB4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36971588"/>
              </p:ext>
            </p:extLst>
          </p:nvPr>
        </p:nvGraphicFramePr>
        <p:xfrm>
          <a:off x="3970581" y="685800"/>
          <a:ext cx="4319742" cy="48469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duotone>
              <a:schemeClr val="bg1">
                <a:shade val="48000"/>
                <a:satMod val="110000"/>
                <a:lumMod val="40000"/>
              </a:schemeClr>
              <a:schemeClr val="bg1">
                <a:tint val="90000"/>
                <a:lumMod val="106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90A9C49B-76D8-4E9B-B430-D1ADF40F1C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F88A5712-2FE0-4DD4-BDC6-099EA378A0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984964" cy="6644081"/>
          </a:xfrm>
          <a:prstGeom prst="rect">
            <a:avLst/>
          </a:prstGeom>
          <a:ln>
            <a:noFill/>
          </a:ln>
          <a:effectLst>
            <a:outerShdw blurRad="98425" dist="76200" dir="4380000" algn="tl" rotWithShape="0">
              <a:srgbClr val="000000">
                <a:alpha val="6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3" name="Freeform 9">
            <a:extLst>
              <a:ext uri="{FF2B5EF4-FFF2-40B4-BE49-F238E27FC236}">
                <a16:creationId xmlns:a16="http://schemas.microsoft.com/office/drawing/2014/main" id="{448E5503-E0F8-4B94-81A3-B1FA57623E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9047" y="0"/>
            <a:ext cx="8829967" cy="6419514"/>
          </a:xfrm>
          <a:custGeom>
            <a:avLst/>
            <a:gdLst/>
            <a:ahLst/>
            <a:cxnLst/>
            <a:rect l="l" t="t" r="r" b="b"/>
            <a:pathLst>
              <a:path w="11773291" h="6419514">
                <a:moveTo>
                  <a:pt x="11750059" y="0"/>
                </a:moveTo>
                <a:lnTo>
                  <a:pt x="11773291" y="6419514"/>
                </a:lnTo>
                <a:lnTo>
                  <a:pt x="0" y="6411047"/>
                </a:lnTo>
              </a:path>
            </a:pathLst>
          </a:custGeom>
          <a:ln w="82550">
            <a:solidFill>
              <a:schemeClr val="tx1">
                <a:lumMod val="50000"/>
                <a:lumOff val="50000"/>
              </a:schemeClr>
            </a:solidFill>
            <a:miter lim="800000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E54F896-85E7-4403-9E37-1B004731F8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3490722" cy="6380796"/>
          </a:xfrm>
          <a:prstGeom prst="rect">
            <a:avLst/>
          </a:prstGeom>
          <a:gradFill flip="none" rotWithShape="1">
            <a:gsLst>
              <a:gs pos="34000">
                <a:schemeClr val="accent1"/>
              </a:gs>
              <a:gs pos="100000">
                <a:schemeClr val="accent1">
                  <a:lumMod val="60000"/>
                </a:schemeClr>
              </a:gs>
            </a:gsLst>
            <a:lin ang="8100000" scaled="1"/>
            <a:tileRect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4351" y="685800"/>
            <a:ext cx="2536460" cy="4846967"/>
          </a:xfrm>
        </p:spPr>
        <p:txBody>
          <a:bodyPr>
            <a:normAutofit/>
          </a:bodyPr>
          <a:lstStyle/>
          <a:p>
            <a:r>
              <a:rPr lang="en-US" sz="4200">
                <a:solidFill>
                  <a:srgbClr val="FFFFFF"/>
                </a:solidFill>
              </a:rPr>
              <a:t>Design Choices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55AC6FCF-896A-1F0C-4719-C82271753BB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14424720"/>
              </p:ext>
            </p:extLst>
          </p:nvPr>
        </p:nvGraphicFramePr>
        <p:xfrm>
          <a:off x="3970581" y="685800"/>
          <a:ext cx="4319742" cy="48469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Ethical Considerations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Transformations: Weekly aggregation, top-quartile filter, nulls as zeros</a:t>
            </a:r>
          </a:p>
          <a:p>
            <a:r>
              <a:t>Risks: English-language bias, mitigated by clear labeling</a:t>
            </a:r>
          </a:p>
          <a:p>
            <a:r>
              <a:t>Compliance: Public Top 10 data, no PII, documented assumptions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duotone>
              <a:schemeClr val="bg1">
                <a:shade val="48000"/>
                <a:satMod val="110000"/>
                <a:lumMod val="40000"/>
              </a:schemeClr>
              <a:schemeClr val="bg1">
                <a:tint val="90000"/>
                <a:lumMod val="106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576E8DBD-6DBD-4FCB-8FE8-8F0425C0B6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 useBgFill="1">
        <p:nvSpPr>
          <p:cNvPr id="10" name="Freeform 11">
            <a:extLst>
              <a:ext uri="{FF2B5EF4-FFF2-40B4-BE49-F238E27FC236}">
                <a16:creationId xmlns:a16="http://schemas.microsoft.com/office/drawing/2014/main" id="{70BE0118-665B-49AC-8ED9-B29C009CED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1906" y="0"/>
            <a:ext cx="8762857" cy="6588125"/>
          </a:xfrm>
          <a:custGeom>
            <a:avLst/>
            <a:gdLst/>
            <a:ahLst/>
            <a:cxnLst/>
            <a:rect l="l" t="t" r="r" b="b"/>
            <a:pathLst>
              <a:path w="11683810" h="6588125">
                <a:moveTo>
                  <a:pt x="0" y="0"/>
                </a:moveTo>
                <a:lnTo>
                  <a:pt x="11318691" y="0"/>
                </a:lnTo>
                <a:lnTo>
                  <a:pt x="11683810" y="5976938"/>
                </a:lnTo>
                <a:lnTo>
                  <a:pt x="15875" y="6588125"/>
                </a:lnTo>
                <a:cubicBezTo>
                  <a:pt x="10583" y="4386792"/>
                  <a:pt x="5292" y="2185458"/>
                  <a:pt x="0" y="0"/>
                </a:cubicBezTo>
                <a:close/>
              </a:path>
            </a:pathLst>
          </a:custGeom>
          <a:ln>
            <a:noFill/>
          </a:ln>
          <a:effectLst>
            <a:outerShdw blurRad="101600" dist="152400" dir="4380000" algn="tl" rotWithShape="0">
              <a:srgbClr val="000000">
                <a:alpha val="4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2" name="Freeform 13">
            <a:extLst>
              <a:ext uri="{FF2B5EF4-FFF2-40B4-BE49-F238E27FC236}">
                <a16:creationId xmlns:a16="http://schemas.microsoft.com/office/drawing/2014/main" id="{DB8E4593-3024-4A7B-92FB-8114D72E57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282257"/>
            <a:ext cx="8496942" cy="2028845"/>
          </a:xfrm>
          <a:custGeom>
            <a:avLst/>
            <a:gdLst/>
            <a:ahLst/>
            <a:cxnLst/>
            <a:rect l="l" t="t" r="r" b="b"/>
            <a:pathLst>
              <a:path w="11329257" h="2028845">
                <a:moveTo>
                  <a:pt x="0" y="588520"/>
                </a:moveTo>
                <a:lnTo>
                  <a:pt x="11244075" y="0"/>
                </a:lnTo>
                <a:lnTo>
                  <a:pt x="11329257" y="1424838"/>
                </a:lnTo>
                <a:lnTo>
                  <a:pt x="0" y="2028845"/>
                </a:lnTo>
                <a:lnTo>
                  <a:pt x="0" y="588520"/>
                </a:lnTo>
                <a:close/>
              </a:path>
            </a:pathLst>
          </a:custGeom>
          <a:gradFill flip="none" rotWithShape="1">
            <a:gsLst>
              <a:gs pos="34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4" name="Freeform 25">
            <a:extLst>
              <a:ext uri="{FF2B5EF4-FFF2-40B4-BE49-F238E27FC236}">
                <a16:creationId xmlns:a16="http://schemas.microsoft.com/office/drawing/2014/main" id="{F72029E6-113E-4A42-8D29-4B796B39B9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539684" cy="456877"/>
          </a:xfrm>
          <a:custGeom>
            <a:avLst/>
            <a:gdLst/>
            <a:ahLst/>
            <a:cxnLst/>
            <a:rect l="l" t="t" r="r" b="b"/>
            <a:pathLst>
              <a:path w="8719579" h="456877">
                <a:moveTo>
                  <a:pt x="0" y="0"/>
                </a:moveTo>
                <a:lnTo>
                  <a:pt x="8719579" y="0"/>
                </a:lnTo>
                <a:lnTo>
                  <a:pt x="0" y="456877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34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6" name="Freeform 14">
            <a:extLst>
              <a:ext uri="{FF2B5EF4-FFF2-40B4-BE49-F238E27FC236}">
                <a16:creationId xmlns:a16="http://schemas.microsoft.com/office/drawing/2014/main" id="{FBAE6AE5-2B20-46E6-B338-A385BFF09F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1420000">
            <a:off x="-121350" y="293317"/>
            <a:ext cx="8525337" cy="5751804"/>
          </a:xfrm>
          <a:custGeom>
            <a:avLst/>
            <a:gdLst/>
            <a:ahLst/>
            <a:cxnLst/>
            <a:rect l="l" t="t" r="r" b="b"/>
            <a:pathLst>
              <a:path w="11367116" h="5751804">
                <a:moveTo>
                  <a:pt x="11346705" y="0"/>
                </a:moveTo>
                <a:cubicBezTo>
                  <a:pt x="11353509" y="1915114"/>
                  <a:pt x="11360312" y="3830229"/>
                  <a:pt x="11367116" y="5745343"/>
                </a:cubicBezTo>
                <a:lnTo>
                  <a:pt x="0" y="5751804"/>
                </a:lnTo>
              </a:path>
            </a:pathLst>
          </a:custGeom>
          <a:ln w="82550">
            <a:solidFill>
              <a:schemeClr val="tx1">
                <a:lumMod val="50000"/>
                <a:lumOff val="50000"/>
              </a:schemeClr>
            </a:solidFill>
            <a:miter lim="800000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en-US"/>
          </a:p>
        </p:txBody>
      </p:sp>
      <p:sp>
        <p:nvSpPr>
          <p:cNvPr id="18" name="5-Point Star 24">
            <a:extLst>
              <a:ext uri="{FF2B5EF4-FFF2-40B4-BE49-F238E27FC236}">
                <a16:creationId xmlns:a16="http://schemas.microsoft.com/office/drawing/2014/main" id="{4555B12C-E2CF-448D-918F-96D0958DC6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1420000">
            <a:off x="3166038" y="5111356"/>
            <a:ext cx="386540" cy="515386"/>
          </a:xfrm>
          <a:prstGeom prst="star5">
            <a:avLst>
              <a:gd name="adj" fmla="val 26693"/>
              <a:gd name="hf" fmla="val 105146"/>
              <a:gd name="vf" fmla="val 110557"/>
            </a:avLst>
          </a:prstGeom>
          <a:solidFill>
            <a:schemeClr val="tx1">
              <a:alpha val="4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9EB9FA3F-CAB0-4533-9364-224CEC6FF8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9141714" cy="6858000"/>
          </a:xfrm>
          <a:prstGeom prst="rect">
            <a:avLst/>
          </a:prstGeom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8660" y="4519749"/>
            <a:ext cx="8104342" cy="1270279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4000"/>
              <a:t>Top 10 Most Viewed Global Shows</a:t>
            </a:r>
          </a:p>
        </p:txBody>
      </p:sp>
      <p:sp>
        <p:nvSpPr>
          <p:cNvPr id="22" name="5-Point Star 31">
            <a:extLst>
              <a:ext uri="{FF2B5EF4-FFF2-40B4-BE49-F238E27FC236}">
                <a16:creationId xmlns:a16="http://schemas.microsoft.com/office/drawing/2014/main" id="{42B0C1BF-5CB1-40DA-9A22-5452B54691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27556" y="6388943"/>
            <a:ext cx="279786" cy="373049"/>
          </a:xfrm>
          <a:prstGeom prst="star5">
            <a:avLst>
              <a:gd name="adj" fmla="val 26693"/>
              <a:gd name="hf" fmla="val 105146"/>
              <a:gd name="vf" fmla="val 110557"/>
            </a:avLst>
          </a:prstGeom>
          <a:solidFill>
            <a:schemeClr val="tx1">
              <a:lumMod val="65000"/>
              <a:lumOff val="35000"/>
              <a:alpha val="4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3" name="Picture 2" descr="visual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2525" y="733679"/>
            <a:ext cx="7267698" cy="4098039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duotone>
              <a:schemeClr val="bg1">
                <a:shade val="48000"/>
                <a:satMod val="110000"/>
                <a:lumMod val="40000"/>
              </a:schemeClr>
              <a:schemeClr val="bg1">
                <a:tint val="90000"/>
                <a:lumMod val="106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576E8DBD-6DBD-4FCB-8FE8-8F0425C0B6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 useBgFill="1">
        <p:nvSpPr>
          <p:cNvPr id="10" name="Freeform 11">
            <a:extLst>
              <a:ext uri="{FF2B5EF4-FFF2-40B4-BE49-F238E27FC236}">
                <a16:creationId xmlns:a16="http://schemas.microsoft.com/office/drawing/2014/main" id="{70BE0118-665B-49AC-8ED9-B29C009CED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1906" y="0"/>
            <a:ext cx="8762857" cy="6588125"/>
          </a:xfrm>
          <a:custGeom>
            <a:avLst/>
            <a:gdLst/>
            <a:ahLst/>
            <a:cxnLst/>
            <a:rect l="l" t="t" r="r" b="b"/>
            <a:pathLst>
              <a:path w="11683810" h="6588125">
                <a:moveTo>
                  <a:pt x="0" y="0"/>
                </a:moveTo>
                <a:lnTo>
                  <a:pt x="11318691" y="0"/>
                </a:lnTo>
                <a:lnTo>
                  <a:pt x="11683810" y="5976938"/>
                </a:lnTo>
                <a:lnTo>
                  <a:pt x="15875" y="6588125"/>
                </a:lnTo>
                <a:cubicBezTo>
                  <a:pt x="10583" y="4386792"/>
                  <a:pt x="5292" y="2185458"/>
                  <a:pt x="0" y="0"/>
                </a:cubicBezTo>
                <a:close/>
              </a:path>
            </a:pathLst>
          </a:custGeom>
          <a:ln>
            <a:noFill/>
          </a:ln>
          <a:effectLst>
            <a:outerShdw blurRad="101600" dist="152400" dir="4380000" algn="tl" rotWithShape="0">
              <a:srgbClr val="000000">
                <a:alpha val="4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2" name="Freeform 13">
            <a:extLst>
              <a:ext uri="{FF2B5EF4-FFF2-40B4-BE49-F238E27FC236}">
                <a16:creationId xmlns:a16="http://schemas.microsoft.com/office/drawing/2014/main" id="{DB8E4593-3024-4A7B-92FB-8114D72E57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282257"/>
            <a:ext cx="8496942" cy="2028845"/>
          </a:xfrm>
          <a:custGeom>
            <a:avLst/>
            <a:gdLst/>
            <a:ahLst/>
            <a:cxnLst/>
            <a:rect l="l" t="t" r="r" b="b"/>
            <a:pathLst>
              <a:path w="11329257" h="2028845">
                <a:moveTo>
                  <a:pt x="0" y="588520"/>
                </a:moveTo>
                <a:lnTo>
                  <a:pt x="11244075" y="0"/>
                </a:lnTo>
                <a:lnTo>
                  <a:pt x="11329257" y="1424838"/>
                </a:lnTo>
                <a:lnTo>
                  <a:pt x="0" y="2028845"/>
                </a:lnTo>
                <a:lnTo>
                  <a:pt x="0" y="588520"/>
                </a:lnTo>
                <a:close/>
              </a:path>
            </a:pathLst>
          </a:custGeom>
          <a:gradFill flip="none" rotWithShape="1">
            <a:gsLst>
              <a:gs pos="34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4" name="Freeform 25">
            <a:extLst>
              <a:ext uri="{FF2B5EF4-FFF2-40B4-BE49-F238E27FC236}">
                <a16:creationId xmlns:a16="http://schemas.microsoft.com/office/drawing/2014/main" id="{F72029E6-113E-4A42-8D29-4B796B39B9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539684" cy="456877"/>
          </a:xfrm>
          <a:custGeom>
            <a:avLst/>
            <a:gdLst/>
            <a:ahLst/>
            <a:cxnLst/>
            <a:rect l="l" t="t" r="r" b="b"/>
            <a:pathLst>
              <a:path w="8719579" h="456877">
                <a:moveTo>
                  <a:pt x="0" y="0"/>
                </a:moveTo>
                <a:lnTo>
                  <a:pt x="8719579" y="0"/>
                </a:lnTo>
                <a:lnTo>
                  <a:pt x="0" y="456877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34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6" name="Freeform 14">
            <a:extLst>
              <a:ext uri="{FF2B5EF4-FFF2-40B4-BE49-F238E27FC236}">
                <a16:creationId xmlns:a16="http://schemas.microsoft.com/office/drawing/2014/main" id="{FBAE6AE5-2B20-46E6-B338-A385BFF09F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1420000">
            <a:off x="-121350" y="293317"/>
            <a:ext cx="8525337" cy="5751804"/>
          </a:xfrm>
          <a:custGeom>
            <a:avLst/>
            <a:gdLst/>
            <a:ahLst/>
            <a:cxnLst/>
            <a:rect l="l" t="t" r="r" b="b"/>
            <a:pathLst>
              <a:path w="11367116" h="5751804">
                <a:moveTo>
                  <a:pt x="11346705" y="0"/>
                </a:moveTo>
                <a:cubicBezTo>
                  <a:pt x="11353509" y="1915114"/>
                  <a:pt x="11360312" y="3830229"/>
                  <a:pt x="11367116" y="5745343"/>
                </a:cubicBezTo>
                <a:lnTo>
                  <a:pt x="0" y="5751804"/>
                </a:lnTo>
              </a:path>
            </a:pathLst>
          </a:custGeom>
          <a:ln w="82550">
            <a:solidFill>
              <a:schemeClr val="tx1">
                <a:lumMod val="50000"/>
                <a:lumOff val="50000"/>
              </a:schemeClr>
            </a:solidFill>
            <a:miter lim="800000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en-US"/>
          </a:p>
        </p:txBody>
      </p:sp>
      <p:sp>
        <p:nvSpPr>
          <p:cNvPr id="18" name="5-Point Star 24">
            <a:extLst>
              <a:ext uri="{FF2B5EF4-FFF2-40B4-BE49-F238E27FC236}">
                <a16:creationId xmlns:a16="http://schemas.microsoft.com/office/drawing/2014/main" id="{4555B12C-E2CF-448D-918F-96D0958DC6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1420000">
            <a:off x="3166038" y="5111356"/>
            <a:ext cx="386540" cy="515386"/>
          </a:xfrm>
          <a:prstGeom prst="star5">
            <a:avLst>
              <a:gd name="adj" fmla="val 26693"/>
              <a:gd name="hf" fmla="val 105146"/>
              <a:gd name="vf" fmla="val 110557"/>
            </a:avLst>
          </a:prstGeom>
          <a:solidFill>
            <a:schemeClr val="tx1">
              <a:alpha val="4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9EB9FA3F-CAB0-4533-9364-224CEC6FF8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9141714" cy="6858000"/>
          </a:xfrm>
          <a:prstGeom prst="rect">
            <a:avLst/>
          </a:prstGeom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8660" y="4519749"/>
            <a:ext cx="8104342" cy="1270279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4000"/>
              <a:t>Top 10 Countries by Hours Viewed</a:t>
            </a:r>
          </a:p>
        </p:txBody>
      </p:sp>
      <p:sp>
        <p:nvSpPr>
          <p:cNvPr id="22" name="5-Point Star 31">
            <a:extLst>
              <a:ext uri="{FF2B5EF4-FFF2-40B4-BE49-F238E27FC236}">
                <a16:creationId xmlns:a16="http://schemas.microsoft.com/office/drawing/2014/main" id="{42B0C1BF-5CB1-40DA-9A22-5452B54691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27556" y="6388943"/>
            <a:ext cx="279786" cy="373049"/>
          </a:xfrm>
          <a:prstGeom prst="star5">
            <a:avLst>
              <a:gd name="adj" fmla="val 26693"/>
              <a:gd name="hf" fmla="val 105146"/>
              <a:gd name="vf" fmla="val 110557"/>
            </a:avLst>
          </a:prstGeom>
          <a:solidFill>
            <a:schemeClr val="tx1">
              <a:lumMod val="65000"/>
              <a:lumOff val="35000"/>
              <a:alpha val="4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3" name="Picture 2" descr="visual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8774" y="691545"/>
            <a:ext cx="7362701" cy="413302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duotone>
              <a:schemeClr val="bg1">
                <a:shade val="48000"/>
                <a:satMod val="110000"/>
                <a:lumMod val="40000"/>
              </a:schemeClr>
              <a:schemeClr val="bg1">
                <a:tint val="90000"/>
                <a:lumMod val="106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576E8DBD-6DBD-4FCB-8FE8-8F0425C0B6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 useBgFill="1">
        <p:nvSpPr>
          <p:cNvPr id="10" name="Freeform 11">
            <a:extLst>
              <a:ext uri="{FF2B5EF4-FFF2-40B4-BE49-F238E27FC236}">
                <a16:creationId xmlns:a16="http://schemas.microsoft.com/office/drawing/2014/main" id="{70BE0118-665B-49AC-8ED9-B29C009CED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1906" y="0"/>
            <a:ext cx="8762857" cy="6588125"/>
          </a:xfrm>
          <a:custGeom>
            <a:avLst/>
            <a:gdLst/>
            <a:ahLst/>
            <a:cxnLst/>
            <a:rect l="l" t="t" r="r" b="b"/>
            <a:pathLst>
              <a:path w="11683810" h="6588125">
                <a:moveTo>
                  <a:pt x="0" y="0"/>
                </a:moveTo>
                <a:lnTo>
                  <a:pt x="11318691" y="0"/>
                </a:lnTo>
                <a:lnTo>
                  <a:pt x="11683810" y="5976938"/>
                </a:lnTo>
                <a:lnTo>
                  <a:pt x="15875" y="6588125"/>
                </a:lnTo>
                <a:cubicBezTo>
                  <a:pt x="10583" y="4386792"/>
                  <a:pt x="5292" y="2185458"/>
                  <a:pt x="0" y="0"/>
                </a:cubicBezTo>
                <a:close/>
              </a:path>
            </a:pathLst>
          </a:custGeom>
          <a:ln>
            <a:noFill/>
          </a:ln>
          <a:effectLst>
            <a:outerShdw blurRad="101600" dist="152400" dir="4380000" algn="tl" rotWithShape="0">
              <a:srgbClr val="000000">
                <a:alpha val="4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2" name="Freeform 13">
            <a:extLst>
              <a:ext uri="{FF2B5EF4-FFF2-40B4-BE49-F238E27FC236}">
                <a16:creationId xmlns:a16="http://schemas.microsoft.com/office/drawing/2014/main" id="{DB8E4593-3024-4A7B-92FB-8114D72E57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282257"/>
            <a:ext cx="8496942" cy="2028845"/>
          </a:xfrm>
          <a:custGeom>
            <a:avLst/>
            <a:gdLst/>
            <a:ahLst/>
            <a:cxnLst/>
            <a:rect l="l" t="t" r="r" b="b"/>
            <a:pathLst>
              <a:path w="11329257" h="2028845">
                <a:moveTo>
                  <a:pt x="0" y="588520"/>
                </a:moveTo>
                <a:lnTo>
                  <a:pt x="11244075" y="0"/>
                </a:lnTo>
                <a:lnTo>
                  <a:pt x="11329257" y="1424838"/>
                </a:lnTo>
                <a:lnTo>
                  <a:pt x="0" y="2028845"/>
                </a:lnTo>
                <a:lnTo>
                  <a:pt x="0" y="588520"/>
                </a:lnTo>
                <a:close/>
              </a:path>
            </a:pathLst>
          </a:custGeom>
          <a:gradFill flip="none" rotWithShape="1">
            <a:gsLst>
              <a:gs pos="34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4" name="Freeform 25">
            <a:extLst>
              <a:ext uri="{FF2B5EF4-FFF2-40B4-BE49-F238E27FC236}">
                <a16:creationId xmlns:a16="http://schemas.microsoft.com/office/drawing/2014/main" id="{F72029E6-113E-4A42-8D29-4B796B39B9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539684" cy="456877"/>
          </a:xfrm>
          <a:custGeom>
            <a:avLst/>
            <a:gdLst/>
            <a:ahLst/>
            <a:cxnLst/>
            <a:rect l="l" t="t" r="r" b="b"/>
            <a:pathLst>
              <a:path w="8719579" h="456877">
                <a:moveTo>
                  <a:pt x="0" y="0"/>
                </a:moveTo>
                <a:lnTo>
                  <a:pt x="8719579" y="0"/>
                </a:lnTo>
                <a:lnTo>
                  <a:pt x="0" y="456877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34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6" name="Freeform 14">
            <a:extLst>
              <a:ext uri="{FF2B5EF4-FFF2-40B4-BE49-F238E27FC236}">
                <a16:creationId xmlns:a16="http://schemas.microsoft.com/office/drawing/2014/main" id="{FBAE6AE5-2B20-46E6-B338-A385BFF09F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1420000">
            <a:off x="-121350" y="293317"/>
            <a:ext cx="8525337" cy="5751804"/>
          </a:xfrm>
          <a:custGeom>
            <a:avLst/>
            <a:gdLst/>
            <a:ahLst/>
            <a:cxnLst/>
            <a:rect l="l" t="t" r="r" b="b"/>
            <a:pathLst>
              <a:path w="11367116" h="5751804">
                <a:moveTo>
                  <a:pt x="11346705" y="0"/>
                </a:moveTo>
                <a:cubicBezTo>
                  <a:pt x="11353509" y="1915114"/>
                  <a:pt x="11360312" y="3830229"/>
                  <a:pt x="11367116" y="5745343"/>
                </a:cubicBezTo>
                <a:lnTo>
                  <a:pt x="0" y="5751804"/>
                </a:lnTo>
              </a:path>
            </a:pathLst>
          </a:custGeom>
          <a:ln w="82550">
            <a:solidFill>
              <a:schemeClr val="tx1">
                <a:lumMod val="50000"/>
                <a:lumOff val="50000"/>
              </a:schemeClr>
            </a:solidFill>
            <a:miter lim="800000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en-US"/>
          </a:p>
        </p:txBody>
      </p:sp>
      <p:sp>
        <p:nvSpPr>
          <p:cNvPr id="18" name="5-Point Star 24">
            <a:extLst>
              <a:ext uri="{FF2B5EF4-FFF2-40B4-BE49-F238E27FC236}">
                <a16:creationId xmlns:a16="http://schemas.microsoft.com/office/drawing/2014/main" id="{4555B12C-E2CF-448D-918F-96D0958DC6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1420000">
            <a:off x="3166038" y="5111356"/>
            <a:ext cx="386540" cy="515386"/>
          </a:xfrm>
          <a:prstGeom prst="star5">
            <a:avLst>
              <a:gd name="adj" fmla="val 26693"/>
              <a:gd name="hf" fmla="val 105146"/>
              <a:gd name="vf" fmla="val 110557"/>
            </a:avLst>
          </a:prstGeom>
          <a:solidFill>
            <a:schemeClr val="tx1">
              <a:alpha val="4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9EB9FA3F-CAB0-4533-9364-224CEC6FF8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9141714" cy="6858000"/>
          </a:xfrm>
          <a:prstGeom prst="rect">
            <a:avLst/>
          </a:prstGeom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8660" y="4519749"/>
            <a:ext cx="8104342" cy="1270279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4000"/>
              <a:t>Global Weekly Hours by Category</a:t>
            </a:r>
          </a:p>
        </p:txBody>
      </p:sp>
      <p:sp>
        <p:nvSpPr>
          <p:cNvPr id="22" name="5-Point Star 31">
            <a:extLst>
              <a:ext uri="{FF2B5EF4-FFF2-40B4-BE49-F238E27FC236}">
                <a16:creationId xmlns:a16="http://schemas.microsoft.com/office/drawing/2014/main" id="{42B0C1BF-5CB1-40DA-9A22-5452B54691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27556" y="6388943"/>
            <a:ext cx="279786" cy="373049"/>
          </a:xfrm>
          <a:prstGeom prst="star5">
            <a:avLst>
              <a:gd name="adj" fmla="val 26693"/>
              <a:gd name="hf" fmla="val 105146"/>
              <a:gd name="vf" fmla="val 110557"/>
            </a:avLst>
          </a:prstGeom>
          <a:solidFill>
            <a:schemeClr val="tx1">
              <a:lumMod val="65000"/>
              <a:lumOff val="35000"/>
              <a:alpha val="4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3" name="Picture 2" descr="visual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6137" y="691545"/>
            <a:ext cx="7029388" cy="3973421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duotone>
              <a:schemeClr val="bg1">
                <a:shade val="48000"/>
                <a:satMod val="110000"/>
                <a:lumMod val="40000"/>
              </a:schemeClr>
              <a:schemeClr val="bg1">
                <a:tint val="90000"/>
                <a:lumMod val="106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576E8DBD-6DBD-4FCB-8FE8-8F0425C0B6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 useBgFill="1">
        <p:nvSpPr>
          <p:cNvPr id="10" name="Freeform 11">
            <a:extLst>
              <a:ext uri="{FF2B5EF4-FFF2-40B4-BE49-F238E27FC236}">
                <a16:creationId xmlns:a16="http://schemas.microsoft.com/office/drawing/2014/main" id="{70BE0118-665B-49AC-8ED9-B29C009CED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1906" y="0"/>
            <a:ext cx="8762857" cy="6588125"/>
          </a:xfrm>
          <a:custGeom>
            <a:avLst/>
            <a:gdLst/>
            <a:ahLst/>
            <a:cxnLst/>
            <a:rect l="l" t="t" r="r" b="b"/>
            <a:pathLst>
              <a:path w="11683810" h="6588125">
                <a:moveTo>
                  <a:pt x="0" y="0"/>
                </a:moveTo>
                <a:lnTo>
                  <a:pt x="11318691" y="0"/>
                </a:lnTo>
                <a:lnTo>
                  <a:pt x="11683810" y="5976938"/>
                </a:lnTo>
                <a:lnTo>
                  <a:pt x="15875" y="6588125"/>
                </a:lnTo>
                <a:cubicBezTo>
                  <a:pt x="10583" y="4386792"/>
                  <a:pt x="5292" y="2185458"/>
                  <a:pt x="0" y="0"/>
                </a:cubicBezTo>
                <a:close/>
              </a:path>
            </a:pathLst>
          </a:custGeom>
          <a:ln>
            <a:noFill/>
          </a:ln>
          <a:effectLst>
            <a:outerShdw blurRad="101600" dist="152400" dir="4380000" algn="tl" rotWithShape="0">
              <a:srgbClr val="000000">
                <a:alpha val="4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2" name="Freeform 13">
            <a:extLst>
              <a:ext uri="{FF2B5EF4-FFF2-40B4-BE49-F238E27FC236}">
                <a16:creationId xmlns:a16="http://schemas.microsoft.com/office/drawing/2014/main" id="{DB8E4593-3024-4A7B-92FB-8114D72E57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282257"/>
            <a:ext cx="8496942" cy="2028845"/>
          </a:xfrm>
          <a:custGeom>
            <a:avLst/>
            <a:gdLst/>
            <a:ahLst/>
            <a:cxnLst/>
            <a:rect l="l" t="t" r="r" b="b"/>
            <a:pathLst>
              <a:path w="11329257" h="2028845">
                <a:moveTo>
                  <a:pt x="0" y="588520"/>
                </a:moveTo>
                <a:lnTo>
                  <a:pt x="11244075" y="0"/>
                </a:lnTo>
                <a:lnTo>
                  <a:pt x="11329257" y="1424838"/>
                </a:lnTo>
                <a:lnTo>
                  <a:pt x="0" y="2028845"/>
                </a:lnTo>
                <a:lnTo>
                  <a:pt x="0" y="588520"/>
                </a:lnTo>
                <a:close/>
              </a:path>
            </a:pathLst>
          </a:custGeom>
          <a:gradFill flip="none" rotWithShape="1">
            <a:gsLst>
              <a:gs pos="34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4" name="Freeform 25">
            <a:extLst>
              <a:ext uri="{FF2B5EF4-FFF2-40B4-BE49-F238E27FC236}">
                <a16:creationId xmlns:a16="http://schemas.microsoft.com/office/drawing/2014/main" id="{F72029E6-113E-4A42-8D29-4B796B39B9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539684" cy="456877"/>
          </a:xfrm>
          <a:custGeom>
            <a:avLst/>
            <a:gdLst/>
            <a:ahLst/>
            <a:cxnLst/>
            <a:rect l="l" t="t" r="r" b="b"/>
            <a:pathLst>
              <a:path w="8719579" h="456877">
                <a:moveTo>
                  <a:pt x="0" y="0"/>
                </a:moveTo>
                <a:lnTo>
                  <a:pt x="8719579" y="0"/>
                </a:lnTo>
                <a:lnTo>
                  <a:pt x="0" y="456877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34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6" name="Freeform 14">
            <a:extLst>
              <a:ext uri="{FF2B5EF4-FFF2-40B4-BE49-F238E27FC236}">
                <a16:creationId xmlns:a16="http://schemas.microsoft.com/office/drawing/2014/main" id="{FBAE6AE5-2B20-46E6-B338-A385BFF09F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1420000">
            <a:off x="-121350" y="293317"/>
            <a:ext cx="8525337" cy="5751804"/>
          </a:xfrm>
          <a:custGeom>
            <a:avLst/>
            <a:gdLst/>
            <a:ahLst/>
            <a:cxnLst/>
            <a:rect l="l" t="t" r="r" b="b"/>
            <a:pathLst>
              <a:path w="11367116" h="5751804">
                <a:moveTo>
                  <a:pt x="11346705" y="0"/>
                </a:moveTo>
                <a:cubicBezTo>
                  <a:pt x="11353509" y="1915114"/>
                  <a:pt x="11360312" y="3830229"/>
                  <a:pt x="11367116" y="5745343"/>
                </a:cubicBezTo>
                <a:lnTo>
                  <a:pt x="0" y="5751804"/>
                </a:lnTo>
              </a:path>
            </a:pathLst>
          </a:custGeom>
          <a:ln w="82550">
            <a:solidFill>
              <a:schemeClr val="tx1">
                <a:lumMod val="50000"/>
                <a:lumOff val="50000"/>
              </a:schemeClr>
            </a:solidFill>
            <a:miter lim="800000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en-US"/>
          </a:p>
        </p:txBody>
      </p:sp>
      <p:sp>
        <p:nvSpPr>
          <p:cNvPr id="18" name="5-Point Star 24">
            <a:extLst>
              <a:ext uri="{FF2B5EF4-FFF2-40B4-BE49-F238E27FC236}">
                <a16:creationId xmlns:a16="http://schemas.microsoft.com/office/drawing/2014/main" id="{4555B12C-E2CF-448D-918F-96D0958DC6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1420000">
            <a:off x="3166038" y="5111356"/>
            <a:ext cx="386540" cy="515386"/>
          </a:xfrm>
          <a:prstGeom prst="star5">
            <a:avLst>
              <a:gd name="adj" fmla="val 26693"/>
              <a:gd name="hf" fmla="val 105146"/>
              <a:gd name="vf" fmla="val 110557"/>
            </a:avLst>
          </a:prstGeom>
          <a:solidFill>
            <a:schemeClr val="tx1">
              <a:alpha val="4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9EB9FA3F-CAB0-4533-9364-224CEC6FF8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9141714" cy="6858000"/>
          </a:xfrm>
          <a:prstGeom prst="rect">
            <a:avLst/>
          </a:prstGeom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8660" y="4519749"/>
            <a:ext cx="8104342" cy="1270279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5300"/>
              <a:t>Global vs. US Top 10 Shows</a:t>
            </a:r>
          </a:p>
        </p:txBody>
      </p:sp>
      <p:sp>
        <p:nvSpPr>
          <p:cNvPr id="22" name="5-Point Star 31">
            <a:extLst>
              <a:ext uri="{FF2B5EF4-FFF2-40B4-BE49-F238E27FC236}">
                <a16:creationId xmlns:a16="http://schemas.microsoft.com/office/drawing/2014/main" id="{42B0C1BF-5CB1-40DA-9A22-5452B54691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27556" y="6388943"/>
            <a:ext cx="279786" cy="373049"/>
          </a:xfrm>
          <a:prstGeom prst="star5">
            <a:avLst>
              <a:gd name="adj" fmla="val 26693"/>
              <a:gd name="hf" fmla="val 105146"/>
              <a:gd name="vf" fmla="val 110557"/>
            </a:avLst>
          </a:prstGeom>
          <a:solidFill>
            <a:schemeClr val="tx1">
              <a:lumMod val="65000"/>
              <a:lumOff val="35000"/>
              <a:alpha val="4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3" name="Picture 2" descr="visual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8660" y="757110"/>
            <a:ext cx="8104342" cy="3762637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duotone>
              <a:schemeClr val="bg1">
                <a:shade val="48000"/>
                <a:satMod val="110000"/>
                <a:lumMod val="40000"/>
              </a:schemeClr>
              <a:schemeClr val="bg1">
                <a:tint val="90000"/>
                <a:lumMod val="106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576E8DBD-6DBD-4FCB-8FE8-8F0425C0B6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 useBgFill="1">
        <p:nvSpPr>
          <p:cNvPr id="10" name="Freeform 11">
            <a:extLst>
              <a:ext uri="{FF2B5EF4-FFF2-40B4-BE49-F238E27FC236}">
                <a16:creationId xmlns:a16="http://schemas.microsoft.com/office/drawing/2014/main" id="{70BE0118-665B-49AC-8ED9-B29C009CED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1906" y="0"/>
            <a:ext cx="8762857" cy="6588125"/>
          </a:xfrm>
          <a:custGeom>
            <a:avLst/>
            <a:gdLst/>
            <a:ahLst/>
            <a:cxnLst/>
            <a:rect l="l" t="t" r="r" b="b"/>
            <a:pathLst>
              <a:path w="11683810" h="6588125">
                <a:moveTo>
                  <a:pt x="0" y="0"/>
                </a:moveTo>
                <a:lnTo>
                  <a:pt x="11318691" y="0"/>
                </a:lnTo>
                <a:lnTo>
                  <a:pt x="11683810" y="5976938"/>
                </a:lnTo>
                <a:lnTo>
                  <a:pt x="15875" y="6588125"/>
                </a:lnTo>
                <a:cubicBezTo>
                  <a:pt x="10583" y="4386792"/>
                  <a:pt x="5292" y="2185458"/>
                  <a:pt x="0" y="0"/>
                </a:cubicBezTo>
                <a:close/>
              </a:path>
            </a:pathLst>
          </a:custGeom>
          <a:ln>
            <a:noFill/>
          </a:ln>
          <a:effectLst>
            <a:outerShdw blurRad="101600" dist="152400" dir="4380000" algn="tl" rotWithShape="0">
              <a:srgbClr val="000000">
                <a:alpha val="4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2" name="Freeform 13">
            <a:extLst>
              <a:ext uri="{FF2B5EF4-FFF2-40B4-BE49-F238E27FC236}">
                <a16:creationId xmlns:a16="http://schemas.microsoft.com/office/drawing/2014/main" id="{DB8E4593-3024-4A7B-92FB-8114D72E57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282257"/>
            <a:ext cx="8496942" cy="2028845"/>
          </a:xfrm>
          <a:custGeom>
            <a:avLst/>
            <a:gdLst/>
            <a:ahLst/>
            <a:cxnLst/>
            <a:rect l="l" t="t" r="r" b="b"/>
            <a:pathLst>
              <a:path w="11329257" h="2028845">
                <a:moveTo>
                  <a:pt x="0" y="588520"/>
                </a:moveTo>
                <a:lnTo>
                  <a:pt x="11244075" y="0"/>
                </a:lnTo>
                <a:lnTo>
                  <a:pt x="11329257" y="1424838"/>
                </a:lnTo>
                <a:lnTo>
                  <a:pt x="0" y="2028845"/>
                </a:lnTo>
                <a:lnTo>
                  <a:pt x="0" y="588520"/>
                </a:lnTo>
                <a:close/>
              </a:path>
            </a:pathLst>
          </a:custGeom>
          <a:gradFill flip="none" rotWithShape="1">
            <a:gsLst>
              <a:gs pos="34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4" name="Freeform 25">
            <a:extLst>
              <a:ext uri="{FF2B5EF4-FFF2-40B4-BE49-F238E27FC236}">
                <a16:creationId xmlns:a16="http://schemas.microsoft.com/office/drawing/2014/main" id="{F72029E6-113E-4A42-8D29-4B796B39B9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539684" cy="456877"/>
          </a:xfrm>
          <a:custGeom>
            <a:avLst/>
            <a:gdLst/>
            <a:ahLst/>
            <a:cxnLst/>
            <a:rect l="l" t="t" r="r" b="b"/>
            <a:pathLst>
              <a:path w="8719579" h="456877">
                <a:moveTo>
                  <a:pt x="0" y="0"/>
                </a:moveTo>
                <a:lnTo>
                  <a:pt x="8719579" y="0"/>
                </a:lnTo>
                <a:lnTo>
                  <a:pt x="0" y="456877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34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6" name="Freeform 14">
            <a:extLst>
              <a:ext uri="{FF2B5EF4-FFF2-40B4-BE49-F238E27FC236}">
                <a16:creationId xmlns:a16="http://schemas.microsoft.com/office/drawing/2014/main" id="{FBAE6AE5-2B20-46E6-B338-A385BFF09F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1420000">
            <a:off x="-121350" y="293317"/>
            <a:ext cx="8525337" cy="5751804"/>
          </a:xfrm>
          <a:custGeom>
            <a:avLst/>
            <a:gdLst/>
            <a:ahLst/>
            <a:cxnLst/>
            <a:rect l="l" t="t" r="r" b="b"/>
            <a:pathLst>
              <a:path w="11367116" h="5751804">
                <a:moveTo>
                  <a:pt x="11346705" y="0"/>
                </a:moveTo>
                <a:cubicBezTo>
                  <a:pt x="11353509" y="1915114"/>
                  <a:pt x="11360312" y="3830229"/>
                  <a:pt x="11367116" y="5745343"/>
                </a:cubicBezTo>
                <a:lnTo>
                  <a:pt x="0" y="5751804"/>
                </a:lnTo>
              </a:path>
            </a:pathLst>
          </a:custGeom>
          <a:ln w="82550">
            <a:solidFill>
              <a:schemeClr val="tx1">
                <a:lumMod val="50000"/>
                <a:lumOff val="50000"/>
              </a:schemeClr>
            </a:solidFill>
            <a:miter lim="800000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en-US"/>
          </a:p>
        </p:txBody>
      </p:sp>
      <p:sp>
        <p:nvSpPr>
          <p:cNvPr id="18" name="5-Point Star 24">
            <a:extLst>
              <a:ext uri="{FF2B5EF4-FFF2-40B4-BE49-F238E27FC236}">
                <a16:creationId xmlns:a16="http://schemas.microsoft.com/office/drawing/2014/main" id="{4555B12C-E2CF-448D-918F-96D0958DC6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1420000">
            <a:off x="3166038" y="5111356"/>
            <a:ext cx="386540" cy="515386"/>
          </a:xfrm>
          <a:prstGeom prst="star5">
            <a:avLst>
              <a:gd name="adj" fmla="val 26693"/>
              <a:gd name="hf" fmla="val 105146"/>
              <a:gd name="vf" fmla="val 110557"/>
            </a:avLst>
          </a:prstGeom>
          <a:solidFill>
            <a:schemeClr val="tx1">
              <a:alpha val="4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9EB9FA3F-CAB0-4533-9364-224CEC6FF8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9141714" cy="6858000"/>
          </a:xfrm>
          <a:prstGeom prst="rect">
            <a:avLst/>
          </a:prstGeom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8660" y="4519749"/>
            <a:ext cx="8104342" cy="1270279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5700"/>
              <a:t>Squid Game Weekly Trend</a:t>
            </a:r>
          </a:p>
        </p:txBody>
      </p:sp>
      <p:sp>
        <p:nvSpPr>
          <p:cNvPr id="22" name="5-Point Star 31">
            <a:extLst>
              <a:ext uri="{FF2B5EF4-FFF2-40B4-BE49-F238E27FC236}">
                <a16:creationId xmlns:a16="http://schemas.microsoft.com/office/drawing/2014/main" id="{42B0C1BF-5CB1-40DA-9A22-5452B54691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27556" y="6388943"/>
            <a:ext cx="279786" cy="373049"/>
          </a:xfrm>
          <a:prstGeom prst="star5">
            <a:avLst>
              <a:gd name="adj" fmla="val 26693"/>
              <a:gd name="hf" fmla="val 105146"/>
              <a:gd name="vf" fmla="val 110557"/>
            </a:avLst>
          </a:prstGeom>
          <a:solidFill>
            <a:schemeClr val="tx1">
              <a:lumMod val="65000"/>
              <a:lumOff val="35000"/>
              <a:alpha val="4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3" name="Picture 2" descr="visual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9247" y="703737"/>
            <a:ext cx="7656404" cy="3828202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duotone>
              <a:schemeClr val="bg1">
                <a:shade val="48000"/>
                <a:satMod val="110000"/>
                <a:lumMod val="40000"/>
              </a:schemeClr>
              <a:schemeClr val="bg1">
                <a:tint val="90000"/>
                <a:lumMod val="106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576E8DBD-6DBD-4FCB-8FE8-8F0425C0B6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 useBgFill="1">
        <p:nvSpPr>
          <p:cNvPr id="10" name="Freeform 11">
            <a:extLst>
              <a:ext uri="{FF2B5EF4-FFF2-40B4-BE49-F238E27FC236}">
                <a16:creationId xmlns:a16="http://schemas.microsoft.com/office/drawing/2014/main" id="{70BE0118-665B-49AC-8ED9-B29C009CED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1906" y="0"/>
            <a:ext cx="8762857" cy="6588125"/>
          </a:xfrm>
          <a:custGeom>
            <a:avLst/>
            <a:gdLst/>
            <a:ahLst/>
            <a:cxnLst/>
            <a:rect l="l" t="t" r="r" b="b"/>
            <a:pathLst>
              <a:path w="11683810" h="6588125">
                <a:moveTo>
                  <a:pt x="0" y="0"/>
                </a:moveTo>
                <a:lnTo>
                  <a:pt x="11318691" y="0"/>
                </a:lnTo>
                <a:lnTo>
                  <a:pt x="11683810" y="5976938"/>
                </a:lnTo>
                <a:lnTo>
                  <a:pt x="15875" y="6588125"/>
                </a:lnTo>
                <a:cubicBezTo>
                  <a:pt x="10583" y="4386792"/>
                  <a:pt x="5292" y="2185458"/>
                  <a:pt x="0" y="0"/>
                </a:cubicBezTo>
                <a:close/>
              </a:path>
            </a:pathLst>
          </a:custGeom>
          <a:ln>
            <a:noFill/>
          </a:ln>
          <a:effectLst>
            <a:outerShdw blurRad="101600" dist="152400" dir="4380000" algn="tl" rotWithShape="0">
              <a:srgbClr val="000000">
                <a:alpha val="4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2" name="Freeform 13">
            <a:extLst>
              <a:ext uri="{FF2B5EF4-FFF2-40B4-BE49-F238E27FC236}">
                <a16:creationId xmlns:a16="http://schemas.microsoft.com/office/drawing/2014/main" id="{DB8E4593-3024-4A7B-92FB-8114D72E57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282257"/>
            <a:ext cx="8496942" cy="2028845"/>
          </a:xfrm>
          <a:custGeom>
            <a:avLst/>
            <a:gdLst/>
            <a:ahLst/>
            <a:cxnLst/>
            <a:rect l="l" t="t" r="r" b="b"/>
            <a:pathLst>
              <a:path w="11329257" h="2028845">
                <a:moveTo>
                  <a:pt x="0" y="588520"/>
                </a:moveTo>
                <a:lnTo>
                  <a:pt x="11244075" y="0"/>
                </a:lnTo>
                <a:lnTo>
                  <a:pt x="11329257" y="1424838"/>
                </a:lnTo>
                <a:lnTo>
                  <a:pt x="0" y="2028845"/>
                </a:lnTo>
                <a:lnTo>
                  <a:pt x="0" y="588520"/>
                </a:lnTo>
                <a:close/>
              </a:path>
            </a:pathLst>
          </a:custGeom>
          <a:gradFill flip="none" rotWithShape="1">
            <a:gsLst>
              <a:gs pos="34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4" name="Freeform 25">
            <a:extLst>
              <a:ext uri="{FF2B5EF4-FFF2-40B4-BE49-F238E27FC236}">
                <a16:creationId xmlns:a16="http://schemas.microsoft.com/office/drawing/2014/main" id="{F72029E6-113E-4A42-8D29-4B796B39B9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539684" cy="456877"/>
          </a:xfrm>
          <a:custGeom>
            <a:avLst/>
            <a:gdLst/>
            <a:ahLst/>
            <a:cxnLst/>
            <a:rect l="l" t="t" r="r" b="b"/>
            <a:pathLst>
              <a:path w="8719579" h="456877">
                <a:moveTo>
                  <a:pt x="0" y="0"/>
                </a:moveTo>
                <a:lnTo>
                  <a:pt x="8719579" y="0"/>
                </a:lnTo>
                <a:lnTo>
                  <a:pt x="0" y="456877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34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6" name="Freeform 14">
            <a:extLst>
              <a:ext uri="{FF2B5EF4-FFF2-40B4-BE49-F238E27FC236}">
                <a16:creationId xmlns:a16="http://schemas.microsoft.com/office/drawing/2014/main" id="{FBAE6AE5-2B20-46E6-B338-A385BFF09F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1420000">
            <a:off x="-121350" y="293317"/>
            <a:ext cx="8525337" cy="5751804"/>
          </a:xfrm>
          <a:custGeom>
            <a:avLst/>
            <a:gdLst/>
            <a:ahLst/>
            <a:cxnLst/>
            <a:rect l="l" t="t" r="r" b="b"/>
            <a:pathLst>
              <a:path w="11367116" h="5751804">
                <a:moveTo>
                  <a:pt x="11346705" y="0"/>
                </a:moveTo>
                <a:cubicBezTo>
                  <a:pt x="11353509" y="1915114"/>
                  <a:pt x="11360312" y="3830229"/>
                  <a:pt x="11367116" y="5745343"/>
                </a:cubicBezTo>
                <a:lnTo>
                  <a:pt x="0" y="5751804"/>
                </a:lnTo>
              </a:path>
            </a:pathLst>
          </a:custGeom>
          <a:ln w="82550">
            <a:solidFill>
              <a:schemeClr val="tx1">
                <a:lumMod val="50000"/>
                <a:lumOff val="50000"/>
              </a:schemeClr>
            </a:solidFill>
            <a:miter lim="800000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en-US"/>
          </a:p>
        </p:txBody>
      </p:sp>
      <p:sp>
        <p:nvSpPr>
          <p:cNvPr id="18" name="5-Point Star 24">
            <a:extLst>
              <a:ext uri="{FF2B5EF4-FFF2-40B4-BE49-F238E27FC236}">
                <a16:creationId xmlns:a16="http://schemas.microsoft.com/office/drawing/2014/main" id="{4555B12C-E2CF-448D-918F-96D0958DC6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1420000">
            <a:off x="3166038" y="5111356"/>
            <a:ext cx="386540" cy="515386"/>
          </a:xfrm>
          <a:prstGeom prst="star5">
            <a:avLst>
              <a:gd name="adj" fmla="val 26693"/>
              <a:gd name="hf" fmla="val 105146"/>
              <a:gd name="vf" fmla="val 110557"/>
            </a:avLst>
          </a:prstGeom>
          <a:solidFill>
            <a:schemeClr val="tx1">
              <a:alpha val="4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9EB9FA3F-CAB0-4533-9364-224CEC6FF8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9141714" cy="6858000"/>
          </a:xfrm>
          <a:prstGeom prst="rect">
            <a:avLst/>
          </a:prstGeom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8660" y="4519749"/>
            <a:ext cx="8104342" cy="1270279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/>
              <a:t>Category Distribution of Top 20</a:t>
            </a:r>
          </a:p>
        </p:txBody>
      </p:sp>
      <p:sp>
        <p:nvSpPr>
          <p:cNvPr id="22" name="5-Point Star 31">
            <a:extLst>
              <a:ext uri="{FF2B5EF4-FFF2-40B4-BE49-F238E27FC236}">
                <a16:creationId xmlns:a16="http://schemas.microsoft.com/office/drawing/2014/main" id="{42B0C1BF-5CB1-40DA-9A22-5452B54691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27556" y="6388943"/>
            <a:ext cx="279786" cy="373049"/>
          </a:xfrm>
          <a:prstGeom prst="star5">
            <a:avLst>
              <a:gd name="adj" fmla="val 26693"/>
              <a:gd name="hf" fmla="val 105146"/>
              <a:gd name="vf" fmla="val 110557"/>
            </a:avLst>
          </a:prstGeom>
          <a:solidFill>
            <a:schemeClr val="tx1">
              <a:lumMod val="65000"/>
              <a:lumOff val="35000"/>
              <a:alpha val="4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3" name="Picture 2" descr="visual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7058" y="691546"/>
            <a:ext cx="7849884" cy="4210913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duotone>
              <a:schemeClr val="bg1">
                <a:shade val="48000"/>
                <a:satMod val="110000"/>
                <a:lumMod val="40000"/>
              </a:schemeClr>
              <a:schemeClr val="bg1">
                <a:tint val="90000"/>
                <a:lumMod val="106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BB28D430-56EA-45B9-8632-927BEBF029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 useBgFill="1">
        <p:nvSpPr>
          <p:cNvPr id="10" name="Freeform: Shape 9">
            <a:extLst>
              <a:ext uri="{FF2B5EF4-FFF2-40B4-BE49-F238E27FC236}">
                <a16:creationId xmlns:a16="http://schemas.microsoft.com/office/drawing/2014/main" id="{A601F395-3079-4179-84BA-6654D9F825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2599" y="643467"/>
            <a:ext cx="8178800" cy="5571066"/>
          </a:xfrm>
          <a:custGeom>
            <a:avLst/>
            <a:gdLst>
              <a:gd name="connsiteX0" fmla="*/ 0 w 8130198"/>
              <a:gd name="connsiteY0" fmla="*/ 0 h 6857999"/>
              <a:gd name="connsiteX1" fmla="*/ 7241014 w 8130198"/>
              <a:gd name="connsiteY1" fmla="*/ 0 h 6857999"/>
              <a:gd name="connsiteX2" fmla="*/ 8130198 w 8130198"/>
              <a:gd name="connsiteY2" fmla="*/ 0 h 6857999"/>
              <a:gd name="connsiteX3" fmla="*/ 8130198 w 8130198"/>
              <a:gd name="connsiteY3" fmla="*/ 6857999 h 6857999"/>
              <a:gd name="connsiteX4" fmla="*/ 0 w 8130198"/>
              <a:gd name="connsiteY4" fmla="*/ 6857999 h 6857999"/>
              <a:gd name="connsiteX5" fmla="*/ 0 w 8130198"/>
              <a:gd name="connsiteY5" fmla="*/ 6375361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8130198" h="6857999">
                <a:moveTo>
                  <a:pt x="0" y="0"/>
                </a:moveTo>
                <a:lnTo>
                  <a:pt x="7241014" y="0"/>
                </a:lnTo>
                <a:lnTo>
                  <a:pt x="8130198" y="0"/>
                </a:lnTo>
                <a:lnTo>
                  <a:pt x="8130198" y="6857999"/>
                </a:lnTo>
                <a:lnTo>
                  <a:pt x="0" y="6857999"/>
                </a:lnTo>
                <a:lnTo>
                  <a:pt x="0" y="6375361"/>
                </a:lnTo>
                <a:close/>
              </a:path>
            </a:pathLst>
          </a:custGeom>
          <a:ln w="50800" cap="sq">
            <a:noFill/>
            <a:miter lim="800000"/>
          </a:ln>
          <a:effectLst>
            <a:outerShdw blurRad="101600" dist="152400" dir="4380000" algn="t" rotWithShape="0">
              <a:prstClr val="black">
                <a:alpha val="43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5199" y="1061660"/>
            <a:ext cx="7213600" cy="1043108"/>
          </a:xfrm>
        </p:spPr>
        <p:txBody>
          <a:bodyPr>
            <a:normAutofit/>
          </a:bodyPr>
          <a:lstStyle/>
          <a:p>
            <a:pPr algn="ctr"/>
            <a:r>
              <a:rPr lang="en-US" sz="4200"/>
              <a:t>Conclusion &amp; Call to Action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65199" y="2226681"/>
            <a:ext cx="7213600" cy="3586290"/>
          </a:xfrm>
        </p:spPr>
        <p:txBody>
          <a:bodyPr>
            <a:normAutofit/>
          </a:bodyPr>
          <a:lstStyle/>
          <a:p>
            <a:r>
              <a:rPr lang="en-US" sz="1600">
                <a:solidFill>
                  <a:schemeClr val="tx1">
                    <a:lumMod val="85000"/>
                    <a:lumOff val="15000"/>
                  </a:schemeClr>
                </a:solidFill>
              </a:rPr>
              <a:t>Recommend greenlighting a serialized drama with action elements, leveraging global and regional insights with a hybrid release strategy.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ain Event">
  <a:themeElements>
    <a:clrScheme name="Main Event">
      <a:dk1>
        <a:sysClr val="windowText" lastClr="000000"/>
      </a:dk1>
      <a:lt1>
        <a:sysClr val="window" lastClr="FFFFFF"/>
      </a:lt1>
      <a:dk2>
        <a:srgbClr val="424242"/>
      </a:dk2>
      <a:lt2>
        <a:srgbClr val="C8C8C8"/>
      </a:lt2>
      <a:accent1>
        <a:srgbClr val="B80E0F"/>
      </a:accent1>
      <a:accent2>
        <a:srgbClr val="A6987D"/>
      </a:accent2>
      <a:accent3>
        <a:srgbClr val="7F9A71"/>
      </a:accent3>
      <a:accent4>
        <a:srgbClr val="64969F"/>
      </a:accent4>
      <a:accent5>
        <a:srgbClr val="9B75B2"/>
      </a:accent5>
      <a:accent6>
        <a:srgbClr val="80737A"/>
      </a:accent6>
      <a:hlink>
        <a:srgbClr val="F21213"/>
      </a:hlink>
      <a:folHlink>
        <a:srgbClr val="B6A394"/>
      </a:folHlink>
    </a:clrScheme>
    <a:fontScheme name="Main Event">
      <a:majorFont>
        <a:latin typeface="Impact" panose="020B080603090205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Impact" panose="020B080603090205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Main Event">
      <a:fillStyleLst>
        <a:solidFill>
          <a:schemeClr val="phClr"/>
        </a:solidFill>
        <a:solidFill>
          <a:schemeClr val="phClr">
            <a:tint val="69000"/>
            <a:satMod val="105000"/>
            <a:lumMod val="110000"/>
          </a:schemeClr>
        </a:solidFill>
        <a:blipFill>
          <a:blip xmlns:r="http://schemas.openxmlformats.org/officeDocument/2006/relationships" r:embed="rId1">
            <a:duotone>
              <a:schemeClr val="phClr">
                <a:shade val="88000"/>
                <a:lumMod val="88000"/>
              </a:schemeClr>
              <a:schemeClr val="phClr"/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>
              <a:shade val="60000"/>
            </a:schemeClr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25400" dist="127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88000"/>
              </a:schemeClr>
            </a:gs>
          </a:gsLst>
          <a:lin ang="5400000" scaled="0"/>
        </a:gradFill>
        <a:blipFill>
          <a:blip xmlns:r="http://schemas.openxmlformats.org/officeDocument/2006/relationships" r:embed="rId2">
            <a:duotone>
              <a:schemeClr val="phClr">
                <a:shade val="48000"/>
                <a:satMod val="110000"/>
                <a:lumMod val="40000"/>
              </a:schemeClr>
              <a:schemeClr val="phClr">
                <a:tint val="90000"/>
                <a:lumMod val="106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ain Event" id="{AC372BB4-D83D-411E-B849-B641926BA760}" vid="{F1EFBDE3-1A95-4E3D-81AD-1F53D65BEA0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Main Event</Template>
  <TotalTime>8</TotalTime>
  <Words>182</Words>
  <Application>Microsoft Macintosh PowerPoint</Application>
  <PresentationFormat>On-screen Show (4:3)</PresentationFormat>
  <Paragraphs>24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Impact</vt:lpstr>
      <vt:lpstr>Main Event</vt:lpstr>
      <vt:lpstr>Netflix Viewership</vt:lpstr>
      <vt:lpstr>Define the Story</vt:lpstr>
      <vt:lpstr>Audience, Purpose &amp; Medium</vt:lpstr>
      <vt:lpstr>Design Choices</vt:lpstr>
      <vt:lpstr>Ethical Considerations</vt:lpstr>
      <vt:lpstr>Top 10 Most Viewed Global Shows</vt:lpstr>
      <vt:lpstr>Top 10 Countries by Hours Viewed</vt:lpstr>
      <vt:lpstr>Global Weekly Hours by Category</vt:lpstr>
      <vt:lpstr>Global vs. US Top 10 Shows</vt:lpstr>
      <vt:lpstr>Squid Game Weekly Trend</vt:lpstr>
      <vt:lpstr>Category Distribution of Top 20</vt:lpstr>
      <vt:lpstr>Conclusion &amp; Call to Action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Taylor Duncan</cp:lastModifiedBy>
  <cp:revision>2</cp:revision>
  <dcterms:created xsi:type="dcterms:W3CDTF">2013-01-27T09:14:16Z</dcterms:created>
  <dcterms:modified xsi:type="dcterms:W3CDTF">2025-06-15T01:41:02Z</dcterms:modified>
  <cp:category/>
</cp:coreProperties>
</file>