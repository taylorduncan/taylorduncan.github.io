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8" r:id="rId6"/>
    <p:sldId id="269" r:id="rId7"/>
    <p:sldId id="272" r:id="rId8"/>
    <p:sldId id="273" r:id="rId9"/>
    <p:sldId id="274" r:id="rId10"/>
    <p:sldId id="264" r:id="rId11"/>
    <p:sldId id="270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38BA44-2CAF-52C9-FBC0-590033F65381}" v="368" dt="2026-02-13T00:29:13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hyperlink" Target="https://github.com/taylorduncan/dsc680.gi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2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2DD90-408B-FEDF-6031-CED740D82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54" y="661359"/>
            <a:ext cx="6776652" cy="2106301"/>
          </a:xfrm>
        </p:spPr>
        <p:txBody>
          <a:bodyPr anchor="ctr">
            <a:noAutofit/>
          </a:bodyPr>
          <a:lstStyle/>
          <a:p>
            <a:r>
              <a:rPr lang="en-US" sz="3200" dirty="0">
                <a:ea typeface="+mj-lt"/>
                <a:cs typeface="+mj-lt"/>
              </a:rPr>
              <a:t>Analyzing E-Commerce Product Trends Using Shopify and Social Commerce Data</a:t>
            </a:r>
            <a:br>
              <a:rPr lang="en-US" sz="3200" dirty="0">
                <a:latin typeface="Aptos"/>
              </a:rPr>
            </a:br>
            <a:r>
              <a:rPr lang="en-US" sz="3200" dirty="0">
                <a:latin typeface="Aptos"/>
              </a:rPr>
              <a:t> </a:t>
            </a:r>
            <a:r>
              <a:rPr lang="en-US" sz="1600" dirty="0">
                <a:latin typeface="Aptos"/>
              </a:rPr>
              <a:t>         By: Taylor Duncan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121F-83A7-37A7-CDF0-752FAA630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4415049"/>
            <a:ext cx="5334197" cy="18250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File: </a:t>
            </a:r>
            <a:r>
              <a:rPr lang="en-US" sz="1600" dirty="0">
                <a:ea typeface="+mn-lt"/>
                <a:cs typeface="+mn-lt"/>
              </a:rPr>
              <a:t>shopify_trending_products_2025.csv</a:t>
            </a:r>
          </a:p>
          <a:p>
            <a:pPr marL="0" indent="0">
              <a:buNone/>
            </a:pPr>
            <a:r>
              <a:rPr lang="en-US" sz="1600" dirty="0"/>
              <a:t>Code: </a:t>
            </a:r>
            <a:r>
              <a:rPr lang="en-US" sz="1600" dirty="0">
                <a:ea typeface="+mn-lt"/>
                <a:cs typeface="+mn-lt"/>
                <a:hlinkClick r:id="rId4"/>
              </a:rPr>
              <a:t>https://github.com/taylorduncan/dsc680.git</a:t>
            </a:r>
            <a:r>
              <a:rPr lang="en-US" sz="1600" dirty="0">
                <a:ea typeface="+mn-lt"/>
                <a:cs typeface="+mn-lt"/>
              </a:rPr>
              <a:t> </a:t>
            </a: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/>
          </a:p>
          <a:p>
            <a:endParaRPr lang="en-US" sz="1600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46956085-0255-5F82-8725-22B7EDFBB5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479" r="26982" b="-6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pic>
        <p:nvPicPr>
          <p:cNvPr id="4" name="Slide 1">
            <a:hlinkClick r:id="" action="ppaction://media"/>
            <a:extLst>
              <a:ext uri="{FF2B5EF4-FFF2-40B4-BE49-F238E27FC236}">
                <a16:creationId xmlns:a16="http://schemas.microsoft.com/office/drawing/2014/main" id="{68E96D06-EF42-BFE1-AD72-2DC4583149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59986" y="6130690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DA495-C94D-2884-8273-462A72AB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3200" dirty="0">
                <a:latin typeface="Aptos"/>
              </a:rPr>
              <a:t>Business Problem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7B317-F66D-6204-48EB-9FC57D34C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1962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1400" dirty="0"/>
          </a:p>
          <a:p>
            <a:endParaRPr lang="en-US" sz="1400"/>
          </a:p>
        </p:txBody>
      </p:sp>
      <p:pic>
        <p:nvPicPr>
          <p:cNvPr id="5" name="Picture 4" descr="Yellow paper folded as graph">
            <a:extLst>
              <a:ext uri="{FF2B5EF4-FFF2-40B4-BE49-F238E27FC236}">
                <a16:creationId xmlns:a16="http://schemas.microsoft.com/office/drawing/2014/main" id="{F44A2F35-28A9-B421-0A63-DAF1AB3756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11" r="23228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D30708-A7C0-3A78-5369-D91C06C1C0D3}"/>
              </a:ext>
            </a:extLst>
          </p:cNvPr>
          <p:cNvSpPr txBox="1"/>
          <p:nvPr/>
        </p:nvSpPr>
        <p:spPr>
          <a:xfrm>
            <a:off x="995680" y="2092959"/>
            <a:ext cx="564896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2B0757-FC0C-207D-3C59-B114FF335736}"/>
              </a:ext>
            </a:extLst>
          </p:cNvPr>
          <p:cNvSpPr txBox="1"/>
          <p:nvPr/>
        </p:nvSpPr>
        <p:spPr>
          <a:xfrm>
            <a:off x="375920" y="1965960"/>
            <a:ext cx="626872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Open Sans"/>
              <a:ea typeface="Segoe UI"/>
              <a:cs typeface="Segoe UI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Highly saturated and competitive e-commerce market </a:t>
            </a:r>
            <a:endParaRPr lang="en-US" sz="2400" dirty="0"/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Open Sans"/>
              <a:ea typeface="Segoe UI"/>
              <a:cs typeface="Segoe UI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Product decisions often based on intuition or viral trends </a:t>
            </a:r>
            <a:endParaRPr lang="en-US" sz="2400" dirty="0"/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Open Sans"/>
              <a:ea typeface="Segoe UI"/>
              <a:cs typeface="Segoe UI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Poor selection increases inventory and revenue risk </a:t>
            </a:r>
            <a:endParaRPr lang="en-US" sz="2400"/>
          </a:p>
          <a:p>
            <a:pPr marL="342900" indent="-342900"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Open Sans"/>
              <a:ea typeface="Segoe UI"/>
              <a:cs typeface="Segoe UI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Need for data-driven product and pricing insights </a:t>
            </a:r>
            <a:endParaRPr lang="en-US" sz="2400"/>
          </a:p>
          <a:p>
            <a:pPr algn="ctr"/>
            <a:endParaRPr lang="en-US"/>
          </a:p>
        </p:txBody>
      </p:sp>
      <p:pic>
        <p:nvPicPr>
          <p:cNvPr id="4" name="Slide 2">
            <a:hlinkClick r:id="" action="ppaction://media"/>
            <a:extLst>
              <a:ext uri="{FF2B5EF4-FFF2-40B4-BE49-F238E27FC236}">
                <a16:creationId xmlns:a16="http://schemas.microsoft.com/office/drawing/2014/main" id="{40802EF2-EB74-E790-2857-4D78269F98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01358" y="6125013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7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E6634-B406-B834-9257-82328F73F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Dataset &amp; Methods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51CFE-A2E6-A22F-DDD6-E22FF79E7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100" dirty="0"/>
          </a:p>
          <a:p>
            <a:endParaRPr lang="en-US" sz="2000" dirty="0"/>
          </a:p>
          <a:p>
            <a:endParaRPr lang="en-US" sz="1100" dirty="0"/>
          </a:p>
          <a:p>
            <a:endParaRPr lang="en-US" sz="1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F74441-A447-B3EB-13F1-C5B4EDDDADFF}"/>
              </a:ext>
            </a:extLst>
          </p:cNvPr>
          <p:cNvSpPr txBox="1"/>
          <p:nvPr/>
        </p:nvSpPr>
        <p:spPr>
          <a:xfrm>
            <a:off x="1158240" y="2473960"/>
            <a:ext cx="9204960" cy="31598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ts val="1380"/>
              </a:lnSpc>
              <a:buFont typeface="Calibri"/>
              <a:buChar char="-"/>
            </a:pP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Dataset</a:t>
            </a:r>
            <a:r>
              <a:rPr lang="en-US" sz="240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 : </a:t>
            </a: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Shopify &amp; social commerce trend data</a:t>
            </a:r>
            <a:endParaRPr lang="en-US" sz="2400">
              <a:solidFill>
                <a:srgbClr val="000000"/>
              </a:solidFill>
              <a:latin typeface="Aptos" panose="020B0004020202020204"/>
              <a:ea typeface="Segoe UI"/>
              <a:cs typeface="Segoe UI"/>
            </a:endParaRPr>
          </a:p>
          <a:p>
            <a:pPr marL="171450" indent="-171450">
              <a:lnSpc>
                <a:spcPts val="1380"/>
              </a:lnSpc>
              <a:buFont typeface="Calibri"/>
              <a:buChar char="-"/>
            </a:pPr>
            <a:endParaRPr lang="en-US" sz="2400" dirty="0"/>
          </a:p>
          <a:p>
            <a:pPr marL="628650" lvl="1" indent="-171450" algn="l" rtl="0">
              <a:lnSpc>
                <a:spcPts val="1380"/>
              </a:lnSpc>
              <a:buFont typeface="Courier New"/>
              <a:buChar char="o"/>
            </a:pP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Categories, revenue, price range, trend score </a:t>
            </a:r>
          </a:p>
          <a:p>
            <a:pPr marL="171450" indent="-171450">
              <a:lnSpc>
                <a:spcPts val="1380"/>
              </a:lnSpc>
              <a:buFont typeface="Calibri"/>
              <a:buChar char="-"/>
            </a:pPr>
            <a:endParaRPr lang="en-US" sz="2400" dirty="0">
              <a:solidFill>
                <a:srgbClr val="000000"/>
              </a:solidFill>
              <a:latin typeface="Open Sans"/>
              <a:ea typeface="Segoe UI"/>
              <a:cs typeface="Segoe UI"/>
            </a:endParaRPr>
          </a:p>
          <a:p>
            <a:pPr marL="171450" indent="-171450">
              <a:lnSpc>
                <a:spcPts val="1380"/>
              </a:lnSpc>
              <a:buFont typeface="Calibri"/>
              <a:buChar char="-"/>
            </a:pPr>
            <a:endParaRPr lang="en-US" sz="2400" dirty="0">
              <a:solidFill>
                <a:srgbClr val="000000"/>
              </a:solidFill>
              <a:latin typeface="Open Sans"/>
              <a:ea typeface="Segoe UI"/>
              <a:cs typeface="Segoe UI"/>
            </a:endParaRPr>
          </a:p>
          <a:p>
            <a:pPr marL="171450" indent="-171450" algn="l">
              <a:lnSpc>
                <a:spcPts val="1380"/>
              </a:lnSpc>
              <a:buFont typeface="Calibri"/>
              <a:buChar char="-"/>
            </a:pP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Methods </a:t>
            </a:r>
            <a:endParaRPr lang="en-US" sz="2400" dirty="0">
              <a:latin typeface="Open Sans"/>
              <a:cs typeface="Segoe UI"/>
            </a:endParaRPr>
          </a:p>
          <a:p>
            <a:pPr marL="171450" indent="-171450">
              <a:lnSpc>
                <a:spcPts val="1380"/>
              </a:lnSpc>
              <a:buFont typeface="Calibri"/>
              <a:buChar char="-"/>
            </a:pPr>
            <a:endParaRPr lang="en-US" sz="2400" dirty="0">
              <a:solidFill>
                <a:srgbClr val="000000"/>
              </a:solidFill>
              <a:latin typeface="Open Sans"/>
              <a:ea typeface="Segoe UI"/>
              <a:cs typeface="Segoe UI"/>
            </a:endParaRPr>
          </a:p>
          <a:p>
            <a:pPr marL="628650" lvl="1" indent="-171450">
              <a:lnSpc>
                <a:spcPts val="1380"/>
              </a:lnSpc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Exploratory Data Analysis (EDA) </a:t>
            </a:r>
          </a:p>
          <a:p>
            <a:pPr marL="628650" lvl="1" indent="-171450">
              <a:lnSpc>
                <a:spcPts val="1380"/>
              </a:lnSpc>
              <a:buFont typeface="Courier New"/>
              <a:buChar char="o"/>
            </a:pPr>
            <a:endParaRPr lang="en-US" sz="2400" dirty="0">
              <a:solidFill>
                <a:srgbClr val="000000"/>
              </a:solidFill>
              <a:latin typeface="Open Sans"/>
              <a:ea typeface="Segoe UI"/>
              <a:cs typeface="Segoe UI"/>
            </a:endParaRPr>
          </a:p>
          <a:p>
            <a:pPr marL="628650" lvl="1" indent="-171450">
              <a:lnSpc>
                <a:spcPts val="1380"/>
              </a:lnSpc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Linear Regression </a:t>
            </a:r>
            <a:endParaRPr lang="en-US" sz="2400" dirty="0"/>
          </a:p>
          <a:p>
            <a:pPr marL="628650" lvl="1" indent="-171450">
              <a:lnSpc>
                <a:spcPts val="1380"/>
              </a:lnSpc>
              <a:buFont typeface="Courier New"/>
              <a:buChar char="o"/>
            </a:pPr>
            <a:endParaRPr lang="en-US" sz="2400" dirty="0">
              <a:solidFill>
                <a:srgbClr val="000000"/>
              </a:solidFill>
              <a:latin typeface="Open Sans"/>
              <a:ea typeface="Segoe UI"/>
              <a:cs typeface="Segoe UI"/>
            </a:endParaRPr>
          </a:p>
          <a:p>
            <a:pPr marL="628650" lvl="1" indent="-171450">
              <a:lnSpc>
                <a:spcPts val="1380"/>
              </a:lnSpc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Random Forest Regression </a:t>
            </a:r>
            <a:endParaRPr lang="en-US" sz="2400" dirty="0"/>
          </a:p>
          <a:p>
            <a:pPr marL="628650" lvl="1" indent="-171450">
              <a:lnSpc>
                <a:spcPts val="1380"/>
              </a:lnSpc>
              <a:buFont typeface="Courier New"/>
              <a:buChar char="o"/>
            </a:pPr>
            <a:endParaRPr lang="en-US" sz="2400" dirty="0">
              <a:solidFill>
                <a:srgbClr val="000000"/>
              </a:solidFill>
              <a:latin typeface="Open Sans"/>
              <a:ea typeface="Segoe UI"/>
              <a:cs typeface="Segoe UI"/>
            </a:endParaRPr>
          </a:p>
          <a:p>
            <a:pPr marL="628650" lvl="1" indent="-171450">
              <a:lnSpc>
                <a:spcPts val="1380"/>
              </a:lnSpc>
              <a:buFont typeface="Courier New"/>
              <a:buChar char="o"/>
            </a:pPr>
            <a:r>
              <a:rPr lang="en-US" sz="240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latin typeface="Open Sans"/>
                <a:ea typeface="Segoe UI"/>
                <a:cs typeface="Segoe UI"/>
              </a:rPr>
              <a:t>Model evaluation: RMSE, MAE, R² </a:t>
            </a:r>
            <a:endParaRPr lang="en-US" sz="2400" dirty="0"/>
          </a:p>
          <a:p>
            <a:pPr algn="ctr"/>
            <a:endParaRPr lang="en-US"/>
          </a:p>
          <a:p>
            <a:pPr algn="ctr"/>
            <a:endParaRPr lang="en-US" dirty="0"/>
          </a:p>
        </p:txBody>
      </p:sp>
      <p:pic>
        <p:nvPicPr>
          <p:cNvPr id="4" name="Slide 3">
            <a:hlinkClick r:id="" action="ppaction://media"/>
            <a:extLst>
              <a:ext uri="{FF2B5EF4-FFF2-40B4-BE49-F238E27FC236}">
                <a16:creationId xmlns:a16="http://schemas.microsoft.com/office/drawing/2014/main" id="{B9E5180C-1CC3-1E8B-C32D-85BC0537C7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81245" y="6130690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9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56BCB-C918-2909-DEBB-89FDF2F2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Aptos Display"/>
              </a:rPr>
              <a:t>Exploratory Analysis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1BEF1-138F-1AC9-DB61-30C4F506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200" dirty="0"/>
          </a:p>
          <a:p>
            <a:endParaRPr lang="en-US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63668-7943-2B33-6AF8-572FED0BD97E}"/>
              </a:ext>
            </a:extLst>
          </p:cNvPr>
          <p:cNvSpPr txBox="1"/>
          <p:nvPr/>
        </p:nvSpPr>
        <p:spPr>
          <a:xfrm>
            <a:off x="1188720" y="2641600"/>
            <a:ext cx="10637520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/>
              <a:t>Revenue distribution across categories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Trend score vs. revenue relationship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Pricing patterns among high performers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Identification of early performance signals</a:t>
            </a:r>
          </a:p>
          <a:p>
            <a:pPr algn="l"/>
            <a:endParaRPr lang="en-US" dirty="0"/>
          </a:p>
        </p:txBody>
      </p:sp>
      <p:pic>
        <p:nvPicPr>
          <p:cNvPr id="5" name="Slide 4">
            <a:hlinkClick r:id="" action="ppaction://media"/>
            <a:extLst>
              <a:ext uri="{FF2B5EF4-FFF2-40B4-BE49-F238E27FC236}">
                <a16:creationId xmlns:a16="http://schemas.microsoft.com/office/drawing/2014/main" id="{36D6759F-C6D5-2F20-CE9C-CAB4A3CBC0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3616" y="5980171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6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blue bars&#10;&#10;AI-generated content may be incorrect.">
            <a:extLst>
              <a:ext uri="{FF2B5EF4-FFF2-40B4-BE49-F238E27FC236}">
                <a16:creationId xmlns:a16="http://schemas.microsoft.com/office/drawing/2014/main" id="{94EE17A4-E025-9E3F-C3C0-D27E2B985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25594" y="574556"/>
            <a:ext cx="10542942" cy="5715555"/>
          </a:xfrm>
          <a:prstGeom prst="rect">
            <a:avLst/>
          </a:prstGeom>
        </p:spPr>
      </p:pic>
      <p:pic>
        <p:nvPicPr>
          <p:cNvPr id="2" name="Slide 5">
            <a:hlinkClick r:id="" action="ppaction://media"/>
            <a:extLst>
              <a:ext uri="{FF2B5EF4-FFF2-40B4-BE49-F238E27FC236}">
                <a16:creationId xmlns:a16="http://schemas.microsoft.com/office/drawing/2014/main" id="{090B8314-98E0-18E8-2F77-62712E646D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65912" y="5933134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9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blue dots&#10;&#10;AI-generated content may be incorrect.">
            <a:extLst>
              <a:ext uri="{FF2B5EF4-FFF2-40B4-BE49-F238E27FC236}">
                <a16:creationId xmlns:a16="http://schemas.microsoft.com/office/drawing/2014/main" id="{A0A7AB8B-1CBB-20F0-3BB5-0F0DDDD70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96457" y="253426"/>
            <a:ext cx="9810618" cy="6361464"/>
          </a:xfrm>
          <a:prstGeom prst="rect">
            <a:avLst/>
          </a:prstGeom>
        </p:spPr>
      </p:pic>
      <p:pic>
        <p:nvPicPr>
          <p:cNvPr id="2" name="Slide 6">
            <a:hlinkClick r:id="" action="ppaction://media"/>
            <a:extLst>
              <a:ext uri="{FF2B5EF4-FFF2-40B4-BE49-F238E27FC236}">
                <a16:creationId xmlns:a16="http://schemas.microsoft.com/office/drawing/2014/main" id="{F4C4F281-A38E-F54D-1AA3-71BCA324F8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62431" y="5886097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16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36FB9-C12C-D1A8-B20D-42E38AE76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hart with black lines and white text&#10;&#10;AI-generated content may be incorrect.">
            <a:extLst>
              <a:ext uri="{FF2B5EF4-FFF2-40B4-BE49-F238E27FC236}">
                <a16:creationId xmlns:a16="http://schemas.microsoft.com/office/drawing/2014/main" id="{7C3BE595-C06E-5EB3-93E7-E576BF793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70" y="405765"/>
            <a:ext cx="10828020" cy="6056630"/>
          </a:xfrm>
          <a:prstGeom prst="rect">
            <a:avLst/>
          </a:prstGeom>
        </p:spPr>
      </p:pic>
      <p:pic>
        <p:nvPicPr>
          <p:cNvPr id="3" name="Slide 7">
            <a:hlinkClick r:id="" action="ppaction://media"/>
            <a:extLst>
              <a:ext uri="{FF2B5EF4-FFF2-40B4-BE49-F238E27FC236}">
                <a16:creationId xmlns:a16="http://schemas.microsoft.com/office/drawing/2014/main" id="{E5AF98BB-E83F-CE74-9547-5183ECF7E0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00060" y="6130690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9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F142-13BC-83A2-3EC8-0ADA4E4B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DFAD0EC5-4CB0-54F5-8C98-FBBC470BC7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23515" y="847001"/>
            <a:ext cx="9537700" cy="5165725"/>
          </a:xfrm>
          <a:prstGeom prst="rect">
            <a:avLst/>
          </a:prstGeom>
        </p:spPr>
      </p:pic>
      <p:pic>
        <p:nvPicPr>
          <p:cNvPr id="2" name="Slide 8">
            <a:hlinkClick r:id="" action="ppaction://media"/>
            <a:extLst>
              <a:ext uri="{FF2B5EF4-FFF2-40B4-BE49-F238E27FC236}">
                <a16:creationId xmlns:a16="http://schemas.microsoft.com/office/drawing/2014/main" id="{ED5D1A2A-5798-4A6B-4D38-7F9A72E002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8356" y="6008394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0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6A011-A5CA-168A-74A8-1C4F48A6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graph with blue dots&#10;&#10;AI-generated content may be incorrect.">
            <a:extLst>
              <a:ext uri="{FF2B5EF4-FFF2-40B4-BE49-F238E27FC236}">
                <a16:creationId xmlns:a16="http://schemas.microsoft.com/office/drawing/2014/main" id="{0EA4D197-FF39-8754-1D56-28B1F8CD6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570490" y="229573"/>
            <a:ext cx="7052324" cy="6393498"/>
          </a:xfrm>
          <a:prstGeom prst="rect">
            <a:avLst/>
          </a:prstGeom>
        </p:spPr>
      </p:pic>
      <p:pic>
        <p:nvPicPr>
          <p:cNvPr id="2" name="Slide 9">
            <a:hlinkClick r:id="" action="ppaction://media"/>
            <a:extLst>
              <a:ext uri="{FF2B5EF4-FFF2-40B4-BE49-F238E27FC236}">
                <a16:creationId xmlns:a16="http://schemas.microsoft.com/office/drawing/2014/main" id="{BA9CCC73-53C1-5A47-E01F-F70048BB07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4801" y="5904912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3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178A4653-3EC3-E8FD-4502-14308F0247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439" r="17951"/>
          <a:stretch>
            <a:fillRect/>
          </a:stretch>
        </p:blipFill>
        <p:spPr>
          <a:xfrm>
            <a:off x="4883022" y="10"/>
            <a:ext cx="7308978" cy="6857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6857" cy="6858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370E2-E249-02F9-787C-EC66FA46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88"/>
            <a:ext cx="4992624" cy="1243584"/>
          </a:xfrm>
        </p:spPr>
        <p:txBody>
          <a:bodyPr anchor="ctr">
            <a:normAutofit/>
          </a:bodyPr>
          <a:lstStyle/>
          <a:p>
            <a:r>
              <a:rPr lang="en-US" sz="3200" dirty="0">
                <a:latin typeface="Aptos"/>
              </a:rPr>
              <a:t>Conclusions &amp; Recommendations</a:t>
            </a:r>
            <a:endParaRPr lang="en-US" sz="3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7486E-6EE7-CA34-41A7-748F5230B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2522949"/>
            <a:ext cx="5065776" cy="340236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400" dirty="0"/>
          </a:p>
          <a:p>
            <a:endParaRPr lang="en-US" dirty="0"/>
          </a:p>
          <a:p>
            <a:endParaRPr lang="en-US" sz="1400" dirty="0"/>
          </a:p>
          <a:p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0B772-54CD-6776-6684-7EEEA88859A8}"/>
              </a:ext>
            </a:extLst>
          </p:cNvPr>
          <p:cNvSpPr txBox="1"/>
          <p:nvPr/>
        </p:nvSpPr>
        <p:spPr>
          <a:xfrm>
            <a:off x="426720" y="2341880"/>
            <a:ext cx="604520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 rtl="0">
              <a:buFont typeface="Arial"/>
              <a:buChar char="•"/>
            </a:pPr>
            <a:r>
              <a:rPr lang="en-US" sz="2400" dirty="0"/>
              <a:t>Trend score + pricing drive revenue performance </a:t>
            </a:r>
            <a:endParaRPr lang="en-US"/>
          </a:p>
          <a:p>
            <a:pPr marL="342900" indent="-342900" algn="l" rtl="0">
              <a:buFont typeface="Arial"/>
              <a:buChar char="•"/>
            </a:pPr>
            <a:r>
              <a:rPr lang="en-US" sz="2400" dirty="0"/>
              <a:t>Random Forest outperforms linear regression </a:t>
            </a:r>
          </a:p>
          <a:p>
            <a:pPr marL="342900" indent="-342900" algn="l" rtl="0">
              <a:buFont typeface="Arial"/>
              <a:buChar char="•"/>
            </a:pPr>
            <a:r>
              <a:rPr lang="en-US" sz="2400" dirty="0"/>
              <a:t>Mid-priced, high-trend products are strongest candidates </a:t>
            </a:r>
          </a:p>
          <a:p>
            <a:pPr marL="342900" indent="-342900" algn="l" rtl="0">
              <a:buFont typeface="Arial"/>
              <a:buChar char="•"/>
            </a:pPr>
            <a:r>
              <a:rPr lang="en-US" sz="2400" dirty="0"/>
              <a:t>Use analytics to reduce product risk </a:t>
            </a:r>
          </a:p>
          <a:p>
            <a:pPr algn="ctr"/>
            <a:endParaRPr lang="en-US"/>
          </a:p>
        </p:txBody>
      </p:sp>
      <p:pic>
        <p:nvPicPr>
          <p:cNvPr id="4" name="Slide 10">
            <a:hlinkClick r:id="" action="ppaction://media"/>
            <a:extLst>
              <a:ext uri="{FF2B5EF4-FFF2-40B4-BE49-F238E27FC236}">
                <a16:creationId xmlns:a16="http://schemas.microsoft.com/office/drawing/2014/main" id="{DF505140-2272-9585-EE34-A06C6E7532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87171" y="5923727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73936-78C8-5F22-6FC0-93A0DD34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9F63873-B8DF-A24B-2541-50CF59E4B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9069D5-6CED-A788-0142-E9C45772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Aptos Display"/>
              </a:rPr>
              <a:t>Future Uses and Applications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7EC56-FCED-57B6-8C8A-409B43C4D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E4869-B45B-FB69-7ADA-4CBE6C65A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D131A-92BD-3CB7-5344-70E11173F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9AC46-6175-EF70-B384-D4D4BA6A5988}"/>
              </a:ext>
            </a:extLst>
          </p:cNvPr>
          <p:cNvSpPr txBox="1"/>
          <p:nvPr/>
        </p:nvSpPr>
        <p:spPr>
          <a:xfrm>
            <a:off x="1137920" y="2458720"/>
            <a:ext cx="10078720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/>
              <a:t>Incorporate seasonality and time-series data</a:t>
            </a:r>
          </a:p>
          <a:p>
            <a:pPr marL="457200" indent="-457200">
              <a:buFont typeface="Arial"/>
              <a:buChar char="•"/>
            </a:pPr>
            <a:endParaRPr lang="en-US" sz="2800" dirty="0"/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Add marketing spend and engagement metrics</a:t>
            </a:r>
          </a:p>
          <a:p>
            <a:pPr marL="457200" indent="-457200">
              <a:buFont typeface="Arial"/>
              <a:buChar char="•"/>
            </a:pPr>
            <a:endParaRPr lang="en-US" sz="2800" dirty="0"/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Automate monitoring pipelines</a:t>
            </a:r>
          </a:p>
          <a:p>
            <a:pPr marL="457200" indent="-457200">
              <a:buFont typeface="Arial"/>
              <a:buChar char="•"/>
            </a:pPr>
            <a:endParaRPr lang="en-US" sz="2800" dirty="0"/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Support inventory and product planning</a:t>
            </a:r>
          </a:p>
          <a:p>
            <a:pPr algn="l"/>
            <a:endParaRPr lang="en-US" dirty="0"/>
          </a:p>
        </p:txBody>
      </p:sp>
      <p:pic>
        <p:nvPicPr>
          <p:cNvPr id="4" name="Slide 11">
            <a:hlinkClick r:id="" action="ppaction://media"/>
            <a:extLst>
              <a:ext uri="{FF2B5EF4-FFF2-40B4-BE49-F238E27FC236}">
                <a16:creationId xmlns:a16="http://schemas.microsoft.com/office/drawing/2014/main" id="{53B812BB-B3AC-7431-E724-B75AEE68BF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15394" y="6130690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9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84A47-6C59-5984-FE5C-F30F565D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35766"/>
            <a:ext cx="5444382" cy="468849"/>
          </a:xfrm>
        </p:spPr>
        <p:txBody>
          <a:bodyPr anchor="t">
            <a:normAutofit fontScale="90000"/>
          </a:bodyPr>
          <a:lstStyle/>
          <a:p>
            <a:r>
              <a:rPr lang="en-US" sz="3200" dirty="0"/>
              <a:t>      Q/A</a:t>
            </a:r>
          </a:p>
        </p:txBody>
      </p:sp>
      <p:pic>
        <p:nvPicPr>
          <p:cNvPr id="5" name="Picture 4" descr="A robot illustration of a family">
            <a:extLst>
              <a:ext uri="{FF2B5EF4-FFF2-40B4-BE49-F238E27FC236}">
                <a16:creationId xmlns:a16="http://schemas.microsoft.com/office/drawing/2014/main" id="{FFA61FF6-298B-3CEA-24B9-71E066971A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001" r="43748" b="-2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39741-36B4-393E-04C8-94829BB0E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720" y="910477"/>
            <a:ext cx="6762435" cy="576736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050" b="1" dirty="0"/>
              <a:t>Q1. How reliable are the estimated revenue figures for real-world investment decisions?</a:t>
            </a:r>
          </a:p>
          <a:p>
            <a:r>
              <a:rPr lang="en-US" sz="1050" dirty="0"/>
              <a:t>A: They are suitable for relative comparison and trend analysis but not for precise financial forecasting.</a:t>
            </a:r>
          </a:p>
          <a:p>
            <a:r>
              <a:rPr lang="en-US" sz="1050" b="1" dirty="0"/>
              <a:t>Q2. Can trend score predict long-term product success or only short-term demand?</a:t>
            </a:r>
          </a:p>
          <a:p>
            <a:r>
              <a:rPr lang="en-US" sz="1050" dirty="0"/>
              <a:t>A: Trend score reflects short- to medium-term demand and should be combined with longitudinal data.</a:t>
            </a:r>
          </a:p>
          <a:p>
            <a:r>
              <a:rPr lang="en-US" sz="1050" b="1" dirty="0"/>
              <a:t>Q3. How often should this analysis be updated to remain actionable?</a:t>
            </a:r>
          </a:p>
          <a:p>
            <a:r>
              <a:rPr lang="en-US" sz="1050" dirty="0"/>
              <a:t>A: Monthly or quarterly updates are recommended.</a:t>
            </a:r>
          </a:p>
          <a:p>
            <a:r>
              <a:rPr lang="en-US" sz="1050" b="1" dirty="0"/>
              <a:t>Q4. What role does seasonality play in trend-driven products?</a:t>
            </a:r>
          </a:p>
          <a:p>
            <a:r>
              <a:rPr lang="en-US" sz="1050" dirty="0"/>
              <a:t>A: Seasonality likely has significant impact and should be modeled using time-series methods.</a:t>
            </a:r>
          </a:p>
          <a:p>
            <a:r>
              <a:rPr lang="en-US" sz="1050" b="1" dirty="0"/>
              <a:t>Q5. How transferable are these findings across geographic markets?</a:t>
            </a:r>
          </a:p>
          <a:p>
            <a:r>
              <a:rPr lang="en-US" sz="1050" dirty="0"/>
              <a:t>A: Patterns may vary by region and should be validated locally.</a:t>
            </a:r>
          </a:p>
          <a:p>
            <a:r>
              <a:rPr lang="en-US" sz="1050" b="1" dirty="0"/>
              <a:t>Q6. Can this framework be automated for continuous monitoring?</a:t>
            </a:r>
          </a:p>
          <a:p>
            <a:r>
              <a:rPr lang="en-US" sz="1050" dirty="0"/>
              <a:t>A: Yes, through scheduled data ingestion and retraining pipelines.</a:t>
            </a:r>
          </a:p>
          <a:p>
            <a:r>
              <a:rPr lang="en-US" sz="1050" b="1" dirty="0"/>
              <a:t>Q7. How would marketing spend alter these results?</a:t>
            </a:r>
          </a:p>
          <a:p>
            <a:r>
              <a:rPr lang="en-US" sz="1050" dirty="0"/>
              <a:t>A: Marketing spend would likely amplify revenue and should be included as a predictor.</a:t>
            </a:r>
          </a:p>
          <a:p>
            <a:r>
              <a:rPr lang="en-US" sz="1050" b="1" dirty="0"/>
              <a:t>Q8. What risks exist in over-optimizing trend-based products?</a:t>
            </a:r>
          </a:p>
          <a:p>
            <a:r>
              <a:rPr lang="en-US" sz="1050" dirty="0"/>
              <a:t>A: Over-reliance on trends may lead to short-lived success and inventory risk.</a:t>
            </a:r>
          </a:p>
          <a:p>
            <a:r>
              <a:rPr lang="en-US" sz="1050" b="1" dirty="0"/>
              <a:t>Q9. How can small businesses implement this analysis with limited resources?</a:t>
            </a:r>
          </a:p>
          <a:p>
            <a:r>
              <a:rPr lang="en-US" sz="1050" dirty="0"/>
              <a:t>A: Yes, simplified versions can be built using open-source tools.</a:t>
            </a:r>
          </a:p>
          <a:p>
            <a:r>
              <a:rPr lang="en-US" sz="1050" b="1" dirty="0"/>
              <a:t>Q10. How does this approach compare to traditional market research methods?</a:t>
            </a:r>
          </a:p>
          <a:p>
            <a:r>
              <a:rPr lang="en-US" sz="1050" dirty="0"/>
              <a:t>A: This approach is faster, scalable, and continuously updatable compared to survey-based methods.</a:t>
            </a:r>
          </a:p>
          <a:p>
            <a:endParaRPr lang="en-US" sz="1000" dirty="0"/>
          </a:p>
          <a:p>
            <a:endParaRPr lang="en-US" sz="1000"/>
          </a:p>
        </p:txBody>
      </p:sp>
      <p:pic>
        <p:nvPicPr>
          <p:cNvPr id="4" name="Slide 12">
            <a:hlinkClick r:id="" action="ppaction://media"/>
            <a:extLst>
              <a:ext uri="{FF2B5EF4-FFF2-40B4-BE49-F238E27FC236}">
                <a16:creationId xmlns:a16="http://schemas.microsoft.com/office/drawing/2014/main" id="{792584F9-23D8-4207-7F85-D86FE7D854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59986" y="6130690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Analyzing E-Commerce Product Trends Using Shopify and Social Commerce Data           By: Taylor Duncan </vt:lpstr>
      <vt:lpstr>Business Problem</vt:lpstr>
      <vt:lpstr>Dataset &amp; Methods</vt:lpstr>
      <vt:lpstr>Exploratory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 &amp; Recommendations</vt:lpstr>
      <vt:lpstr>Future Uses and Applications</vt:lpstr>
      <vt:lpstr>      Q/A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426</cp:revision>
  <dcterms:created xsi:type="dcterms:W3CDTF">2026-01-17T22:54:26Z</dcterms:created>
  <dcterms:modified xsi:type="dcterms:W3CDTF">2026-02-13T00:31:10Z</dcterms:modified>
</cp:coreProperties>
</file>