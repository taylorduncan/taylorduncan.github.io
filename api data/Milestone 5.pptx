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8"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90"/>
    <p:restoredTop sz="94607"/>
  </p:normalViewPr>
  <p:slideViewPr>
    <p:cSldViewPr snapToGrid="0" snapToObjects="1">
      <p:cViewPr varScale="1">
        <p:scale>
          <a:sx n="106" d="100"/>
          <a:sy n="106" d="100"/>
        </p:scale>
        <p:origin x="1296"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3BB1A9-1F39-456A-BA45-D227F9924570}"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73FF6773-667E-476E-B88D-4F99531E18F2}">
      <dgm:prSet/>
      <dgm:spPr/>
      <dgm:t>
        <a:bodyPr/>
        <a:lstStyle/>
        <a:p>
          <a:r>
            <a:rPr lang="en-US"/>
            <a:t>Overview of the dataset: 2008-2018 county-level childcare cost data from the U.S. Department of Labor</a:t>
          </a:r>
        </a:p>
      </dgm:t>
    </dgm:pt>
    <dgm:pt modelId="{9118AF03-B51E-4983-AD07-35B273716290}" type="parTrans" cxnId="{9B9B3204-E616-4DCF-AE1B-A05AC123643D}">
      <dgm:prSet/>
      <dgm:spPr/>
      <dgm:t>
        <a:bodyPr/>
        <a:lstStyle/>
        <a:p>
          <a:endParaRPr lang="en-US"/>
        </a:p>
      </dgm:t>
    </dgm:pt>
    <dgm:pt modelId="{70283BDA-6C7F-4EEF-8605-717CC313EFF7}" type="sibTrans" cxnId="{9B9B3204-E616-4DCF-AE1B-A05AC123643D}">
      <dgm:prSet/>
      <dgm:spPr/>
      <dgm:t>
        <a:bodyPr/>
        <a:lstStyle/>
        <a:p>
          <a:endParaRPr lang="en-US"/>
        </a:p>
      </dgm:t>
    </dgm:pt>
    <dgm:pt modelId="{EE9354F3-FCD4-425E-BC87-1CE1CBF80148}">
      <dgm:prSet/>
      <dgm:spPr/>
      <dgm:t>
        <a:bodyPr/>
        <a:lstStyle/>
        <a:p>
          <a:r>
            <a:rPr lang="en-US"/>
            <a:t>Objectives: Identify trends, regional disparities, and socio-economic impacts of childcare costs</a:t>
          </a:r>
        </a:p>
      </dgm:t>
    </dgm:pt>
    <dgm:pt modelId="{A23D4BBE-AF07-4EA1-B43B-01F7279112EB}" type="parTrans" cxnId="{659B4368-486B-4FD5-9406-52AC41CE6AA1}">
      <dgm:prSet/>
      <dgm:spPr/>
      <dgm:t>
        <a:bodyPr/>
        <a:lstStyle/>
        <a:p>
          <a:endParaRPr lang="en-US"/>
        </a:p>
      </dgm:t>
    </dgm:pt>
    <dgm:pt modelId="{4A08D484-D8C9-454A-A8D7-294CDC30C97B}" type="sibTrans" cxnId="{659B4368-486B-4FD5-9406-52AC41CE6AA1}">
      <dgm:prSet/>
      <dgm:spPr/>
      <dgm:t>
        <a:bodyPr/>
        <a:lstStyle/>
        <a:p>
          <a:endParaRPr lang="en-US"/>
        </a:p>
      </dgm:t>
    </dgm:pt>
    <dgm:pt modelId="{86BFFC34-59AD-B843-A442-C01E9AC664C6}" type="pres">
      <dgm:prSet presAssocID="{223BB1A9-1F39-456A-BA45-D227F9924570}" presName="vert0" presStyleCnt="0">
        <dgm:presLayoutVars>
          <dgm:dir/>
          <dgm:animOne val="branch"/>
          <dgm:animLvl val="lvl"/>
        </dgm:presLayoutVars>
      </dgm:prSet>
      <dgm:spPr/>
    </dgm:pt>
    <dgm:pt modelId="{1965ED6B-8D23-F646-BB36-E5A74446531A}" type="pres">
      <dgm:prSet presAssocID="{73FF6773-667E-476E-B88D-4F99531E18F2}" presName="thickLine" presStyleLbl="alignNode1" presStyleIdx="0" presStyleCnt="2"/>
      <dgm:spPr/>
    </dgm:pt>
    <dgm:pt modelId="{07B8EADE-B112-EF49-9533-6D3E56616955}" type="pres">
      <dgm:prSet presAssocID="{73FF6773-667E-476E-B88D-4F99531E18F2}" presName="horz1" presStyleCnt="0"/>
      <dgm:spPr/>
    </dgm:pt>
    <dgm:pt modelId="{ED3D580C-600E-7D44-825F-337E4F3F1E14}" type="pres">
      <dgm:prSet presAssocID="{73FF6773-667E-476E-B88D-4F99531E18F2}" presName="tx1" presStyleLbl="revTx" presStyleIdx="0" presStyleCnt="2"/>
      <dgm:spPr/>
    </dgm:pt>
    <dgm:pt modelId="{59B1B491-B0B6-4248-9862-3061E6779088}" type="pres">
      <dgm:prSet presAssocID="{73FF6773-667E-476E-B88D-4F99531E18F2}" presName="vert1" presStyleCnt="0"/>
      <dgm:spPr/>
    </dgm:pt>
    <dgm:pt modelId="{9BD521D0-F0BF-834C-B581-151526080F30}" type="pres">
      <dgm:prSet presAssocID="{EE9354F3-FCD4-425E-BC87-1CE1CBF80148}" presName="thickLine" presStyleLbl="alignNode1" presStyleIdx="1" presStyleCnt="2"/>
      <dgm:spPr/>
    </dgm:pt>
    <dgm:pt modelId="{FD30AFDE-9F31-CC46-B755-CB74EB862BE3}" type="pres">
      <dgm:prSet presAssocID="{EE9354F3-FCD4-425E-BC87-1CE1CBF80148}" presName="horz1" presStyleCnt="0"/>
      <dgm:spPr/>
    </dgm:pt>
    <dgm:pt modelId="{8DC106CC-BDB1-3441-9AAA-FA2C192C64A0}" type="pres">
      <dgm:prSet presAssocID="{EE9354F3-FCD4-425E-BC87-1CE1CBF80148}" presName="tx1" presStyleLbl="revTx" presStyleIdx="1" presStyleCnt="2"/>
      <dgm:spPr/>
    </dgm:pt>
    <dgm:pt modelId="{E3C78BCD-AFDA-134D-99AD-3AB8A53A50EF}" type="pres">
      <dgm:prSet presAssocID="{EE9354F3-FCD4-425E-BC87-1CE1CBF80148}" presName="vert1" presStyleCnt="0"/>
      <dgm:spPr/>
    </dgm:pt>
  </dgm:ptLst>
  <dgm:cxnLst>
    <dgm:cxn modelId="{9B9B3204-E616-4DCF-AE1B-A05AC123643D}" srcId="{223BB1A9-1F39-456A-BA45-D227F9924570}" destId="{73FF6773-667E-476E-B88D-4F99531E18F2}" srcOrd="0" destOrd="0" parTransId="{9118AF03-B51E-4983-AD07-35B273716290}" sibTransId="{70283BDA-6C7F-4EEF-8605-717CC313EFF7}"/>
    <dgm:cxn modelId="{C2A37B51-07B9-6143-84C4-64A9A935B1B1}" type="presOf" srcId="{223BB1A9-1F39-456A-BA45-D227F9924570}" destId="{86BFFC34-59AD-B843-A442-C01E9AC664C6}" srcOrd="0" destOrd="0" presId="urn:microsoft.com/office/officeart/2008/layout/LinedList"/>
    <dgm:cxn modelId="{659B4368-486B-4FD5-9406-52AC41CE6AA1}" srcId="{223BB1A9-1F39-456A-BA45-D227F9924570}" destId="{EE9354F3-FCD4-425E-BC87-1CE1CBF80148}" srcOrd="1" destOrd="0" parTransId="{A23D4BBE-AF07-4EA1-B43B-01F7279112EB}" sibTransId="{4A08D484-D8C9-454A-A8D7-294CDC30C97B}"/>
    <dgm:cxn modelId="{D4613A6E-0A55-304A-B9B9-08E527A1ED97}" type="presOf" srcId="{73FF6773-667E-476E-B88D-4F99531E18F2}" destId="{ED3D580C-600E-7D44-825F-337E4F3F1E14}" srcOrd="0" destOrd="0" presId="urn:microsoft.com/office/officeart/2008/layout/LinedList"/>
    <dgm:cxn modelId="{99648990-0E39-9C4E-ACFB-95C989132314}" type="presOf" srcId="{EE9354F3-FCD4-425E-BC87-1CE1CBF80148}" destId="{8DC106CC-BDB1-3441-9AAA-FA2C192C64A0}" srcOrd="0" destOrd="0" presId="urn:microsoft.com/office/officeart/2008/layout/LinedList"/>
    <dgm:cxn modelId="{DA1DC25C-1298-914F-8727-3C2A953F996A}" type="presParOf" srcId="{86BFFC34-59AD-B843-A442-C01E9AC664C6}" destId="{1965ED6B-8D23-F646-BB36-E5A74446531A}" srcOrd="0" destOrd="0" presId="urn:microsoft.com/office/officeart/2008/layout/LinedList"/>
    <dgm:cxn modelId="{58C322AF-9404-DE41-BA1A-7A55CEEA0B30}" type="presParOf" srcId="{86BFFC34-59AD-B843-A442-C01E9AC664C6}" destId="{07B8EADE-B112-EF49-9533-6D3E56616955}" srcOrd="1" destOrd="0" presId="urn:microsoft.com/office/officeart/2008/layout/LinedList"/>
    <dgm:cxn modelId="{AD75B090-4366-6D4F-8FE1-8EEB181D98BC}" type="presParOf" srcId="{07B8EADE-B112-EF49-9533-6D3E56616955}" destId="{ED3D580C-600E-7D44-825F-337E4F3F1E14}" srcOrd="0" destOrd="0" presId="urn:microsoft.com/office/officeart/2008/layout/LinedList"/>
    <dgm:cxn modelId="{0525E074-C7B9-9C41-AD50-BAE4920F4F5E}" type="presParOf" srcId="{07B8EADE-B112-EF49-9533-6D3E56616955}" destId="{59B1B491-B0B6-4248-9862-3061E6779088}" srcOrd="1" destOrd="0" presId="urn:microsoft.com/office/officeart/2008/layout/LinedList"/>
    <dgm:cxn modelId="{113C5732-1718-E045-8AE4-B714B7DCB9EF}" type="presParOf" srcId="{86BFFC34-59AD-B843-A442-C01E9AC664C6}" destId="{9BD521D0-F0BF-834C-B581-151526080F30}" srcOrd="2" destOrd="0" presId="urn:microsoft.com/office/officeart/2008/layout/LinedList"/>
    <dgm:cxn modelId="{650856E4-6347-D046-90FE-50B707D3B516}" type="presParOf" srcId="{86BFFC34-59AD-B843-A442-C01E9AC664C6}" destId="{FD30AFDE-9F31-CC46-B755-CB74EB862BE3}" srcOrd="3" destOrd="0" presId="urn:microsoft.com/office/officeart/2008/layout/LinedList"/>
    <dgm:cxn modelId="{843B2DDD-3969-284F-AE69-C9E7500126A6}" type="presParOf" srcId="{FD30AFDE-9F31-CC46-B755-CB74EB862BE3}" destId="{8DC106CC-BDB1-3441-9AAA-FA2C192C64A0}" srcOrd="0" destOrd="0" presId="urn:microsoft.com/office/officeart/2008/layout/LinedList"/>
    <dgm:cxn modelId="{A851F43C-A97B-004C-8DE3-85C19BDB40E4}" type="presParOf" srcId="{FD30AFDE-9F31-CC46-B755-CB74EB862BE3}" destId="{E3C78BCD-AFDA-134D-99AD-3AB8A53A50E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0175C25-2098-4CF8-932A-66A35389869B}"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0394A8ED-9DB8-46C9-AF98-9B59005040F2}">
      <dgm:prSet/>
      <dgm:spPr/>
      <dgm:t>
        <a:bodyPr/>
        <a:lstStyle/>
        <a:p>
          <a:r>
            <a:rPr lang="en-US"/>
            <a:t>Data source: National Database of Child Care Prices</a:t>
          </a:r>
        </a:p>
      </dgm:t>
    </dgm:pt>
    <dgm:pt modelId="{F619C686-301E-4BE4-B1C1-A027ECDB847D}" type="parTrans" cxnId="{71215DDE-7122-4EA2-9498-C41C579F9B9C}">
      <dgm:prSet/>
      <dgm:spPr/>
      <dgm:t>
        <a:bodyPr/>
        <a:lstStyle/>
        <a:p>
          <a:endParaRPr lang="en-US"/>
        </a:p>
      </dgm:t>
    </dgm:pt>
    <dgm:pt modelId="{75417828-D827-49AB-8E11-229D16CB0261}" type="sibTrans" cxnId="{71215DDE-7122-4EA2-9498-C41C579F9B9C}">
      <dgm:prSet/>
      <dgm:spPr/>
      <dgm:t>
        <a:bodyPr/>
        <a:lstStyle/>
        <a:p>
          <a:endParaRPr lang="en-US"/>
        </a:p>
      </dgm:t>
    </dgm:pt>
    <dgm:pt modelId="{71864DD2-9DF4-496B-ACCE-4C923008B377}">
      <dgm:prSet/>
      <dgm:spPr/>
      <dgm:t>
        <a:bodyPr/>
        <a:lstStyle/>
        <a:p>
          <a:r>
            <a:rPr lang="en-US"/>
            <a:t>Key variables: UNR_16, FUNR_16, MUNR_16 (center-based and family-based costs)</a:t>
          </a:r>
        </a:p>
      </dgm:t>
    </dgm:pt>
    <dgm:pt modelId="{7FBC68F5-F388-4932-AF34-AE9ABFE76C94}" type="parTrans" cxnId="{6E01A013-3B22-425C-A4C7-FEDCF61848FA}">
      <dgm:prSet/>
      <dgm:spPr/>
      <dgm:t>
        <a:bodyPr/>
        <a:lstStyle/>
        <a:p>
          <a:endParaRPr lang="en-US"/>
        </a:p>
      </dgm:t>
    </dgm:pt>
    <dgm:pt modelId="{6A61F05F-2AA5-47D4-BC3F-9BCD3F89B829}" type="sibTrans" cxnId="{6E01A013-3B22-425C-A4C7-FEDCF61848FA}">
      <dgm:prSet/>
      <dgm:spPr/>
      <dgm:t>
        <a:bodyPr/>
        <a:lstStyle/>
        <a:p>
          <a:endParaRPr lang="en-US"/>
        </a:p>
      </dgm:t>
    </dgm:pt>
    <dgm:pt modelId="{CA3576CD-2845-446A-A7B5-83CFA8DB8D2A}">
      <dgm:prSet/>
      <dgm:spPr/>
      <dgm:t>
        <a:bodyPr/>
        <a:lstStyle/>
        <a:p>
          <a:r>
            <a:rPr lang="en-US"/>
            <a:t>Supporting data: Female labor force participation metrics</a:t>
          </a:r>
        </a:p>
      </dgm:t>
    </dgm:pt>
    <dgm:pt modelId="{52631807-3A6B-49D9-A541-D214E964845D}" type="parTrans" cxnId="{1E687246-D249-4047-9183-3ECDC8057AAE}">
      <dgm:prSet/>
      <dgm:spPr/>
      <dgm:t>
        <a:bodyPr/>
        <a:lstStyle/>
        <a:p>
          <a:endParaRPr lang="en-US"/>
        </a:p>
      </dgm:t>
    </dgm:pt>
    <dgm:pt modelId="{51115820-2C29-4FDC-846A-23C1ED4078CB}" type="sibTrans" cxnId="{1E687246-D249-4047-9183-3ECDC8057AAE}">
      <dgm:prSet/>
      <dgm:spPr/>
      <dgm:t>
        <a:bodyPr/>
        <a:lstStyle/>
        <a:p>
          <a:endParaRPr lang="en-US"/>
        </a:p>
      </dgm:t>
    </dgm:pt>
    <dgm:pt modelId="{380A6757-CE8C-F643-A92D-2A025A83F06B}" type="pres">
      <dgm:prSet presAssocID="{A0175C25-2098-4CF8-932A-66A35389869B}" presName="diagram" presStyleCnt="0">
        <dgm:presLayoutVars>
          <dgm:dir/>
          <dgm:resizeHandles val="exact"/>
        </dgm:presLayoutVars>
      </dgm:prSet>
      <dgm:spPr/>
    </dgm:pt>
    <dgm:pt modelId="{8B5ADA8E-40E1-B447-8266-A2A38EB1560B}" type="pres">
      <dgm:prSet presAssocID="{0394A8ED-9DB8-46C9-AF98-9B59005040F2}" presName="node" presStyleLbl="node1" presStyleIdx="0" presStyleCnt="3">
        <dgm:presLayoutVars>
          <dgm:bulletEnabled val="1"/>
        </dgm:presLayoutVars>
      </dgm:prSet>
      <dgm:spPr/>
    </dgm:pt>
    <dgm:pt modelId="{DBEAC0A0-9539-FB44-8D24-81E634AE6C6F}" type="pres">
      <dgm:prSet presAssocID="{75417828-D827-49AB-8E11-229D16CB0261}" presName="sibTrans" presStyleCnt="0"/>
      <dgm:spPr/>
    </dgm:pt>
    <dgm:pt modelId="{25B152D1-D2F6-AE4A-A7B5-4BA41B03C14B}" type="pres">
      <dgm:prSet presAssocID="{71864DD2-9DF4-496B-ACCE-4C923008B377}" presName="node" presStyleLbl="node1" presStyleIdx="1" presStyleCnt="3">
        <dgm:presLayoutVars>
          <dgm:bulletEnabled val="1"/>
        </dgm:presLayoutVars>
      </dgm:prSet>
      <dgm:spPr/>
    </dgm:pt>
    <dgm:pt modelId="{FFB4606B-D5C0-DD41-AEA1-D3AFA720E866}" type="pres">
      <dgm:prSet presAssocID="{6A61F05F-2AA5-47D4-BC3F-9BCD3F89B829}" presName="sibTrans" presStyleCnt="0"/>
      <dgm:spPr/>
    </dgm:pt>
    <dgm:pt modelId="{B9EB24C1-3DA8-D047-B52E-B58FD74B733E}" type="pres">
      <dgm:prSet presAssocID="{CA3576CD-2845-446A-A7B5-83CFA8DB8D2A}" presName="node" presStyleLbl="node1" presStyleIdx="2" presStyleCnt="3">
        <dgm:presLayoutVars>
          <dgm:bulletEnabled val="1"/>
        </dgm:presLayoutVars>
      </dgm:prSet>
      <dgm:spPr/>
    </dgm:pt>
  </dgm:ptLst>
  <dgm:cxnLst>
    <dgm:cxn modelId="{6E01A013-3B22-425C-A4C7-FEDCF61848FA}" srcId="{A0175C25-2098-4CF8-932A-66A35389869B}" destId="{71864DD2-9DF4-496B-ACCE-4C923008B377}" srcOrd="1" destOrd="0" parTransId="{7FBC68F5-F388-4932-AF34-AE9ABFE76C94}" sibTransId="{6A61F05F-2AA5-47D4-BC3F-9BCD3F89B829}"/>
    <dgm:cxn modelId="{677D983E-D740-B541-9753-C51911097039}" type="presOf" srcId="{CA3576CD-2845-446A-A7B5-83CFA8DB8D2A}" destId="{B9EB24C1-3DA8-D047-B52E-B58FD74B733E}" srcOrd="0" destOrd="0" presId="urn:microsoft.com/office/officeart/2005/8/layout/default"/>
    <dgm:cxn modelId="{E08A7342-086F-F14A-A470-398130E9DA7B}" type="presOf" srcId="{71864DD2-9DF4-496B-ACCE-4C923008B377}" destId="{25B152D1-D2F6-AE4A-A7B5-4BA41B03C14B}" srcOrd="0" destOrd="0" presId="urn:microsoft.com/office/officeart/2005/8/layout/default"/>
    <dgm:cxn modelId="{1E687246-D249-4047-9183-3ECDC8057AAE}" srcId="{A0175C25-2098-4CF8-932A-66A35389869B}" destId="{CA3576CD-2845-446A-A7B5-83CFA8DB8D2A}" srcOrd="2" destOrd="0" parTransId="{52631807-3A6B-49D9-A541-D214E964845D}" sibTransId="{51115820-2C29-4FDC-846A-23C1ED4078CB}"/>
    <dgm:cxn modelId="{41CF29C2-B9D4-5A4B-8670-BF104AEB323D}" type="presOf" srcId="{0394A8ED-9DB8-46C9-AF98-9B59005040F2}" destId="{8B5ADA8E-40E1-B447-8266-A2A38EB1560B}" srcOrd="0" destOrd="0" presId="urn:microsoft.com/office/officeart/2005/8/layout/default"/>
    <dgm:cxn modelId="{71215DDE-7122-4EA2-9498-C41C579F9B9C}" srcId="{A0175C25-2098-4CF8-932A-66A35389869B}" destId="{0394A8ED-9DB8-46C9-AF98-9B59005040F2}" srcOrd="0" destOrd="0" parTransId="{F619C686-301E-4BE4-B1C1-A027ECDB847D}" sibTransId="{75417828-D827-49AB-8E11-229D16CB0261}"/>
    <dgm:cxn modelId="{61B261E0-70BA-024C-A20A-D05A6CCA532E}" type="presOf" srcId="{A0175C25-2098-4CF8-932A-66A35389869B}" destId="{380A6757-CE8C-F643-A92D-2A025A83F06B}" srcOrd="0" destOrd="0" presId="urn:microsoft.com/office/officeart/2005/8/layout/default"/>
    <dgm:cxn modelId="{17D244B8-1473-E049-9F48-B7A857DF1DC4}" type="presParOf" srcId="{380A6757-CE8C-F643-A92D-2A025A83F06B}" destId="{8B5ADA8E-40E1-B447-8266-A2A38EB1560B}" srcOrd="0" destOrd="0" presId="urn:microsoft.com/office/officeart/2005/8/layout/default"/>
    <dgm:cxn modelId="{B5A8AD6B-D6F2-4B45-99EE-FCBA57DE27DA}" type="presParOf" srcId="{380A6757-CE8C-F643-A92D-2A025A83F06B}" destId="{DBEAC0A0-9539-FB44-8D24-81E634AE6C6F}" srcOrd="1" destOrd="0" presId="urn:microsoft.com/office/officeart/2005/8/layout/default"/>
    <dgm:cxn modelId="{7B3BFCF9-EE82-F14B-A0D2-298027686E7B}" type="presParOf" srcId="{380A6757-CE8C-F643-A92D-2A025A83F06B}" destId="{25B152D1-D2F6-AE4A-A7B5-4BA41B03C14B}" srcOrd="2" destOrd="0" presId="urn:microsoft.com/office/officeart/2005/8/layout/default"/>
    <dgm:cxn modelId="{3658E6F4-F8D0-9442-841F-7AAC40E34282}" type="presParOf" srcId="{380A6757-CE8C-F643-A92D-2A025A83F06B}" destId="{FFB4606B-D5C0-DD41-AEA1-D3AFA720E866}" srcOrd="3" destOrd="0" presId="urn:microsoft.com/office/officeart/2005/8/layout/default"/>
    <dgm:cxn modelId="{DD7A6430-10CB-FD4E-86AF-9994643209D1}" type="presParOf" srcId="{380A6757-CE8C-F643-A92D-2A025A83F06B}" destId="{B9EB24C1-3DA8-D047-B52E-B58FD74B733E}"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8C36E6D-D7ED-4DA0-9F35-F62CC9053D19}"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F25B300-F731-440A-88BF-E2138A621719}">
      <dgm:prSet/>
      <dgm:spPr/>
      <dgm:t>
        <a:bodyPr/>
        <a:lstStyle/>
        <a:p>
          <a:r>
            <a:rPr lang="en-US"/>
            <a:t>Steps: Validation, missing value handling, type checks</a:t>
          </a:r>
        </a:p>
      </dgm:t>
    </dgm:pt>
    <dgm:pt modelId="{9B7E0916-757C-4D1B-9128-D3FC086707FA}" type="parTrans" cxnId="{A729096E-57BB-4FDC-BCA1-EDBD7FCA3362}">
      <dgm:prSet/>
      <dgm:spPr/>
      <dgm:t>
        <a:bodyPr/>
        <a:lstStyle/>
        <a:p>
          <a:endParaRPr lang="en-US"/>
        </a:p>
      </dgm:t>
    </dgm:pt>
    <dgm:pt modelId="{9B2E45ED-AD5A-4AFF-86CA-9C87F4E09B75}" type="sibTrans" cxnId="{A729096E-57BB-4FDC-BCA1-EDBD7FCA3362}">
      <dgm:prSet/>
      <dgm:spPr/>
      <dgm:t>
        <a:bodyPr/>
        <a:lstStyle/>
        <a:p>
          <a:endParaRPr lang="en-US"/>
        </a:p>
      </dgm:t>
    </dgm:pt>
    <dgm:pt modelId="{C3603470-76AA-4A99-81CD-0364283EFD37}">
      <dgm:prSet/>
      <dgm:spPr/>
      <dgm:t>
        <a:bodyPr/>
        <a:lstStyle/>
        <a:p>
          <a:r>
            <a:rPr lang="en-US"/>
            <a:t>Assumptions: Monetary fields as per-child averages; zero values as missing; FIPS codes as unique IDs</a:t>
          </a:r>
        </a:p>
      </dgm:t>
    </dgm:pt>
    <dgm:pt modelId="{8B32830C-36A3-4846-BAA2-B911332551E1}" type="parTrans" cxnId="{5AD6660C-10B5-4488-9E6E-739D64C29E4E}">
      <dgm:prSet/>
      <dgm:spPr/>
      <dgm:t>
        <a:bodyPr/>
        <a:lstStyle/>
        <a:p>
          <a:endParaRPr lang="en-US"/>
        </a:p>
      </dgm:t>
    </dgm:pt>
    <dgm:pt modelId="{098B4C6D-4EBC-4985-86DA-B81B678C7D2D}" type="sibTrans" cxnId="{5AD6660C-10B5-4488-9E6E-739D64C29E4E}">
      <dgm:prSet/>
      <dgm:spPr/>
      <dgm:t>
        <a:bodyPr/>
        <a:lstStyle/>
        <a:p>
          <a:endParaRPr lang="en-US"/>
        </a:p>
      </dgm:t>
    </dgm:pt>
    <dgm:pt modelId="{30CE682D-1E3F-4ADA-8A0A-A40D37A53424}">
      <dgm:prSet/>
      <dgm:spPr/>
      <dgm:t>
        <a:bodyPr/>
        <a:lstStyle/>
        <a:p>
          <a:r>
            <a:rPr lang="en-US"/>
            <a:t>Inflation adjustments not confirmed</a:t>
          </a:r>
        </a:p>
      </dgm:t>
    </dgm:pt>
    <dgm:pt modelId="{1EBBB25E-1B1F-499C-963D-31CC8C556C24}" type="parTrans" cxnId="{3E8D0521-A80B-4A29-A5FD-A825265C4F6F}">
      <dgm:prSet/>
      <dgm:spPr/>
      <dgm:t>
        <a:bodyPr/>
        <a:lstStyle/>
        <a:p>
          <a:endParaRPr lang="en-US"/>
        </a:p>
      </dgm:t>
    </dgm:pt>
    <dgm:pt modelId="{441C199C-FBC1-447A-A8BB-B562BBBA70B6}" type="sibTrans" cxnId="{3E8D0521-A80B-4A29-A5FD-A825265C4F6F}">
      <dgm:prSet/>
      <dgm:spPr/>
      <dgm:t>
        <a:bodyPr/>
        <a:lstStyle/>
        <a:p>
          <a:endParaRPr lang="en-US"/>
        </a:p>
      </dgm:t>
    </dgm:pt>
    <dgm:pt modelId="{109AF6EC-BD4C-3D43-AB2A-6CA62AE233B0}" type="pres">
      <dgm:prSet presAssocID="{D8C36E6D-D7ED-4DA0-9F35-F62CC9053D19}" presName="linear" presStyleCnt="0">
        <dgm:presLayoutVars>
          <dgm:animLvl val="lvl"/>
          <dgm:resizeHandles val="exact"/>
        </dgm:presLayoutVars>
      </dgm:prSet>
      <dgm:spPr/>
    </dgm:pt>
    <dgm:pt modelId="{3C70D435-C81D-674F-9A02-9E9BCF6136BA}" type="pres">
      <dgm:prSet presAssocID="{4F25B300-F731-440A-88BF-E2138A621719}" presName="parentText" presStyleLbl="node1" presStyleIdx="0" presStyleCnt="3">
        <dgm:presLayoutVars>
          <dgm:chMax val="0"/>
          <dgm:bulletEnabled val="1"/>
        </dgm:presLayoutVars>
      </dgm:prSet>
      <dgm:spPr/>
    </dgm:pt>
    <dgm:pt modelId="{F997758E-4EE7-504A-B579-5A946D9CC5D6}" type="pres">
      <dgm:prSet presAssocID="{9B2E45ED-AD5A-4AFF-86CA-9C87F4E09B75}" presName="spacer" presStyleCnt="0"/>
      <dgm:spPr/>
    </dgm:pt>
    <dgm:pt modelId="{D6CD6D5F-5AA4-DB4A-AA62-F6ACE076FF05}" type="pres">
      <dgm:prSet presAssocID="{C3603470-76AA-4A99-81CD-0364283EFD37}" presName="parentText" presStyleLbl="node1" presStyleIdx="1" presStyleCnt="3">
        <dgm:presLayoutVars>
          <dgm:chMax val="0"/>
          <dgm:bulletEnabled val="1"/>
        </dgm:presLayoutVars>
      </dgm:prSet>
      <dgm:spPr/>
    </dgm:pt>
    <dgm:pt modelId="{30B2B042-38AD-6E41-9B4F-A89FEDF2192B}" type="pres">
      <dgm:prSet presAssocID="{098B4C6D-4EBC-4985-86DA-B81B678C7D2D}" presName="spacer" presStyleCnt="0"/>
      <dgm:spPr/>
    </dgm:pt>
    <dgm:pt modelId="{8832298C-695B-F448-AFB1-A5FF3559D769}" type="pres">
      <dgm:prSet presAssocID="{30CE682D-1E3F-4ADA-8A0A-A40D37A53424}" presName="parentText" presStyleLbl="node1" presStyleIdx="2" presStyleCnt="3">
        <dgm:presLayoutVars>
          <dgm:chMax val="0"/>
          <dgm:bulletEnabled val="1"/>
        </dgm:presLayoutVars>
      </dgm:prSet>
      <dgm:spPr/>
    </dgm:pt>
  </dgm:ptLst>
  <dgm:cxnLst>
    <dgm:cxn modelId="{30717903-3DB4-7545-AF68-62CE73FB6E71}" type="presOf" srcId="{D8C36E6D-D7ED-4DA0-9F35-F62CC9053D19}" destId="{109AF6EC-BD4C-3D43-AB2A-6CA62AE233B0}" srcOrd="0" destOrd="0" presId="urn:microsoft.com/office/officeart/2005/8/layout/vList2"/>
    <dgm:cxn modelId="{5AD6660C-10B5-4488-9E6E-739D64C29E4E}" srcId="{D8C36E6D-D7ED-4DA0-9F35-F62CC9053D19}" destId="{C3603470-76AA-4A99-81CD-0364283EFD37}" srcOrd="1" destOrd="0" parTransId="{8B32830C-36A3-4846-BAA2-B911332551E1}" sibTransId="{098B4C6D-4EBC-4985-86DA-B81B678C7D2D}"/>
    <dgm:cxn modelId="{3E8D0521-A80B-4A29-A5FD-A825265C4F6F}" srcId="{D8C36E6D-D7ED-4DA0-9F35-F62CC9053D19}" destId="{30CE682D-1E3F-4ADA-8A0A-A40D37A53424}" srcOrd="2" destOrd="0" parTransId="{1EBBB25E-1B1F-499C-963D-31CC8C556C24}" sibTransId="{441C199C-FBC1-447A-A8BB-B562BBBA70B6}"/>
    <dgm:cxn modelId="{3044C73C-1142-E64E-9666-92E4E0F819CC}" type="presOf" srcId="{30CE682D-1E3F-4ADA-8A0A-A40D37A53424}" destId="{8832298C-695B-F448-AFB1-A5FF3559D769}" srcOrd="0" destOrd="0" presId="urn:microsoft.com/office/officeart/2005/8/layout/vList2"/>
    <dgm:cxn modelId="{A729096E-57BB-4FDC-BCA1-EDBD7FCA3362}" srcId="{D8C36E6D-D7ED-4DA0-9F35-F62CC9053D19}" destId="{4F25B300-F731-440A-88BF-E2138A621719}" srcOrd="0" destOrd="0" parTransId="{9B7E0916-757C-4D1B-9128-D3FC086707FA}" sibTransId="{9B2E45ED-AD5A-4AFF-86CA-9C87F4E09B75}"/>
    <dgm:cxn modelId="{25B1C47B-8C27-B24D-B207-1C8B3768167E}" type="presOf" srcId="{C3603470-76AA-4A99-81CD-0364283EFD37}" destId="{D6CD6D5F-5AA4-DB4A-AA62-F6ACE076FF05}" srcOrd="0" destOrd="0" presId="urn:microsoft.com/office/officeart/2005/8/layout/vList2"/>
    <dgm:cxn modelId="{621F7691-2237-E147-A235-864517A23195}" type="presOf" srcId="{4F25B300-F731-440A-88BF-E2138A621719}" destId="{3C70D435-C81D-674F-9A02-9E9BCF6136BA}" srcOrd="0" destOrd="0" presId="urn:microsoft.com/office/officeart/2005/8/layout/vList2"/>
    <dgm:cxn modelId="{04820C13-5644-2E45-B383-6261FFE74A61}" type="presParOf" srcId="{109AF6EC-BD4C-3D43-AB2A-6CA62AE233B0}" destId="{3C70D435-C81D-674F-9A02-9E9BCF6136BA}" srcOrd="0" destOrd="0" presId="urn:microsoft.com/office/officeart/2005/8/layout/vList2"/>
    <dgm:cxn modelId="{D933CEA3-98C4-9F43-A426-150C9C1FD789}" type="presParOf" srcId="{109AF6EC-BD4C-3D43-AB2A-6CA62AE233B0}" destId="{F997758E-4EE7-504A-B579-5A946D9CC5D6}" srcOrd="1" destOrd="0" presId="urn:microsoft.com/office/officeart/2005/8/layout/vList2"/>
    <dgm:cxn modelId="{95CA1B33-E67C-F74A-A7DB-5E466F23D935}" type="presParOf" srcId="{109AF6EC-BD4C-3D43-AB2A-6CA62AE233B0}" destId="{D6CD6D5F-5AA4-DB4A-AA62-F6ACE076FF05}" srcOrd="2" destOrd="0" presId="urn:microsoft.com/office/officeart/2005/8/layout/vList2"/>
    <dgm:cxn modelId="{C2E7F872-F32E-C149-9F41-2C6239C07012}" type="presParOf" srcId="{109AF6EC-BD4C-3D43-AB2A-6CA62AE233B0}" destId="{30B2B042-38AD-6E41-9B4F-A89FEDF2192B}" srcOrd="3" destOrd="0" presId="urn:microsoft.com/office/officeart/2005/8/layout/vList2"/>
    <dgm:cxn modelId="{6C032B43-C7C6-4C4F-A53D-EC871593F2E8}" type="presParOf" srcId="{109AF6EC-BD4C-3D43-AB2A-6CA62AE233B0}" destId="{8832298C-695B-F448-AFB1-A5FF3559D769}"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65ED6B-8D23-F646-BB36-E5A74446531A}">
      <dsp:nvSpPr>
        <dsp:cNvPr id="0" name=""/>
        <dsp:cNvSpPr/>
      </dsp:nvSpPr>
      <dsp:spPr>
        <a:xfrm>
          <a:off x="0" y="0"/>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D3D580C-600E-7D44-825F-337E4F3F1E14}">
      <dsp:nvSpPr>
        <dsp:cNvPr id="0" name=""/>
        <dsp:cNvSpPr/>
      </dsp:nvSpPr>
      <dsp:spPr>
        <a:xfrm>
          <a:off x="0" y="0"/>
          <a:ext cx="8229600" cy="22629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a:t>Overview of the dataset: 2008-2018 county-level childcare cost data from the U.S. Department of Labor</a:t>
          </a:r>
        </a:p>
      </dsp:txBody>
      <dsp:txXfrm>
        <a:off x="0" y="0"/>
        <a:ext cx="8229600" cy="2262981"/>
      </dsp:txXfrm>
    </dsp:sp>
    <dsp:sp modelId="{9BD521D0-F0BF-834C-B581-151526080F30}">
      <dsp:nvSpPr>
        <dsp:cNvPr id="0" name=""/>
        <dsp:cNvSpPr/>
      </dsp:nvSpPr>
      <dsp:spPr>
        <a:xfrm>
          <a:off x="0" y="2262981"/>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DC106CC-BDB1-3441-9AAA-FA2C192C64A0}">
      <dsp:nvSpPr>
        <dsp:cNvPr id="0" name=""/>
        <dsp:cNvSpPr/>
      </dsp:nvSpPr>
      <dsp:spPr>
        <a:xfrm>
          <a:off x="0" y="2262981"/>
          <a:ext cx="8229600" cy="22629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a:t>Objectives: Identify trends, regional disparities, and socio-economic impacts of childcare costs</a:t>
          </a:r>
        </a:p>
      </dsp:txBody>
      <dsp:txXfrm>
        <a:off x="0" y="2262981"/>
        <a:ext cx="8229600" cy="22629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5ADA8E-40E1-B447-8266-A2A38EB1560B}">
      <dsp:nvSpPr>
        <dsp:cNvPr id="0" name=""/>
        <dsp:cNvSpPr/>
      </dsp:nvSpPr>
      <dsp:spPr>
        <a:xfrm>
          <a:off x="1045320" y="2124"/>
          <a:ext cx="2868885" cy="1721331"/>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Data source: National Database of Child Care Prices</a:t>
          </a:r>
        </a:p>
      </dsp:txBody>
      <dsp:txXfrm>
        <a:off x="1045320" y="2124"/>
        <a:ext cx="2868885" cy="1721331"/>
      </dsp:txXfrm>
    </dsp:sp>
    <dsp:sp modelId="{25B152D1-D2F6-AE4A-A7B5-4BA41B03C14B}">
      <dsp:nvSpPr>
        <dsp:cNvPr id="0" name=""/>
        <dsp:cNvSpPr/>
      </dsp:nvSpPr>
      <dsp:spPr>
        <a:xfrm>
          <a:off x="4201094" y="2124"/>
          <a:ext cx="2868885" cy="1721331"/>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Key variables: UNR_16, FUNR_16, MUNR_16 (center-based and family-based costs)</a:t>
          </a:r>
        </a:p>
      </dsp:txBody>
      <dsp:txXfrm>
        <a:off x="4201094" y="2124"/>
        <a:ext cx="2868885" cy="1721331"/>
      </dsp:txXfrm>
    </dsp:sp>
    <dsp:sp modelId="{B9EB24C1-3DA8-D047-B52E-B58FD74B733E}">
      <dsp:nvSpPr>
        <dsp:cNvPr id="0" name=""/>
        <dsp:cNvSpPr/>
      </dsp:nvSpPr>
      <dsp:spPr>
        <a:xfrm>
          <a:off x="2623207" y="2010343"/>
          <a:ext cx="2868885" cy="1721331"/>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Supporting data: Female labor force participation metrics</a:t>
          </a:r>
        </a:p>
      </dsp:txBody>
      <dsp:txXfrm>
        <a:off x="2623207" y="2010343"/>
        <a:ext cx="2868885" cy="17213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70D435-C81D-674F-9A02-9E9BCF6136BA}">
      <dsp:nvSpPr>
        <dsp:cNvPr id="0" name=""/>
        <dsp:cNvSpPr/>
      </dsp:nvSpPr>
      <dsp:spPr>
        <a:xfrm>
          <a:off x="0" y="337924"/>
          <a:ext cx="5175384" cy="1566337"/>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Steps: Validation, missing value handling, type checks</a:t>
          </a:r>
        </a:p>
      </dsp:txBody>
      <dsp:txXfrm>
        <a:off x="76462" y="414386"/>
        <a:ext cx="5022460" cy="1413413"/>
      </dsp:txXfrm>
    </dsp:sp>
    <dsp:sp modelId="{D6CD6D5F-5AA4-DB4A-AA62-F6ACE076FF05}">
      <dsp:nvSpPr>
        <dsp:cNvPr id="0" name=""/>
        <dsp:cNvSpPr/>
      </dsp:nvSpPr>
      <dsp:spPr>
        <a:xfrm>
          <a:off x="0" y="1984901"/>
          <a:ext cx="5175384" cy="1566337"/>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Assumptions: Monetary fields as per-child averages; zero values as missing; FIPS codes as unique IDs</a:t>
          </a:r>
        </a:p>
      </dsp:txBody>
      <dsp:txXfrm>
        <a:off x="76462" y="2061363"/>
        <a:ext cx="5022460" cy="1413413"/>
      </dsp:txXfrm>
    </dsp:sp>
    <dsp:sp modelId="{8832298C-695B-F448-AFB1-A5FF3559D769}">
      <dsp:nvSpPr>
        <dsp:cNvPr id="0" name=""/>
        <dsp:cNvSpPr/>
      </dsp:nvSpPr>
      <dsp:spPr>
        <a:xfrm>
          <a:off x="0" y="3631879"/>
          <a:ext cx="5175384" cy="1566337"/>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Inflation adjustments not confirmed</a:t>
          </a:r>
        </a:p>
      </dsp:txBody>
      <dsp:txXfrm>
        <a:off x="76462" y="3708341"/>
        <a:ext cx="5022460" cy="141341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1852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Today we’ll be discussing childcare cost disparities in the United States from 2008 to 2018, using data from the National Database of Child Care Prices. This work highlights cost trends, geographic inequalities, and potential socioeconomic impacts, particularly for working families.</a:t>
            </a:r>
          </a:p>
          <a:p>
            <a:endParaRPr lang="en-US" dirty="0"/>
          </a:p>
        </p:txBody>
      </p:sp>
    </p:spTree>
    <p:extLst>
      <p:ext uri="{BB962C8B-B14F-4D97-AF65-F5344CB8AC3E}">
        <p14:creationId xmlns:p14="http://schemas.microsoft.com/office/powerpoint/2010/main" val="2847163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My </a:t>
            </a:r>
            <a:r>
              <a:rPr dirty="0"/>
              <a:t>goal was to identify national trends, pinpoint regions with significant disparities, and explore how rising childcare costs affect female labor force participation. The ultimate objective is to equip policymakers with data-driven insights for improving childcare affordability.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a:t>
            </a:r>
            <a:r>
              <a:rPr dirty="0"/>
              <a:t>ounty-level cost data </a:t>
            </a:r>
            <a:r>
              <a:rPr lang="en-US" dirty="0"/>
              <a:t>was used </a:t>
            </a:r>
            <a:r>
              <a:rPr dirty="0"/>
              <a:t>for various childcare types, including UNR_16 for center-based care and FUNR_16 for family-based care. </a:t>
            </a:r>
            <a:r>
              <a:rPr lang="en-US" dirty="0"/>
              <a:t>I</a:t>
            </a:r>
            <a:r>
              <a:rPr dirty="0"/>
              <a:t> also integrated female labor force participation metrics, giving us both economic and social context.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 </a:t>
            </a:r>
            <a:r>
              <a:rPr dirty="0"/>
              <a:t>validated the dataset, addressed missing values, and confirmed data types. </a:t>
            </a:r>
            <a:r>
              <a:rPr lang="en-US" dirty="0"/>
              <a:t>I</a:t>
            </a:r>
            <a:r>
              <a:rPr dirty="0"/>
              <a:t> assumed cost values represented per-child averages, treated zeros as missing data, and used FIPS codes for accurate geographic mapping. Inflation adjustments were not confirmed, which we note as a limitation.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line chart shows a steady national rise in daily childcare costs from 2008 to 2018. The national average reached $7.47 per day, with peaks as high as $36, signaling growing financial strain for many families.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choropleth map reveals that northeastern and western states generally have the highest childcare costs, while the South and Midwest report lower averages. This uneven distribution highlights significant regional inequities.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bar chart highlights both the most expensive counties in 2018 and the counties with the fastest cost growth between 2015 and 2018. Rapid increases are not limited to historically high-cost areas, suggesting emerging affordability challenges.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scatterplot compares childcare costs with female labor force participation. The slight negative correlation suggests that higher childcare costs may be linked to lower female workforce participation, raising concerns about accessibility.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Childcare costs are rising nationwide but not evenly, creating pockets of severe financial pressure. These disparities can limit women’s workforce participation and deepen socioeconomic divides.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To address these challenges, </a:t>
            </a:r>
            <a:r>
              <a:rPr lang="en-US" dirty="0"/>
              <a:t>it’s</a:t>
            </a:r>
            <a:r>
              <a:rPr dirty="0"/>
              <a:t> recommend</a:t>
            </a:r>
            <a:r>
              <a:rPr lang="en-US" dirty="0"/>
              <a:t>ed to</a:t>
            </a:r>
            <a:r>
              <a:rPr dirty="0"/>
              <a:t> targeted subsidies in high-cost regions, inflation-indexed cost tracking, and stronger regulation of childcare providers to ensure affordability and quality.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a:t>
            </a:r>
            <a:r>
              <a:rPr dirty="0"/>
              <a:t> prioritized transparency in all transformations and were careful not to misrepresent the data. Risks remain—such as overgeneralization when aggregating—and </a:t>
            </a:r>
            <a:r>
              <a:rPr lang="en-US" dirty="0"/>
              <a:t>there seems to be </a:t>
            </a:r>
            <a:r>
              <a:rPr dirty="0"/>
              <a:t>a need for integrating demographic overlays for deeper context.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summary, childcare costs are climbing and unevenly distributed, with real impacts on families and the workforce. Our next steps include confirming inflation adjustments, adding demographic analysis, and exploring advanced modeling to strengthen policy recommendations.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99F2931-70EC-414E-8957-39CC893D90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8FFBE11-4B3E-48D7-94D4-2EC8CC9FE8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479720"/>
            <a:ext cx="9144000" cy="3378280"/>
          </a:xfrm>
          <a:custGeom>
            <a:avLst/>
            <a:gdLst>
              <a:gd name="connsiteX0" fmla="*/ 0 w 12192000"/>
              <a:gd name="connsiteY0" fmla="*/ 0 h 3378280"/>
              <a:gd name="connsiteX1" fmla="*/ 13973 w 12192000"/>
              <a:gd name="connsiteY1" fmla="*/ 3431 h 3378280"/>
              <a:gd name="connsiteX2" fmla="*/ 86774 w 12192000"/>
              <a:gd name="connsiteY2" fmla="*/ 43536 h 3378280"/>
              <a:gd name="connsiteX3" fmla="*/ 229780 w 12192000"/>
              <a:gd name="connsiteY3" fmla="*/ 145557 h 3378280"/>
              <a:gd name="connsiteX4" fmla="*/ 302639 w 12192000"/>
              <a:gd name="connsiteY4" fmla="*/ 203425 h 3378280"/>
              <a:gd name="connsiteX5" fmla="*/ 348081 w 12192000"/>
              <a:gd name="connsiteY5" fmla="*/ 187174 h 3378280"/>
              <a:gd name="connsiteX6" fmla="*/ 436950 w 12192000"/>
              <a:gd name="connsiteY6" fmla="*/ 184066 h 3378280"/>
              <a:gd name="connsiteX7" fmla="*/ 501693 w 12192000"/>
              <a:gd name="connsiteY7" fmla="*/ 233225 h 3378280"/>
              <a:gd name="connsiteX8" fmla="*/ 557201 w 12192000"/>
              <a:gd name="connsiteY8" fmla="*/ 312390 h 3378280"/>
              <a:gd name="connsiteX9" fmla="*/ 617648 w 12192000"/>
              <a:gd name="connsiteY9" fmla="*/ 333897 h 3378280"/>
              <a:gd name="connsiteX10" fmla="*/ 692332 w 12192000"/>
              <a:gd name="connsiteY10" fmla="*/ 386327 h 3378280"/>
              <a:gd name="connsiteX11" fmla="*/ 802009 w 12192000"/>
              <a:gd name="connsiteY11" fmla="*/ 419027 h 3378280"/>
              <a:gd name="connsiteX12" fmla="*/ 914003 w 12192000"/>
              <a:gd name="connsiteY12" fmla="*/ 475419 h 3378280"/>
              <a:gd name="connsiteX13" fmla="*/ 938561 w 12192000"/>
              <a:gd name="connsiteY13" fmla="*/ 472887 h 3378280"/>
              <a:gd name="connsiteX14" fmla="*/ 1035683 w 12192000"/>
              <a:gd name="connsiteY14" fmla="*/ 486697 h 3378280"/>
              <a:gd name="connsiteX15" fmla="*/ 1035757 w 12192000"/>
              <a:gd name="connsiteY15" fmla="*/ 486731 h 3378280"/>
              <a:gd name="connsiteX16" fmla="*/ 1074336 w 12192000"/>
              <a:gd name="connsiteY16" fmla="*/ 494465 h 3378280"/>
              <a:gd name="connsiteX17" fmla="*/ 1285084 w 12192000"/>
              <a:gd name="connsiteY17" fmla="*/ 589112 h 3378280"/>
              <a:gd name="connsiteX18" fmla="*/ 1409116 w 12192000"/>
              <a:gd name="connsiteY18" fmla="*/ 656332 h 3378280"/>
              <a:gd name="connsiteX19" fmla="*/ 1533725 w 12192000"/>
              <a:gd name="connsiteY19" fmla="*/ 699179 h 3378280"/>
              <a:gd name="connsiteX20" fmla="*/ 1636242 w 12192000"/>
              <a:gd name="connsiteY20" fmla="*/ 741533 h 3378280"/>
              <a:gd name="connsiteX21" fmla="*/ 1704848 w 12192000"/>
              <a:gd name="connsiteY21" fmla="*/ 770749 h 3378280"/>
              <a:gd name="connsiteX22" fmla="*/ 1718292 w 12192000"/>
              <a:gd name="connsiteY22" fmla="*/ 781051 h 3378280"/>
              <a:gd name="connsiteX23" fmla="*/ 1720835 w 12192000"/>
              <a:gd name="connsiteY23" fmla="*/ 781117 h 3378280"/>
              <a:gd name="connsiteX24" fmla="*/ 1753341 w 12192000"/>
              <a:gd name="connsiteY24" fmla="*/ 800301 h 3378280"/>
              <a:gd name="connsiteX25" fmla="*/ 1775454 w 12192000"/>
              <a:gd name="connsiteY25" fmla="*/ 815182 h 3378280"/>
              <a:gd name="connsiteX26" fmla="*/ 1781011 w 12192000"/>
              <a:gd name="connsiteY26" fmla="*/ 816068 h 3378280"/>
              <a:gd name="connsiteX27" fmla="*/ 1817738 w 12192000"/>
              <a:gd name="connsiteY27" fmla="*/ 834926 h 3378280"/>
              <a:gd name="connsiteX28" fmla="*/ 1830702 w 12192000"/>
              <a:gd name="connsiteY28" fmla="*/ 836485 h 3378280"/>
              <a:gd name="connsiteX29" fmla="*/ 1853950 w 12192000"/>
              <a:gd name="connsiteY29" fmla="*/ 841519 h 3378280"/>
              <a:gd name="connsiteX30" fmla="*/ 1915890 w 12192000"/>
              <a:gd name="connsiteY30" fmla="*/ 841983 h 3378280"/>
              <a:gd name="connsiteX31" fmla="*/ 1960900 w 12192000"/>
              <a:gd name="connsiteY31" fmla="*/ 865789 h 3378280"/>
              <a:gd name="connsiteX32" fmla="*/ 1961217 w 12192000"/>
              <a:gd name="connsiteY32" fmla="*/ 865662 h 3378280"/>
              <a:gd name="connsiteX33" fmla="*/ 1969825 w 12192000"/>
              <a:gd name="connsiteY33" fmla="*/ 869049 h 3378280"/>
              <a:gd name="connsiteX34" fmla="*/ 1975234 w 12192000"/>
              <a:gd name="connsiteY34" fmla="*/ 872329 h 3378280"/>
              <a:gd name="connsiteX35" fmla="*/ 1990485 w 12192000"/>
              <a:gd name="connsiteY35" fmla="*/ 879288 h 3378280"/>
              <a:gd name="connsiteX36" fmla="*/ 1996793 w 12192000"/>
              <a:gd name="connsiteY36" fmla="*/ 880361 h 3378280"/>
              <a:gd name="connsiteX37" fmla="*/ 2055091 w 12192000"/>
              <a:gd name="connsiteY37" fmla="*/ 872818 h 3378280"/>
              <a:gd name="connsiteX38" fmla="*/ 2165143 w 12192000"/>
              <a:gd name="connsiteY38" fmla="*/ 892293 h 3378280"/>
              <a:gd name="connsiteX39" fmla="*/ 2274196 w 12192000"/>
              <a:gd name="connsiteY39" fmla="*/ 914768 h 3378280"/>
              <a:gd name="connsiteX40" fmla="*/ 2383986 w 12192000"/>
              <a:gd name="connsiteY40" fmla="*/ 934891 h 3378280"/>
              <a:gd name="connsiteX41" fmla="*/ 2420278 w 12192000"/>
              <a:gd name="connsiteY41" fmla="*/ 933890 h 3378280"/>
              <a:gd name="connsiteX42" fmla="*/ 2426203 w 12192000"/>
              <a:gd name="connsiteY42" fmla="*/ 933891 h 3378280"/>
              <a:gd name="connsiteX43" fmla="*/ 2448674 w 12192000"/>
              <a:gd name="connsiteY43" fmla="*/ 941056 h 3378280"/>
              <a:gd name="connsiteX44" fmla="*/ 2457640 w 12192000"/>
              <a:gd name="connsiteY44" fmla="*/ 943105 h 3378280"/>
              <a:gd name="connsiteX45" fmla="*/ 2457852 w 12192000"/>
              <a:gd name="connsiteY45" fmla="*/ 942912 h 3378280"/>
              <a:gd name="connsiteX46" fmla="*/ 2466265 w 12192000"/>
              <a:gd name="connsiteY46" fmla="*/ 945310 h 3378280"/>
              <a:gd name="connsiteX47" fmla="*/ 2507496 w 12192000"/>
              <a:gd name="connsiteY47" fmla="*/ 960111 h 3378280"/>
              <a:gd name="connsiteX48" fmla="*/ 2561127 w 12192000"/>
              <a:gd name="connsiteY48" fmla="*/ 949411 h 3378280"/>
              <a:gd name="connsiteX49" fmla="*/ 2583467 w 12192000"/>
              <a:gd name="connsiteY49" fmla="*/ 950570 h 3378280"/>
              <a:gd name="connsiteX50" fmla="*/ 2595361 w 12192000"/>
              <a:gd name="connsiteY50" fmla="*/ 949884 h 3378280"/>
              <a:gd name="connsiteX51" fmla="*/ 2596075 w 12192000"/>
              <a:gd name="connsiteY51" fmla="*/ 949000 h 3378280"/>
              <a:gd name="connsiteX52" fmla="*/ 2666638 w 12192000"/>
              <a:gd name="connsiteY52" fmla="*/ 975095 h 3378280"/>
              <a:gd name="connsiteX53" fmla="*/ 2703393 w 12192000"/>
              <a:gd name="connsiteY53" fmla="*/ 989635 h 3378280"/>
              <a:gd name="connsiteX54" fmla="*/ 2705616 w 12192000"/>
              <a:gd name="connsiteY54" fmla="*/ 989244 h 3378280"/>
              <a:gd name="connsiteX55" fmla="*/ 2721898 w 12192000"/>
              <a:gd name="connsiteY55" fmla="*/ 997777 h 3378280"/>
              <a:gd name="connsiteX56" fmla="*/ 2735669 w 12192000"/>
              <a:gd name="connsiteY56" fmla="*/ 1009612 h 3378280"/>
              <a:gd name="connsiteX57" fmla="*/ 2857526 w 12192000"/>
              <a:gd name="connsiteY57" fmla="*/ 1030627 h 3378280"/>
              <a:gd name="connsiteX58" fmla="*/ 3021918 w 12192000"/>
              <a:gd name="connsiteY58" fmla="*/ 1088093 h 3378280"/>
              <a:gd name="connsiteX59" fmla="*/ 3155458 w 12192000"/>
              <a:gd name="connsiteY59" fmla="*/ 1121618 h 3378280"/>
              <a:gd name="connsiteX60" fmla="*/ 3328229 w 12192000"/>
              <a:gd name="connsiteY60" fmla="*/ 1155903 h 3378280"/>
              <a:gd name="connsiteX61" fmla="*/ 3448440 w 12192000"/>
              <a:gd name="connsiteY61" fmla="*/ 1184343 h 3378280"/>
              <a:gd name="connsiteX62" fmla="*/ 3499287 w 12192000"/>
              <a:gd name="connsiteY62" fmla="*/ 1209472 h 3378280"/>
              <a:gd name="connsiteX63" fmla="*/ 3520027 w 12192000"/>
              <a:gd name="connsiteY63" fmla="*/ 1207338 h 3378280"/>
              <a:gd name="connsiteX64" fmla="*/ 3523594 w 12192000"/>
              <a:gd name="connsiteY64" fmla="*/ 1206755 h 3378280"/>
              <a:gd name="connsiteX65" fmla="*/ 3538013 w 12192000"/>
              <a:gd name="connsiteY65" fmla="*/ 1209066 h 3378280"/>
              <a:gd name="connsiteX66" fmla="*/ 3541918 w 12192000"/>
              <a:gd name="connsiteY66" fmla="*/ 1203922 h 3378280"/>
              <a:gd name="connsiteX67" fmla="*/ 3590082 w 12192000"/>
              <a:gd name="connsiteY67" fmla="*/ 1209115 h 3378280"/>
              <a:gd name="connsiteX68" fmla="*/ 3716445 w 12192000"/>
              <a:gd name="connsiteY68" fmla="*/ 1243431 h 3378280"/>
              <a:gd name="connsiteX69" fmla="*/ 3792028 w 12192000"/>
              <a:gd name="connsiteY69" fmla="*/ 1260288 h 3378280"/>
              <a:gd name="connsiteX70" fmla="*/ 3820707 w 12192000"/>
              <a:gd name="connsiteY70" fmla="*/ 1260924 h 3378280"/>
              <a:gd name="connsiteX71" fmla="*/ 3860784 w 12192000"/>
              <a:gd name="connsiteY71" fmla="*/ 1265692 h 3378280"/>
              <a:gd name="connsiteX72" fmla="*/ 3997310 w 12192000"/>
              <a:gd name="connsiteY72" fmla="*/ 1281176 h 3378280"/>
              <a:gd name="connsiteX73" fmla="*/ 4040665 w 12192000"/>
              <a:gd name="connsiteY73" fmla="*/ 1291934 h 3378280"/>
              <a:gd name="connsiteX74" fmla="*/ 4046831 w 12192000"/>
              <a:gd name="connsiteY74" fmla="*/ 1293910 h 3378280"/>
              <a:gd name="connsiteX75" fmla="*/ 4095847 w 12192000"/>
              <a:gd name="connsiteY75" fmla="*/ 1316851 h 3378280"/>
              <a:gd name="connsiteX76" fmla="*/ 4101945 w 12192000"/>
              <a:gd name="connsiteY76" fmla="*/ 1313869 h 3378280"/>
              <a:gd name="connsiteX77" fmla="*/ 4119420 w 12192000"/>
              <a:gd name="connsiteY77" fmla="*/ 1313965 h 3378280"/>
              <a:gd name="connsiteX78" fmla="*/ 4131728 w 12192000"/>
              <a:gd name="connsiteY78" fmla="*/ 1322978 h 3378280"/>
              <a:gd name="connsiteX79" fmla="*/ 4193827 w 12192000"/>
              <a:gd name="connsiteY79" fmla="*/ 1350222 h 3378280"/>
              <a:gd name="connsiteX80" fmla="*/ 4286157 w 12192000"/>
              <a:gd name="connsiteY80" fmla="*/ 1385101 h 3378280"/>
              <a:gd name="connsiteX81" fmla="*/ 4298907 w 12192000"/>
              <a:gd name="connsiteY81" fmla="*/ 1394396 h 3378280"/>
              <a:gd name="connsiteX82" fmla="*/ 4323224 w 12192000"/>
              <a:gd name="connsiteY82" fmla="*/ 1403133 h 3378280"/>
              <a:gd name="connsiteX83" fmla="*/ 4404439 w 12192000"/>
              <a:gd name="connsiteY83" fmla="*/ 1417252 h 3378280"/>
              <a:gd name="connsiteX84" fmla="*/ 4423989 w 12192000"/>
              <a:gd name="connsiteY84" fmla="*/ 1410448 h 3378280"/>
              <a:gd name="connsiteX85" fmla="*/ 4427300 w 12192000"/>
              <a:gd name="connsiteY85" fmla="*/ 1409068 h 3378280"/>
              <a:gd name="connsiteX86" fmla="*/ 4441847 w 12192000"/>
              <a:gd name="connsiteY86" fmla="*/ 1408029 h 3378280"/>
              <a:gd name="connsiteX87" fmla="*/ 4444331 w 12192000"/>
              <a:gd name="connsiteY87" fmla="*/ 1402133 h 3378280"/>
              <a:gd name="connsiteX88" fmla="*/ 4492293 w 12192000"/>
              <a:gd name="connsiteY88" fmla="*/ 1396205 h 3378280"/>
              <a:gd name="connsiteX89" fmla="*/ 4623335 w 12192000"/>
              <a:gd name="connsiteY89" fmla="*/ 1400793 h 3378280"/>
              <a:gd name="connsiteX90" fmla="*/ 4700790 w 12192000"/>
              <a:gd name="connsiteY90" fmla="*/ 1399970 h 3378280"/>
              <a:gd name="connsiteX91" fmla="*/ 4728732 w 12192000"/>
              <a:gd name="connsiteY91" fmla="*/ 1394050 h 3378280"/>
              <a:gd name="connsiteX92" fmla="*/ 4768749 w 12192000"/>
              <a:gd name="connsiteY92" fmla="*/ 1389553 h 3378280"/>
              <a:gd name="connsiteX93" fmla="*/ 4838227 w 12192000"/>
              <a:gd name="connsiteY93" fmla="*/ 1377273 h 3378280"/>
              <a:gd name="connsiteX94" fmla="*/ 4904889 w 12192000"/>
              <a:gd name="connsiteY94" fmla="*/ 1373499 h 3378280"/>
              <a:gd name="connsiteX95" fmla="*/ 4949597 w 12192000"/>
              <a:gd name="connsiteY95" fmla="*/ 1374085 h 3378280"/>
              <a:gd name="connsiteX96" fmla="*/ 4956064 w 12192000"/>
              <a:gd name="connsiteY96" fmla="*/ 1374603 h 3378280"/>
              <a:gd name="connsiteX97" fmla="*/ 5009322 w 12192000"/>
              <a:gd name="connsiteY97" fmla="*/ 1385751 h 3378280"/>
              <a:gd name="connsiteX98" fmla="*/ 5014476 w 12192000"/>
              <a:gd name="connsiteY98" fmla="*/ 1381460 h 3378280"/>
              <a:gd name="connsiteX99" fmla="*/ 5031428 w 12192000"/>
              <a:gd name="connsiteY99" fmla="*/ 1377570 h 3378280"/>
              <a:gd name="connsiteX100" fmla="*/ 5045619 w 12192000"/>
              <a:gd name="connsiteY100" fmla="*/ 1383532 h 3378280"/>
              <a:gd name="connsiteX101" fmla="*/ 5112635 w 12192000"/>
              <a:gd name="connsiteY101" fmla="*/ 1395891 h 3378280"/>
              <a:gd name="connsiteX102" fmla="*/ 5210851 w 12192000"/>
              <a:gd name="connsiteY102" fmla="*/ 1408784 h 3378280"/>
              <a:gd name="connsiteX103" fmla="*/ 5225543 w 12192000"/>
              <a:gd name="connsiteY103" fmla="*/ 1414923 h 3378280"/>
              <a:gd name="connsiteX104" fmla="*/ 5321696 w 12192000"/>
              <a:gd name="connsiteY104" fmla="*/ 1432414 h 3378280"/>
              <a:gd name="connsiteX105" fmla="*/ 5372327 w 12192000"/>
              <a:gd name="connsiteY105" fmla="*/ 1436597 h 3378280"/>
              <a:gd name="connsiteX106" fmla="*/ 5378149 w 12192000"/>
              <a:gd name="connsiteY106" fmla="*/ 1431785 h 3378280"/>
              <a:gd name="connsiteX107" fmla="*/ 5393069 w 12192000"/>
              <a:gd name="connsiteY107" fmla="*/ 1433737 h 3378280"/>
              <a:gd name="connsiteX108" fmla="*/ 5527621 w 12192000"/>
              <a:gd name="connsiteY108" fmla="*/ 1458786 h 3378280"/>
              <a:gd name="connsiteX109" fmla="*/ 5680585 w 12192000"/>
              <a:gd name="connsiteY109" fmla="*/ 1498233 h 3378280"/>
              <a:gd name="connsiteX110" fmla="*/ 5783795 w 12192000"/>
              <a:gd name="connsiteY110" fmla="*/ 1499932 h 3378280"/>
              <a:gd name="connsiteX111" fmla="*/ 6016525 w 12192000"/>
              <a:gd name="connsiteY111" fmla="*/ 1577292 h 3378280"/>
              <a:gd name="connsiteX112" fmla="*/ 6186598 w 12192000"/>
              <a:gd name="connsiteY112" fmla="*/ 1606065 h 3378280"/>
              <a:gd name="connsiteX113" fmla="*/ 6197872 w 12192000"/>
              <a:gd name="connsiteY113" fmla="*/ 1616845 h 3378280"/>
              <a:gd name="connsiteX114" fmla="*/ 6212885 w 12192000"/>
              <a:gd name="connsiteY114" fmla="*/ 1624535 h 3378280"/>
              <a:gd name="connsiteX115" fmla="*/ 6319240 w 12192000"/>
              <a:gd name="connsiteY115" fmla="*/ 1660375 h 3378280"/>
              <a:gd name="connsiteX116" fmla="*/ 6333397 w 12192000"/>
              <a:gd name="connsiteY116" fmla="*/ 1658763 h 3378280"/>
              <a:gd name="connsiteX117" fmla="*/ 6357266 w 12192000"/>
              <a:gd name="connsiteY117" fmla="*/ 1659543 h 3378280"/>
              <a:gd name="connsiteX118" fmla="*/ 6418740 w 12192000"/>
              <a:gd name="connsiteY118" fmla="*/ 1648944 h 3378280"/>
              <a:gd name="connsiteX119" fmla="*/ 6458877 w 12192000"/>
              <a:gd name="connsiteY119" fmla="*/ 1662117 h 3378280"/>
              <a:gd name="connsiteX120" fmla="*/ 6467254 w 12192000"/>
              <a:gd name="connsiteY120" fmla="*/ 1664227 h 3378280"/>
              <a:gd name="connsiteX121" fmla="*/ 6467545 w 12192000"/>
              <a:gd name="connsiteY121" fmla="*/ 1664046 h 3378280"/>
              <a:gd name="connsiteX122" fmla="*/ 6476635 w 12192000"/>
              <a:gd name="connsiteY122" fmla="*/ 1665826 h 3378280"/>
              <a:gd name="connsiteX123" fmla="*/ 6482535 w 12192000"/>
              <a:gd name="connsiteY123" fmla="*/ 1668074 h 3378280"/>
              <a:gd name="connsiteX124" fmla="*/ 6498791 w 12192000"/>
              <a:gd name="connsiteY124" fmla="*/ 1672167 h 3378280"/>
              <a:gd name="connsiteX125" fmla="*/ 6505220 w 12192000"/>
              <a:gd name="connsiteY125" fmla="*/ 1672092 h 3378280"/>
              <a:gd name="connsiteX126" fmla="*/ 6508969 w 12192000"/>
              <a:gd name="connsiteY126" fmla="*/ 1669922 h 3378280"/>
              <a:gd name="connsiteX127" fmla="*/ 6544886 w 12192000"/>
              <a:gd name="connsiteY127" fmla="*/ 1670695 h 3378280"/>
              <a:gd name="connsiteX128" fmla="*/ 6617859 w 12192000"/>
              <a:gd name="connsiteY128" fmla="*/ 1679453 h 3378280"/>
              <a:gd name="connsiteX129" fmla="*/ 6657726 w 12192000"/>
              <a:gd name="connsiteY129" fmla="*/ 1687906 h 3378280"/>
              <a:gd name="connsiteX130" fmla="*/ 6769041 w 12192000"/>
              <a:gd name="connsiteY130" fmla="*/ 1707304 h 3378280"/>
              <a:gd name="connsiteX131" fmla="*/ 6882368 w 12192000"/>
              <a:gd name="connsiteY131" fmla="*/ 1723914 h 3378280"/>
              <a:gd name="connsiteX132" fmla="*/ 6968822 w 12192000"/>
              <a:gd name="connsiteY132" fmla="*/ 1723334 h 3378280"/>
              <a:gd name="connsiteX133" fmla="*/ 6973672 w 12192000"/>
              <a:gd name="connsiteY133" fmla="*/ 1726298 h 3378280"/>
              <a:gd name="connsiteX134" fmla="*/ 6981961 w 12192000"/>
              <a:gd name="connsiteY134" fmla="*/ 1729324 h 3378280"/>
              <a:gd name="connsiteX135" fmla="*/ 6982342 w 12192000"/>
              <a:gd name="connsiteY135" fmla="*/ 1729201 h 3378280"/>
              <a:gd name="connsiteX136" fmla="*/ 6989757 w 12192000"/>
              <a:gd name="connsiteY136" fmla="*/ 1732420 h 3378280"/>
              <a:gd name="connsiteX137" fmla="*/ 7023794 w 12192000"/>
              <a:gd name="connsiteY137" fmla="*/ 1750660 h 3378280"/>
              <a:gd name="connsiteX138" fmla="*/ 7090828 w 12192000"/>
              <a:gd name="connsiteY138" fmla="*/ 1750287 h 3378280"/>
              <a:gd name="connsiteX139" fmla="*/ 7114479 w 12192000"/>
              <a:gd name="connsiteY139" fmla="*/ 1754649 h 3378280"/>
              <a:gd name="connsiteX140" fmla="*/ 7162053 w 12192000"/>
              <a:gd name="connsiteY140" fmla="*/ 1772908 h 3378280"/>
              <a:gd name="connsiteX141" fmla="*/ 7167808 w 12192000"/>
              <a:gd name="connsiteY141" fmla="*/ 1773656 h 3378280"/>
              <a:gd name="connsiteX142" fmla="*/ 7187185 w 12192000"/>
              <a:gd name="connsiteY142" fmla="*/ 1787148 h 3378280"/>
              <a:gd name="connsiteX143" fmla="*/ 7216505 w 12192000"/>
              <a:gd name="connsiteY143" fmla="*/ 1804489 h 3378280"/>
              <a:gd name="connsiteX144" fmla="*/ 7219246 w 12192000"/>
              <a:gd name="connsiteY144" fmla="*/ 1804514 h 3378280"/>
              <a:gd name="connsiteX145" fmla="*/ 7230639 w 12192000"/>
              <a:gd name="connsiteY145" fmla="*/ 1813879 h 3378280"/>
              <a:gd name="connsiteX146" fmla="*/ 7236776 w 12192000"/>
              <a:gd name="connsiteY146" fmla="*/ 1825514 h 3378280"/>
              <a:gd name="connsiteX147" fmla="*/ 7394082 w 12192000"/>
              <a:gd name="connsiteY147" fmla="*/ 1877925 h 3378280"/>
              <a:gd name="connsiteX148" fmla="*/ 7505820 w 12192000"/>
              <a:gd name="connsiteY148" fmla="*/ 1933859 h 3378280"/>
              <a:gd name="connsiteX149" fmla="*/ 7572147 w 12192000"/>
              <a:gd name="connsiteY149" fmla="*/ 2003817 h 3378280"/>
              <a:gd name="connsiteX150" fmla="*/ 7828975 w 12192000"/>
              <a:gd name="connsiteY150" fmla="*/ 2061508 h 3378280"/>
              <a:gd name="connsiteX151" fmla="*/ 7886804 w 12192000"/>
              <a:gd name="connsiteY151" fmla="*/ 2075509 h 3378280"/>
              <a:gd name="connsiteX152" fmla="*/ 7923558 w 12192000"/>
              <a:gd name="connsiteY152" fmla="*/ 2103529 h 3378280"/>
              <a:gd name="connsiteX153" fmla="*/ 7947954 w 12192000"/>
              <a:gd name="connsiteY153" fmla="*/ 2104996 h 3378280"/>
              <a:gd name="connsiteX154" fmla="*/ 7952318 w 12192000"/>
              <a:gd name="connsiteY154" fmla="*/ 2105077 h 3378280"/>
              <a:gd name="connsiteX155" fmla="*/ 7966398 w 12192000"/>
              <a:gd name="connsiteY155" fmla="*/ 2109147 h 3378280"/>
              <a:gd name="connsiteX156" fmla="*/ 7974591 w 12192000"/>
              <a:gd name="connsiteY156" fmla="*/ 2105612 h 3378280"/>
              <a:gd name="connsiteX157" fmla="*/ 7998806 w 12192000"/>
              <a:gd name="connsiteY157" fmla="*/ 2108382 h 3378280"/>
              <a:gd name="connsiteX158" fmla="*/ 8023544 w 12192000"/>
              <a:gd name="connsiteY158" fmla="*/ 2117183 h 3378280"/>
              <a:gd name="connsiteX159" fmla="*/ 8136247 w 12192000"/>
              <a:gd name="connsiteY159" fmla="*/ 2164190 h 3378280"/>
              <a:gd name="connsiteX160" fmla="*/ 8206445 w 12192000"/>
              <a:gd name="connsiteY160" fmla="*/ 2189356 h 3378280"/>
              <a:gd name="connsiteX161" fmla="*/ 8237464 w 12192000"/>
              <a:gd name="connsiteY161" fmla="*/ 2194272 h 3378280"/>
              <a:gd name="connsiteX162" fmla="*/ 8277853 w 12192000"/>
              <a:gd name="connsiteY162" fmla="*/ 2204259 h 3378280"/>
              <a:gd name="connsiteX163" fmla="*/ 8352501 w 12192000"/>
              <a:gd name="connsiteY163" fmla="*/ 2218290 h 3378280"/>
              <a:gd name="connsiteX164" fmla="*/ 8446938 w 12192000"/>
              <a:gd name="connsiteY164" fmla="*/ 2243393 h 3378280"/>
              <a:gd name="connsiteX165" fmla="*/ 8497138 w 12192000"/>
              <a:gd name="connsiteY165" fmla="*/ 2281506 h 3378280"/>
              <a:gd name="connsiteX166" fmla="*/ 8506096 w 12192000"/>
              <a:gd name="connsiteY166" fmla="*/ 2280042 h 3378280"/>
              <a:gd name="connsiteX167" fmla="*/ 8549806 w 12192000"/>
              <a:gd name="connsiteY167" fmla="*/ 2296675 h 3378280"/>
              <a:gd name="connsiteX168" fmla="*/ 8680256 w 12192000"/>
              <a:gd name="connsiteY168" fmla="*/ 2378758 h 3378280"/>
              <a:gd name="connsiteX169" fmla="*/ 8766301 w 12192000"/>
              <a:gd name="connsiteY169" fmla="*/ 2410605 h 3378280"/>
              <a:gd name="connsiteX170" fmla="*/ 8800492 w 12192000"/>
              <a:gd name="connsiteY170" fmla="*/ 2418067 h 3378280"/>
              <a:gd name="connsiteX171" fmla="*/ 8857555 w 12192000"/>
              <a:gd name="connsiteY171" fmla="*/ 2430810 h 3378280"/>
              <a:gd name="connsiteX172" fmla="*/ 8951967 w 12192000"/>
              <a:gd name="connsiteY172" fmla="*/ 2460856 h 3378280"/>
              <a:gd name="connsiteX173" fmla="*/ 9002970 w 12192000"/>
              <a:gd name="connsiteY173" fmla="*/ 2472291 h 3378280"/>
              <a:gd name="connsiteX174" fmla="*/ 9081613 w 12192000"/>
              <a:gd name="connsiteY174" fmla="*/ 2488296 h 3378280"/>
              <a:gd name="connsiteX175" fmla="*/ 9091561 w 12192000"/>
              <a:gd name="connsiteY175" fmla="*/ 2494386 h 3378280"/>
              <a:gd name="connsiteX176" fmla="*/ 9140625 w 12192000"/>
              <a:gd name="connsiteY176" fmla="*/ 2486779 h 3378280"/>
              <a:gd name="connsiteX177" fmla="*/ 9271105 w 12192000"/>
              <a:gd name="connsiteY177" fmla="*/ 2511730 h 3378280"/>
              <a:gd name="connsiteX178" fmla="*/ 9295023 w 12192000"/>
              <a:gd name="connsiteY178" fmla="*/ 2512830 h 3378280"/>
              <a:gd name="connsiteX179" fmla="*/ 9321673 w 12192000"/>
              <a:gd name="connsiteY179" fmla="*/ 2524119 h 3378280"/>
              <a:gd name="connsiteX180" fmla="*/ 9378975 w 12192000"/>
              <a:gd name="connsiteY180" fmla="*/ 2543803 h 3378280"/>
              <a:gd name="connsiteX181" fmla="*/ 9414193 w 12192000"/>
              <a:gd name="connsiteY181" fmla="*/ 2562927 h 3378280"/>
              <a:gd name="connsiteX182" fmla="*/ 9426009 w 12192000"/>
              <a:gd name="connsiteY182" fmla="*/ 2558847 h 3378280"/>
              <a:gd name="connsiteX183" fmla="*/ 9450634 w 12192000"/>
              <a:gd name="connsiteY183" fmla="*/ 2560685 h 3378280"/>
              <a:gd name="connsiteX184" fmla="*/ 9549097 w 12192000"/>
              <a:gd name="connsiteY184" fmla="*/ 2585168 h 3378280"/>
              <a:gd name="connsiteX185" fmla="*/ 9567633 w 12192000"/>
              <a:gd name="connsiteY185" fmla="*/ 2587105 h 3378280"/>
              <a:gd name="connsiteX186" fmla="*/ 9586878 w 12192000"/>
              <a:gd name="connsiteY186" fmla="*/ 2596659 h 3378280"/>
              <a:gd name="connsiteX187" fmla="*/ 9589974 w 12192000"/>
              <a:gd name="connsiteY187" fmla="*/ 2598235 h 3378280"/>
              <a:gd name="connsiteX188" fmla="*/ 9590570 w 12192000"/>
              <a:gd name="connsiteY188" fmla="*/ 2598249 h 3378280"/>
              <a:gd name="connsiteX189" fmla="*/ 9591896 w 12192000"/>
              <a:gd name="connsiteY189" fmla="*/ 2599214 h 3378280"/>
              <a:gd name="connsiteX190" fmla="*/ 9604535 w 12192000"/>
              <a:gd name="connsiteY190" fmla="*/ 2605654 h 3378280"/>
              <a:gd name="connsiteX191" fmla="*/ 9610554 w 12192000"/>
              <a:gd name="connsiteY191" fmla="*/ 2606189 h 3378280"/>
              <a:gd name="connsiteX192" fmla="*/ 9690072 w 12192000"/>
              <a:gd name="connsiteY192" fmla="*/ 2638745 h 3378280"/>
              <a:gd name="connsiteX193" fmla="*/ 9726964 w 12192000"/>
              <a:gd name="connsiteY193" fmla="*/ 2653728 h 3378280"/>
              <a:gd name="connsiteX194" fmla="*/ 9738036 w 12192000"/>
              <a:gd name="connsiteY194" fmla="*/ 2654794 h 3378280"/>
              <a:gd name="connsiteX195" fmla="*/ 9774202 w 12192000"/>
              <a:gd name="connsiteY195" fmla="*/ 2671509 h 3378280"/>
              <a:gd name="connsiteX196" fmla="*/ 9793246 w 12192000"/>
              <a:gd name="connsiteY196" fmla="*/ 2675245 h 3378280"/>
              <a:gd name="connsiteX197" fmla="*/ 9890301 w 12192000"/>
              <a:gd name="connsiteY197" fmla="*/ 2700274 h 3378280"/>
              <a:gd name="connsiteX198" fmla="*/ 9915070 w 12192000"/>
              <a:gd name="connsiteY198" fmla="*/ 2699250 h 3378280"/>
              <a:gd name="connsiteX199" fmla="*/ 9976517 w 12192000"/>
              <a:gd name="connsiteY199" fmla="*/ 2732899 h 3378280"/>
              <a:gd name="connsiteX200" fmla="*/ 9990168 w 12192000"/>
              <a:gd name="connsiteY200" fmla="*/ 2737877 h 3378280"/>
              <a:gd name="connsiteX201" fmla="*/ 9995041 w 12192000"/>
              <a:gd name="connsiteY201" fmla="*/ 2741223 h 3378280"/>
              <a:gd name="connsiteX202" fmla="*/ 10012636 w 12192000"/>
              <a:gd name="connsiteY202" fmla="*/ 2729876 h 3378280"/>
              <a:gd name="connsiteX203" fmla="*/ 10044280 w 12192000"/>
              <a:gd name="connsiteY203" fmla="*/ 2726966 h 3378280"/>
              <a:gd name="connsiteX204" fmla="*/ 10057934 w 12192000"/>
              <a:gd name="connsiteY204" fmla="*/ 2735671 h 3378280"/>
              <a:gd name="connsiteX205" fmla="*/ 10148373 w 12192000"/>
              <a:gd name="connsiteY205" fmla="*/ 2778987 h 3378280"/>
              <a:gd name="connsiteX206" fmla="*/ 10176601 w 12192000"/>
              <a:gd name="connsiteY206" fmla="*/ 2791940 h 3378280"/>
              <a:gd name="connsiteX207" fmla="*/ 10235082 w 12192000"/>
              <a:gd name="connsiteY207" fmla="*/ 2816761 h 3378280"/>
              <a:gd name="connsiteX208" fmla="*/ 10421684 w 12192000"/>
              <a:gd name="connsiteY208" fmla="*/ 2833871 h 3378280"/>
              <a:gd name="connsiteX209" fmla="*/ 10507376 w 12192000"/>
              <a:gd name="connsiteY209" fmla="*/ 2822262 h 3378280"/>
              <a:gd name="connsiteX210" fmla="*/ 10738376 w 12192000"/>
              <a:gd name="connsiteY210" fmla="*/ 2833353 h 3378280"/>
              <a:gd name="connsiteX211" fmla="*/ 11043443 w 12192000"/>
              <a:gd name="connsiteY211" fmla="*/ 2803954 h 3378280"/>
              <a:gd name="connsiteX212" fmla="*/ 11115269 w 12192000"/>
              <a:gd name="connsiteY212" fmla="*/ 2823367 h 3378280"/>
              <a:gd name="connsiteX213" fmla="*/ 11147582 w 12192000"/>
              <a:gd name="connsiteY213" fmla="*/ 2822547 h 3378280"/>
              <a:gd name="connsiteX214" fmla="*/ 11201205 w 12192000"/>
              <a:gd name="connsiteY214" fmla="*/ 2818210 h 3378280"/>
              <a:gd name="connsiteX215" fmla="*/ 11391726 w 12192000"/>
              <a:gd name="connsiteY215" fmla="*/ 2826386 h 3378280"/>
              <a:gd name="connsiteX216" fmla="*/ 11507640 w 12192000"/>
              <a:gd name="connsiteY216" fmla="*/ 2824866 h 3378280"/>
              <a:gd name="connsiteX217" fmla="*/ 11718056 w 12192000"/>
              <a:gd name="connsiteY217" fmla="*/ 2821969 h 3378280"/>
              <a:gd name="connsiteX218" fmla="*/ 11937926 w 12192000"/>
              <a:gd name="connsiteY218" fmla="*/ 2817058 h 3378280"/>
              <a:gd name="connsiteX219" fmla="*/ 12035355 w 12192000"/>
              <a:gd name="connsiteY219" fmla="*/ 2813340 h 3378280"/>
              <a:gd name="connsiteX220" fmla="*/ 12179047 w 12192000"/>
              <a:gd name="connsiteY220" fmla="*/ 2788508 h 3378280"/>
              <a:gd name="connsiteX221" fmla="*/ 12192000 w 12192000"/>
              <a:gd name="connsiteY221" fmla="*/ 2788486 h 3378280"/>
              <a:gd name="connsiteX222" fmla="*/ 12192000 w 12192000"/>
              <a:gd name="connsiteY222" fmla="*/ 3378280 h 3378280"/>
              <a:gd name="connsiteX223" fmla="*/ 0 w 12192000"/>
              <a:gd name="connsiteY223" fmla="*/ 3378280 h 3378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Lst>
            <a:rect l="l" t="t" r="r" b="b"/>
            <a:pathLst>
              <a:path w="12192000" h="3378280">
                <a:moveTo>
                  <a:pt x="0" y="0"/>
                </a:moveTo>
                <a:lnTo>
                  <a:pt x="13973" y="3431"/>
                </a:lnTo>
                <a:cubicBezTo>
                  <a:pt x="48258" y="17773"/>
                  <a:pt x="68757" y="59402"/>
                  <a:pt x="86774" y="43536"/>
                </a:cubicBezTo>
                <a:cubicBezTo>
                  <a:pt x="86532" y="72023"/>
                  <a:pt x="217976" y="120568"/>
                  <a:pt x="229780" y="145557"/>
                </a:cubicBezTo>
                <a:lnTo>
                  <a:pt x="302639" y="203425"/>
                </a:lnTo>
                <a:cubicBezTo>
                  <a:pt x="312906" y="207200"/>
                  <a:pt x="342855" y="184923"/>
                  <a:pt x="348081" y="187174"/>
                </a:cubicBezTo>
                <a:lnTo>
                  <a:pt x="436950" y="184066"/>
                </a:lnTo>
                <a:lnTo>
                  <a:pt x="501693" y="233225"/>
                </a:lnTo>
                <a:lnTo>
                  <a:pt x="557201" y="312390"/>
                </a:lnTo>
                <a:cubicBezTo>
                  <a:pt x="579844" y="353675"/>
                  <a:pt x="602207" y="315301"/>
                  <a:pt x="617648" y="333897"/>
                </a:cubicBezTo>
                <a:lnTo>
                  <a:pt x="692332" y="386327"/>
                </a:lnTo>
                <a:cubicBezTo>
                  <a:pt x="715261" y="398377"/>
                  <a:pt x="770477" y="414831"/>
                  <a:pt x="802009" y="419027"/>
                </a:cubicBezTo>
                <a:cubicBezTo>
                  <a:pt x="838953" y="433876"/>
                  <a:pt x="886385" y="473956"/>
                  <a:pt x="914003" y="475419"/>
                </a:cubicBezTo>
                <a:cubicBezTo>
                  <a:pt x="923483" y="477324"/>
                  <a:pt x="931440" y="475817"/>
                  <a:pt x="938561" y="472887"/>
                </a:cubicBezTo>
                <a:lnTo>
                  <a:pt x="1035683" y="486697"/>
                </a:lnTo>
                <a:cubicBezTo>
                  <a:pt x="1035708" y="486708"/>
                  <a:pt x="1035733" y="486720"/>
                  <a:pt x="1035757" y="486731"/>
                </a:cubicBezTo>
                <a:cubicBezTo>
                  <a:pt x="1046500" y="494574"/>
                  <a:pt x="1038533" y="500311"/>
                  <a:pt x="1074336" y="494465"/>
                </a:cubicBezTo>
                <a:cubicBezTo>
                  <a:pt x="1137289" y="530436"/>
                  <a:pt x="1235340" y="545106"/>
                  <a:pt x="1285084" y="589112"/>
                </a:cubicBezTo>
                <a:cubicBezTo>
                  <a:pt x="1341251" y="608873"/>
                  <a:pt x="1367674" y="637988"/>
                  <a:pt x="1409116" y="656332"/>
                </a:cubicBezTo>
                <a:cubicBezTo>
                  <a:pt x="1471208" y="682449"/>
                  <a:pt x="1492207" y="692779"/>
                  <a:pt x="1533725" y="699179"/>
                </a:cubicBezTo>
                <a:cubicBezTo>
                  <a:pt x="1592391" y="718911"/>
                  <a:pt x="1575207" y="737633"/>
                  <a:pt x="1636242" y="741533"/>
                </a:cubicBezTo>
                <a:cubicBezTo>
                  <a:pt x="1638264" y="746130"/>
                  <a:pt x="1700806" y="766849"/>
                  <a:pt x="1704848" y="770749"/>
                </a:cubicBezTo>
                <a:lnTo>
                  <a:pt x="1718292" y="781051"/>
                </a:lnTo>
                <a:lnTo>
                  <a:pt x="1720835" y="781117"/>
                </a:lnTo>
                <a:lnTo>
                  <a:pt x="1753341" y="800301"/>
                </a:lnTo>
                <a:lnTo>
                  <a:pt x="1775454" y="815182"/>
                </a:lnTo>
                <a:lnTo>
                  <a:pt x="1781011" y="816068"/>
                </a:lnTo>
                <a:lnTo>
                  <a:pt x="1817738" y="834926"/>
                </a:lnTo>
                <a:cubicBezTo>
                  <a:pt x="1821156" y="833953"/>
                  <a:pt x="1825209" y="834074"/>
                  <a:pt x="1830702" y="836485"/>
                </a:cubicBezTo>
                <a:cubicBezTo>
                  <a:pt x="1832151" y="819591"/>
                  <a:pt x="1837883" y="832919"/>
                  <a:pt x="1853950" y="841519"/>
                </a:cubicBezTo>
                <a:cubicBezTo>
                  <a:pt x="1859780" y="817198"/>
                  <a:pt x="1899456" y="849599"/>
                  <a:pt x="1915890" y="841983"/>
                </a:cubicBezTo>
                <a:lnTo>
                  <a:pt x="1960900" y="865789"/>
                </a:lnTo>
                <a:lnTo>
                  <a:pt x="1961217" y="865662"/>
                </a:lnTo>
                <a:cubicBezTo>
                  <a:pt x="1963265" y="866017"/>
                  <a:pt x="1965977" y="867037"/>
                  <a:pt x="1969825" y="869049"/>
                </a:cubicBezTo>
                <a:lnTo>
                  <a:pt x="1975234" y="872329"/>
                </a:lnTo>
                <a:lnTo>
                  <a:pt x="1990485" y="879288"/>
                </a:lnTo>
                <a:lnTo>
                  <a:pt x="1996793" y="880361"/>
                </a:lnTo>
                <a:cubicBezTo>
                  <a:pt x="2020465" y="879540"/>
                  <a:pt x="2023446" y="845377"/>
                  <a:pt x="2055091" y="872818"/>
                </a:cubicBezTo>
                <a:cubicBezTo>
                  <a:pt x="2098055" y="882341"/>
                  <a:pt x="2125216" y="870433"/>
                  <a:pt x="2165143" y="892293"/>
                </a:cubicBezTo>
                <a:cubicBezTo>
                  <a:pt x="2205365" y="901134"/>
                  <a:pt x="2239987" y="901455"/>
                  <a:pt x="2274196" y="914768"/>
                </a:cubicBezTo>
                <a:cubicBezTo>
                  <a:pt x="2310666" y="921868"/>
                  <a:pt x="2360104" y="931320"/>
                  <a:pt x="2383986" y="934891"/>
                </a:cubicBezTo>
                <a:lnTo>
                  <a:pt x="2420278" y="933890"/>
                </a:lnTo>
                <a:lnTo>
                  <a:pt x="2426203" y="933891"/>
                </a:lnTo>
                <a:lnTo>
                  <a:pt x="2448674" y="941056"/>
                </a:lnTo>
                <a:cubicBezTo>
                  <a:pt x="2452907" y="942503"/>
                  <a:pt x="2455711" y="943098"/>
                  <a:pt x="2457640" y="943105"/>
                </a:cubicBezTo>
                <a:lnTo>
                  <a:pt x="2457852" y="942912"/>
                </a:lnTo>
                <a:lnTo>
                  <a:pt x="2466265" y="945310"/>
                </a:lnTo>
                <a:cubicBezTo>
                  <a:pt x="2480470" y="949908"/>
                  <a:pt x="2494307" y="954915"/>
                  <a:pt x="2507496" y="960111"/>
                </a:cubicBezTo>
                <a:cubicBezTo>
                  <a:pt x="2518208" y="949036"/>
                  <a:pt x="2567155" y="976345"/>
                  <a:pt x="2561127" y="949411"/>
                </a:cubicBezTo>
                <a:cubicBezTo>
                  <a:pt x="2578896" y="955660"/>
                  <a:pt x="2589900" y="968806"/>
                  <a:pt x="2583467" y="950570"/>
                </a:cubicBezTo>
                <a:cubicBezTo>
                  <a:pt x="2589300" y="952141"/>
                  <a:pt x="2592850" y="951536"/>
                  <a:pt x="2595361" y="949884"/>
                </a:cubicBezTo>
                <a:lnTo>
                  <a:pt x="2596075" y="949000"/>
                </a:lnTo>
                <a:lnTo>
                  <a:pt x="2666638" y="975095"/>
                </a:lnTo>
                <a:lnTo>
                  <a:pt x="2703393" y="989635"/>
                </a:lnTo>
                <a:lnTo>
                  <a:pt x="2705616" y="989244"/>
                </a:lnTo>
                <a:lnTo>
                  <a:pt x="2721898" y="997777"/>
                </a:lnTo>
                <a:cubicBezTo>
                  <a:pt x="2727157" y="1001198"/>
                  <a:pt x="2731840" y="1005088"/>
                  <a:pt x="2735669" y="1009612"/>
                </a:cubicBezTo>
                <a:cubicBezTo>
                  <a:pt x="2790086" y="1002732"/>
                  <a:pt x="2797958" y="1020231"/>
                  <a:pt x="2857526" y="1030627"/>
                </a:cubicBezTo>
                <a:cubicBezTo>
                  <a:pt x="2897602" y="1063034"/>
                  <a:pt x="2965720" y="1083366"/>
                  <a:pt x="3021918" y="1088093"/>
                </a:cubicBezTo>
                <a:cubicBezTo>
                  <a:pt x="3054425" y="1110664"/>
                  <a:pt x="3109014" y="1101433"/>
                  <a:pt x="3155458" y="1121618"/>
                </a:cubicBezTo>
                <a:cubicBezTo>
                  <a:pt x="3217017" y="1136576"/>
                  <a:pt x="3270135" y="1143600"/>
                  <a:pt x="3328229" y="1155903"/>
                </a:cubicBezTo>
                <a:cubicBezTo>
                  <a:pt x="3365862" y="1138978"/>
                  <a:pt x="3408797" y="1179981"/>
                  <a:pt x="3448440" y="1184343"/>
                </a:cubicBezTo>
                <a:cubicBezTo>
                  <a:pt x="3438226" y="1205566"/>
                  <a:pt x="3496361" y="1182183"/>
                  <a:pt x="3499287" y="1209472"/>
                </a:cubicBezTo>
                <a:cubicBezTo>
                  <a:pt x="3506411" y="1209402"/>
                  <a:pt x="3513215" y="1208473"/>
                  <a:pt x="3520027" y="1207338"/>
                </a:cubicBezTo>
                <a:lnTo>
                  <a:pt x="3523594" y="1206755"/>
                </a:lnTo>
                <a:lnTo>
                  <a:pt x="3538013" y="1209066"/>
                </a:lnTo>
                <a:lnTo>
                  <a:pt x="3541918" y="1203922"/>
                </a:lnTo>
                <a:cubicBezTo>
                  <a:pt x="3550592" y="1203930"/>
                  <a:pt x="3560995" y="1202529"/>
                  <a:pt x="3590082" y="1209115"/>
                </a:cubicBezTo>
                <a:cubicBezTo>
                  <a:pt x="3622244" y="1230604"/>
                  <a:pt x="3676827" y="1215544"/>
                  <a:pt x="3716445" y="1243431"/>
                </a:cubicBezTo>
                <a:cubicBezTo>
                  <a:pt x="3731486" y="1251699"/>
                  <a:pt x="3780926" y="1265146"/>
                  <a:pt x="3792028" y="1260288"/>
                </a:cubicBezTo>
                <a:cubicBezTo>
                  <a:pt x="3802696" y="1261567"/>
                  <a:pt x="3814066" y="1267606"/>
                  <a:pt x="3820707" y="1260924"/>
                </a:cubicBezTo>
                <a:cubicBezTo>
                  <a:pt x="3830836" y="1253486"/>
                  <a:pt x="3863215" y="1278527"/>
                  <a:pt x="3860784" y="1265692"/>
                </a:cubicBezTo>
                <a:lnTo>
                  <a:pt x="3997310" y="1281176"/>
                </a:lnTo>
                <a:lnTo>
                  <a:pt x="4040665" y="1291934"/>
                </a:lnTo>
                <a:lnTo>
                  <a:pt x="4046831" y="1293910"/>
                </a:lnTo>
                <a:lnTo>
                  <a:pt x="4095847" y="1316851"/>
                </a:lnTo>
                <a:cubicBezTo>
                  <a:pt x="4097518" y="1315619"/>
                  <a:pt x="4099569" y="1314612"/>
                  <a:pt x="4101945" y="1313869"/>
                </a:cubicBezTo>
                <a:lnTo>
                  <a:pt x="4119420" y="1313965"/>
                </a:lnTo>
                <a:lnTo>
                  <a:pt x="4131728" y="1322978"/>
                </a:lnTo>
                <a:lnTo>
                  <a:pt x="4193827" y="1350222"/>
                </a:lnTo>
                <a:lnTo>
                  <a:pt x="4286157" y="1385101"/>
                </a:lnTo>
                <a:lnTo>
                  <a:pt x="4298907" y="1394396"/>
                </a:lnTo>
                <a:lnTo>
                  <a:pt x="4323224" y="1403133"/>
                </a:lnTo>
                <a:lnTo>
                  <a:pt x="4404439" y="1417252"/>
                </a:lnTo>
                <a:cubicBezTo>
                  <a:pt x="4411321" y="1415560"/>
                  <a:pt x="4417679" y="1413105"/>
                  <a:pt x="4423989" y="1410448"/>
                </a:cubicBezTo>
                <a:lnTo>
                  <a:pt x="4427300" y="1409068"/>
                </a:lnTo>
                <a:lnTo>
                  <a:pt x="4441847" y="1408029"/>
                </a:lnTo>
                <a:lnTo>
                  <a:pt x="4444331" y="1402133"/>
                </a:lnTo>
                <a:cubicBezTo>
                  <a:pt x="4452739" y="1400163"/>
                  <a:pt x="4462460" y="1396428"/>
                  <a:pt x="4492293" y="1396205"/>
                </a:cubicBezTo>
                <a:cubicBezTo>
                  <a:pt x="4528861" y="1409788"/>
                  <a:pt x="4577933" y="1382688"/>
                  <a:pt x="4623335" y="1400793"/>
                </a:cubicBezTo>
                <a:cubicBezTo>
                  <a:pt x="4639986" y="1405413"/>
                  <a:pt x="4691262" y="1407228"/>
                  <a:pt x="4700790" y="1399970"/>
                </a:cubicBezTo>
                <a:cubicBezTo>
                  <a:pt x="4711447" y="1398782"/>
                  <a:pt x="4723982" y="1402066"/>
                  <a:pt x="4728732" y="1394050"/>
                </a:cubicBezTo>
                <a:cubicBezTo>
                  <a:pt x="4736666" y="1384502"/>
                  <a:pt x="4774338" y="1401491"/>
                  <a:pt x="4768749" y="1389553"/>
                </a:cubicBezTo>
                <a:cubicBezTo>
                  <a:pt x="4795495" y="1401233"/>
                  <a:pt x="4816075" y="1381410"/>
                  <a:pt x="4838227" y="1377273"/>
                </a:cubicBezTo>
                <a:lnTo>
                  <a:pt x="4904889" y="1373499"/>
                </a:lnTo>
                <a:lnTo>
                  <a:pt x="4949597" y="1374085"/>
                </a:lnTo>
                <a:lnTo>
                  <a:pt x="4956064" y="1374603"/>
                </a:lnTo>
                <a:lnTo>
                  <a:pt x="5009322" y="1385751"/>
                </a:lnTo>
                <a:cubicBezTo>
                  <a:pt x="5010629" y="1384171"/>
                  <a:pt x="5012363" y="1382724"/>
                  <a:pt x="5014476" y="1381460"/>
                </a:cubicBezTo>
                <a:lnTo>
                  <a:pt x="5031428" y="1377570"/>
                </a:lnTo>
                <a:lnTo>
                  <a:pt x="5045619" y="1383532"/>
                </a:lnTo>
                <a:lnTo>
                  <a:pt x="5112635" y="1395891"/>
                </a:lnTo>
                <a:lnTo>
                  <a:pt x="5210851" y="1408784"/>
                </a:lnTo>
                <a:lnTo>
                  <a:pt x="5225543" y="1414923"/>
                </a:lnTo>
                <a:cubicBezTo>
                  <a:pt x="5259311" y="1422389"/>
                  <a:pt x="5300520" y="1417803"/>
                  <a:pt x="5321696" y="1432414"/>
                </a:cubicBezTo>
                <a:lnTo>
                  <a:pt x="5372327" y="1436597"/>
                </a:lnTo>
                <a:lnTo>
                  <a:pt x="5378149" y="1431785"/>
                </a:lnTo>
                <a:lnTo>
                  <a:pt x="5393069" y="1433737"/>
                </a:lnTo>
                <a:lnTo>
                  <a:pt x="5527621" y="1458786"/>
                </a:lnTo>
                <a:cubicBezTo>
                  <a:pt x="5595913" y="1482782"/>
                  <a:pt x="5624062" y="1464011"/>
                  <a:pt x="5680585" y="1498233"/>
                </a:cubicBezTo>
                <a:cubicBezTo>
                  <a:pt x="5671953" y="1485766"/>
                  <a:pt x="5763880" y="1493019"/>
                  <a:pt x="5783795" y="1499932"/>
                </a:cubicBezTo>
                <a:cubicBezTo>
                  <a:pt x="5806935" y="1511749"/>
                  <a:pt x="5950173" y="1559636"/>
                  <a:pt x="6016525" y="1577292"/>
                </a:cubicBezTo>
                <a:cubicBezTo>
                  <a:pt x="6077908" y="1586145"/>
                  <a:pt x="6125458" y="1613138"/>
                  <a:pt x="6186598" y="1606065"/>
                </a:cubicBezTo>
                <a:cubicBezTo>
                  <a:pt x="6189351" y="1610205"/>
                  <a:pt x="6193226" y="1613745"/>
                  <a:pt x="6197872" y="1616845"/>
                </a:cubicBezTo>
                <a:lnTo>
                  <a:pt x="6212885" y="1624535"/>
                </a:lnTo>
                <a:lnTo>
                  <a:pt x="6319240" y="1660375"/>
                </a:lnTo>
                <a:lnTo>
                  <a:pt x="6333397" y="1658763"/>
                </a:lnTo>
                <a:cubicBezTo>
                  <a:pt x="6332062" y="1641958"/>
                  <a:pt x="6339931" y="1653989"/>
                  <a:pt x="6357266" y="1659543"/>
                </a:cubicBezTo>
                <a:cubicBezTo>
                  <a:pt x="6359058" y="1634684"/>
                  <a:pt x="6403697" y="1659337"/>
                  <a:pt x="6418740" y="1648944"/>
                </a:cubicBezTo>
                <a:cubicBezTo>
                  <a:pt x="6431434" y="1653585"/>
                  <a:pt x="6444892" y="1658041"/>
                  <a:pt x="6458877" y="1662117"/>
                </a:cubicBezTo>
                <a:lnTo>
                  <a:pt x="6467254" y="1664227"/>
                </a:lnTo>
                <a:lnTo>
                  <a:pt x="6467545" y="1664046"/>
                </a:lnTo>
                <a:cubicBezTo>
                  <a:pt x="6469635" y="1664026"/>
                  <a:pt x="6472488" y="1664540"/>
                  <a:pt x="6476635" y="1665826"/>
                </a:cubicBezTo>
                <a:lnTo>
                  <a:pt x="6482535" y="1668074"/>
                </a:lnTo>
                <a:lnTo>
                  <a:pt x="6498791" y="1672167"/>
                </a:lnTo>
                <a:lnTo>
                  <a:pt x="6505220" y="1672092"/>
                </a:lnTo>
                <a:lnTo>
                  <a:pt x="6508969" y="1669922"/>
                </a:lnTo>
                <a:lnTo>
                  <a:pt x="6544886" y="1670695"/>
                </a:lnTo>
                <a:cubicBezTo>
                  <a:pt x="6566195" y="1684748"/>
                  <a:pt x="6578985" y="1674687"/>
                  <a:pt x="6617859" y="1679453"/>
                </a:cubicBezTo>
                <a:cubicBezTo>
                  <a:pt x="6628154" y="1690316"/>
                  <a:pt x="6642041" y="1690691"/>
                  <a:pt x="6657726" y="1687906"/>
                </a:cubicBezTo>
                <a:cubicBezTo>
                  <a:pt x="6690709" y="1699790"/>
                  <a:pt x="6728158" y="1699639"/>
                  <a:pt x="6769041" y="1707304"/>
                </a:cubicBezTo>
                <a:cubicBezTo>
                  <a:pt x="6805580" y="1727028"/>
                  <a:pt x="6838723" y="1715650"/>
                  <a:pt x="6882368" y="1723914"/>
                </a:cubicBezTo>
                <a:lnTo>
                  <a:pt x="6968822" y="1723334"/>
                </a:lnTo>
                <a:lnTo>
                  <a:pt x="6973672" y="1726298"/>
                </a:lnTo>
                <a:cubicBezTo>
                  <a:pt x="6977223" y="1728111"/>
                  <a:pt x="6979851" y="1729020"/>
                  <a:pt x="6981961" y="1729324"/>
                </a:cubicBezTo>
                <a:lnTo>
                  <a:pt x="6982342" y="1729201"/>
                </a:lnTo>
                <a:lnTo>
                  <a:pt x="6989757" y="1732420"/>
                </a:lnTo>
                <a:cubicBezTo>
                  <a:pt x="7001869" y="1738303"/>
                  <a:pt x="7013262" y="1744453"/>
                  <a:pt x="7023794" y="1750660"/>
                </a:cubicBezTo>
                <a:cubicBezTo>
                  <a:pt x="7043973" y="1743394"/>
                  <a:pt x="7076983" y="1772878"/>
                  <a:pt x="7090828" y="1750287"/>
                </a:cubicBezTo>
                <a:cubicBezTo>
                  <a:pt x="7105590" y="1758041"/>
                  <a:pt x="7107688" y="1770308"/>
                  <a:pt x="7114479" y="1754649"/>
                </a:cubicBezTo>
                <a:cubicBezTo>
                  <a:pt x="7126350" y="1758420"/>
                  <a:pt x="7153167" y="1769741"/>
                  <a:pt x="7162053" y="1772908"/>
                </a:cubicBezTo>
                <a:lnTo>
                  <a:pt x="7167808" y="1773656"/>
                </a:lnTo>
                <a:lnTo>
                  <a:pt x="7187185" y="1787148"/>
                </a:lnTo>
                <a:lnTo>
                  <a:pt x="7216505" y="1804489"/>
                </a:lnTo>
                <a:lnTo>
                  <a:pt x="7219246" y="1804514"/>
                </a:lnTo>
                <a:lnTo>
                  <a:pt x="7230639" y="1813879"/>
                </a:lnTo>
                <a:cubicBezTo>
                  <a:pt x="7233815" y="1817438"/>
                  <a:pt x="7236006" y="1821285"/>
                  <a:pt x="7236776" y="1825514"/>
                </a:cubicBezTo>
                <a:cubicBezTo>
                  <a:pt x="7301762" y="1828337"/>
                  <a:pt x="7336564" y="1860417"/>
                  <a:pt x="7394082" y="1877925"/>
                </a:cubicBezTo>
                <a:cubicBezTo>
                  <a:pt x="7452342" y="1904287"/>
                  <a:pt x="7466551" y="1917411"/>
                  <a:pt x="7505820" y="1933859"/>
                </a:cubicBezTo>
                <a:cubicBezTo>
                  <a:pt x="7522528" y="1943253"/>
                  <a:pt x="7574803" y="2016599"/>
                  <a:pt x="7572147" y="2003817"/>
                </a:cubicBezTo>
                <a:cubicBezTo>
                  <a:pt x="7612486" y="2043915"/>
                  <a:pt x="7771831" y="2029022"/>
                  <a:pt x="7828975" y="2061508"/>
                </a:cubicBezTo>
                <a:lnTo>
                  <a:pt x="7886804" y="2075509"/>
                </a:lnTo>
                <a:cubicBezTo>
                  <a:pt x="7859463" y="2091010"/>
                  <a:pt x="7941076" y="2081130"/>
                  <a:pt x="7923558" y="2103529"/>
                </a:cubicBezTo>
                <a:lnTo>
                  <a:pt x="7947954" y="2104996"/>
                </a:lnTo>
                <a:lnTo>
                  <a:pt x="7952318" y="2105077"/>
                </a:lnTo>
                <a:lnTo>
                  <a:pt x="7966398" y="2109147"/>
                </a:lnTo>
                <a:lnTo>
                  <a:pt x="7974591" y="2105612"/>
                </a:lnTo>
                <a:lnTo>
                  <a:pt x="7998806" y="2108382"/>
                </a:lnTo>
                <a:cubicBezTo>
                  <a:pt x="8007224" y="2110145"/>
                  <a:pt x="8015519" y="2112885"/>
                  <a:pt x="8023544" y="2117183"/>
                </a:cubicBezTo>
                <a:cubicBezTo>
                  <a:pt x="8042536" y="2139405"/>
                  <a:pt x="8113922" y="2135674"/>
                  <a:pt x="8136247" y="2164190"/>
                </a:cubicBezTo>
                <a:cubicBezTo>
                  <a:pt x="8146485" y="2173150"/>
                  <a:pt x="8190564" y="2191557"/>
                  <a:pt x="8206445" y="2189356"/>
                </a:cubicBezTo>
                <a:cubicBezTo>
                  <a:pt x="8217189" y="2192022"/>
                  <a:pt x="8225092" y="2198625"/>
                  <a:pt x="8237464" y="2194272"/>
                </a:cubicBezTo>
                <a:cubicBezTo>
                  <a:pt x="8254235" y="2189840"/>
                  <a:pt x="8270768" y="2214957"/>
                  <a:pt x="8277853" y="2204259"/>
                </a:cubicBezTo>
                <a:cubicBezTo>
                  <a:pt x="8289971" y="2221808"/>
                  <a:pt x="8328475" y="2213978"/>
                  <a:pt x="8352501" y="2218290"/>
                </a:cubicBezTo>
                <a:cubicBezTo>
                  <a:pt x="8359916" y="2233716"/>
                  <a:pt x="8403014" y="2227555"/>
                  <a:pt x="8446938" y="2243393"/>
                </a:cubicBezTo>
                <a:cubicBezTo>
                  <a:pt x="8454511" y="2260801"/>
                  <a:pt x="8476684" y="2253935"/>
                  <a:pt x="8497138" y="2281506"/>
                </a:cubicBezTo>
                <a:cubicBezTo>
                  <a:pt x="8499906" y="2280770"/>
                  <a:pt x="8502925" y="2280276"/>
                  <a:pt x="8506096" y="2280042"/>
                </a:cubicBezTo>
                <a:cubicBezTo>
                  <a:pt x="8524529" y="2278674"/>
                  <a:pt x="8544098" y="2286123"/>
                  <a:pt x="8549806" y="2296675"/>
                </a:cubicBezTo>
                <a:cubicBezTo>
                  <a:pt x="8586026" y="2337107"/>
                  <a:pt x="8636988" y="2356250"/>
                  <a:pt x="8680256" y="2378758"/>
                </a:cubicBezTo>
                <a:cubicBezTo>
                  <a:pt x="8731302" y="2402123"/>
                  <a:pt x="8717522" y="2366494"/>
                  <a:pt x="8766301" y="2410605"/>
                </a:cubicBezTo>
                <a:cubicBezTo>
                  <a:pt x="8780965" y="2405907"/>
                  <a:pt x="8789790" y="2408871"/>
                  <a:pt x="8800492" y="2418067"/>
                </a:cubicBezTo>
                <a:cubicBezTo>
                  <a:pt x="8825856" y="2428860"/>
                  <a:pt x="8842594" y="2409144"/>
                  <a:pt x="8857555" y="2430810"/>
                </a:cubicBezTo>
                <a:cubicBezTo>
                  <a:pt x="8882799" y="2437942"/>
                  <a:pt x="8927730" y="2453942"/>
                  <a:pt x="8951967" y="2460856"/>
                </a:cubicBezTo>
                <a:cubicBezTo>
                  <a:pt x="8978331" y="2469875"/>
                  <a:pt x="8959838" y="2488515"/>
                  <a:pt x="9002970" y="2472291"/>
                </a:cubicBezTo>
                <a:cubicBezTo>
                  <a:pt x="9023997" y="2488383"/>
                  <a:pt x="9039735" y="2479669"/>
                  <a:pt x="9081613" y="2488296"/>
                </a:cubicBezTo>
                <a:lnTo>
                  <a:pt x="9091561" y="2494386"/>
                </a:lnTo>
                <a:lnTo>
                  <a:pt x="9140625" y="2486779"/>
                </a:lnTo>
                <a:cubicBezTo>
                  <a:pt x="9207053" y="2531245"/>
                  <a:pt x="9151264" y="2467994"/>
                  <a:pt x="9271105" y="2511730"/>
                </a:cubicBezTo>
                <a:cubicBezTo>
                  <a:pt x="9275764" y="2517275"/>
                  <a:pt x="9293352" y="2518083"/>
                  <a:pt x="9295023" y="2512830"/>
                </a:cubicBezTo>
                <a:cubicBezTo>
                  <a:pt x="9301933" y="2516606"/>
                  <a:pt x="9314623" y="2531276"/>
                  <a:pt x="9321673" y="2524119"/>
                </a:cubicBezTo>
                <a:cubicBezTo>
                  <a:pt x="9341881" y="2529408"/>
                  <a:pt x="9361130" y="2536033"/>
                  <a:pt x="9378975" y="2543803"/>
                </a:cubicBezTo>
                <a:lnTo>
                  <a:pt x="9414193" y="2562927"/>
                </a:lnTo>
                <a:lnTo>
                  <a:pt x="9426009" y="2558847"/>
                </a:lnTo>
                <a:cubicBezTo>
                  <a:pt x="9433598" y="2557225"/>
                  <a:pt x="9441714" y="2557145"/>
                  <a:pt x="9450634" y="2560685"/>
                </a:cubicBezTo>
                <a:cubicBezTo>
                  <a:pt x="9496298" y="2596479"/>
                  <a:pt x="9461586" y="2547391"/>
                  <a:pt x="9549097" y="2585168"/>
                </a:cubicBezTo>
                <a:cubicBezTo>
                  <a:pt x="9551956" y="2589460"/>
                  <a:pt x="9565592" y="2590888"/>
                  <a:pt x="9567633" y="2587105"/>
                </a:cubicBezTo>
                <a:cubicBezTo>
                  <a:pt x="9572507" y="2590206"/>
                  <a:pt x="9580361" y="2601581"/>
                  <a:pt x="9586878" y="2596659"/>
                </a:cubicBezTo>
                <a:lnTo>
                  <a:pt x="9589974" y="2598235"/>
                </a:lnTo>
                <a:lnTo>
                  <a:pt x="9590570" y="2598249"/>
                </a:lnTo>
                <a:lnTo>
                  <a:pt x="9591896" y="2599214"/>
                </a:lnTo>
                <a:lnTo>
                  <a:pt x="9604535" y="2605654"/>
                </a:lnTo>
                <a:lnTo>
                  <a:pt x="9610554" y="2606189"/>
                </a:lnTo>
                <a:cubicBezTo>
                  <a:pt x="9641361" y="2613359"/>
                  <a:pt x="9668752" y="2624572"/>
                  <a:pt x="9690072" y="2638745"/>
                </a:cubicBezTo>
                <a:cubicBezTo>
                  <a:pt x="9723195" y="2641319"/>
                  <a:pt x="9726446" y="2647335"/>
                  <a:pt x="9726964" y="2653728"/>
                </a:cubicBezTo>
                <a:cubicBezTo>
                  <a:pt x="9734958" y="2656403"/>
                  <a:pt x="9731670" y="2653170"/>
                  <a:pt x="9738036" y="2654794"/>
                </a:cubicBezTo>
                <a:cubicBezTo>
                  <a:pt x="9745908" y="2657757"/>
                  <a:pt x="9765000" y="2668100"/>
                  <a:pt x="9774202" y="2671509"/>
                </a:cubicBezTo>
                <a:lnTo>
                  <a:pt x="9793246" y="2675245"/>
                </a:lnTo>
                <a:cubicBezTo>
                  <a:pt x="9812596" y="2680039"/>
                  <a:pt x="9869995" y="2696274"/>
                  <a:pt x="9890301" y="2700274"/>
                </a:cubicBezTo>
                <a:cubicBezTo>
                  <a:pt x="9900631" y="2696314"/>
                  <a:pt x="9908572" y="2696560"/>
                  <a:pt x="9915070" y="2699250"/>
                </a:cubicBezTo>
                <a:lnTo>
                  <a:pt x="9976517" y="2732899"/>
                </a:lnTo>
                <a:cubicBezTo>
                  <a:pt x="9981869" y="2727000"/>
                  <a:pt x="9984699" y="2731165"/>
                  <a:pt x="9990168" y="2737877"/>
                </a:cubicBezTo>
                <a:lnTo>
                  <a:pt x="9995041" y="2741223"/>
                </a:lnTo>
                <a:lnTo>
                  <a:pt x="10012636" y="2729876"/>
                </a:lnTo>
                <a:lnTo>
                  <a:pt x="10044280" y="2726966"/>
                </a:lnTo>
                <a:lnTo>
                  <a:pt x="10057934" y="2735671"/>
                </a:lnTo>
                <a:cubicBezTo>
                  <a:pt x="10075281" y="2744341"/>
                  <a:pt x="10128594" y="2769607"/>
                  <a:pt x="10148373" y="2778987"/>
                </a:cubicBezTo>
                <a:lnTo>
                  <a:pt x="10176601" y="2791940"/>
                </a:lnTo>
                <a:cubicBezTo>
                  <a:pt x="10185319" y="2817937"/>
                  <a:pt x="10238746" y="2788423"/>
                  <a:pt x="10235082" y="2816761"/>
                </a:cubicBezTo>
                <a:cubicBezTo>
                  <a:pt x="10261478" y="2797979"/>
                  <a:pt x="10382486" y="2835579"/>
                  <a:pt x="10421684" y="2833871"/>
                </a:cubicBezTo>
                <a:cubicBezTo>
                  <a:pt x="10427369" y="2846480"/>
                  <a:pt x="10490893" y="2829473"/>
                  <a:pt x="10507376" y="2822262"/>
                </a:cubicBezTo>
                <a:cubicBezTo>
                  <a:pt x="10633551" y="2812985"/>
                  <a:pt x="10703974" y="2842678"/>
                  <a:pt x="10738376" y="2833353"/>
                </a:cubicBezTo>
                <a:cubicBezTo>
                  <a:pt x="10827719" y="2830304"/>
                  <a:pt x="10976757" y="2802522"/>
                  <a:pt x="11043443" y="2803954"/>
                </a:cubicBezTo>
                <a:cubicBezTo>
                  <a:pt x="11049567" y="2823106"/>
                  <a:pt x="11121061" y="2794142"/>
                  <a:pt x="11115269" y="2823367"/>
                </a:cubicBezTo>
                <a:cubicBezTo>
                  <a:pt x="11122168" y="2835110"/>
                  <a:pt x="11139334" y="2833959"/>
                  <a:pt x="11147582" y="2822547"/>
                </a:cubicBezTo>
                <a:cubicBezTo>
                  <a:pt x="11168093" y="2823815"/>
                  <a:pt x="11180424" y="2837446"/>
                  <a:pt x="11201205" y="2818210"/>
                </a:cubicBezTo>
                <a:cubicBezTo>
                  <a:pt x="11229430" y="2819282"/>
                  <a:pt x="11368539" y="2855696"/>
                  <a:pt x="11391726" y="2826386"/>
                </a:cubicBezTo>
                <a:cubicBezTo>
                  <a:pt x="11480791" y="2839198"/>
                  <a:pt x="11451058" y="2820936"/>
                  <a:pt x="11507640" y="2824866"/>
                </a:cubicBezTo>
                <a:cubicBezTo>
                  <a:pt x="11607733" y="2861658"/>
                  <a:pt x="11671908" y="2815146"/>
                  <a:pt x="11718056" y="2821969"/>
                </a:cubicBezTo>
                <a:cubicBezTo>
                  <a:pt x="11816707" y="2792061"/>
                  <a:pt x="11860087" y="2819031"/>
                  <a:pt x="11937926" y="2817058"/>
                </a:cubicBezTo>
                <a:cubicBezTo>
                  <a:pt x="11973607" y="2824139"/>
                  <a:pt x="11989529" y="2794506"/>
                  <a:pt x="12035355" y="2813340"/>
                </a:cubicBezTo>
                <a:cubicBezTo>
                  <a:pt x="12062147" y="2782988"/>
                  <a:pt x="12154841" y="2795794"/>
                  <a:pt x="12179047" y="2788508"/>
                </a:cubicBezTo>
                <a:lnTo>
                  <a:pt x="12192000" y="2788486"/>
                </a:lnTo>
                <a:lnTo>
                  <a:pt x="12192000" y="3378280"/>
                </a:lnTo>
                <a:lnTo>
                  <a:pt x="0" y="337828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1156D41-EB1D-FBCD-20EF-F33DEFC56378}"/>
              </a:ext>
            </a:extLst>
          </p:cNvPr>
          <p:cNvSpPr>
            <a:spLocks noGrp="1"/>
          </p:cNvSpPr>
          <p:nvPr>
            <p:ph type="ctrTitle"/>
          </p:nvPr>
        </p:nvSpPr>
        <p:spPr>
          <a:xfrm>
            <a:off x="1801585" y="2039254"/>
            <a:ext cx="5540829" cy="2206171"/>
          </a:xfrm>
        </p:spPr>
        <p:txBody>
          <a:bodyPr anchor="ctr">
            <a:normAutofit/>
          </a:bodyPr>
          <a:lstStyle/>
          <a:p>
            <a:r>
              <a:rPr lang="en-US" sz="4000" dirty="0"/>
              <a:t>National Database of Child Care Prices Analysis</a:t>
            </a:r>
            <a:br>
              <a:rPr lang="en-US" sz="4000" dirty="0"/>
            </a:br>
            <a:endParaRPr lang="en-US" sz="3800" dirty="0">
              <a:solidFill>
                <a:schemeClr val="tx1">
                  <a:lumMod val="85000"/>
                  <a:lumOff val="15000"/>
                </a:schemeClr>
              </a:solidFill>
            </a:endParaRPr>
          </a:p>
        </p:txBody>
      </p:sp>
      <p:sp>
        <p:nvSpPr>
          <p:cNvPr id="3" name="Subtitle 2">
            <a:extLst>
              <a:ext uri="{FF2B5EF4-FFF2-40B4-BE49-F238E27FC236}">
                <a16:creationId xmlns:a16="http://schemas.microsoft.com/office/drawing/2014/main" id="{B5B32689-F470-FFC6-D4AF-BD0EB4199B8C}"/>
              </a:ext>
            </a:extLst>
          </p:cNvPr>
          <p:cNvSpPr>
            <a:spLocks noGrp="1"/>
          </p:cNvSpPr>
          <p:nvPr>
            <p:ph type="subTitle" idx="1"/>
          </p:nvPr>
        </p:nvSpPr>
        <p:spPr>
          <a:xfrm>
            <a:off x="669471" y="5158522"/>
            <a:ext cx="4267200" cy="1087477"/>
          </a:xfrm>
        </p:spPr>
        <p:txBody>
          <a:bodyPr anchor="ctr">
            <a:normAutofit/>
          </a:bodyPr>
          <a:lstStyle/>
          <a:p>
            <a:pPr algn="l"/>
            <a:r>
              <a:rPr lang="en-US" sz="1600" dirty="0">
                <a:solidFill>
                  <a:schemeClr val="tx1">
                    <a:lumMod val="85000"/>
                    <a:lumOff val="15000"/>
                  </a:schemeClr>
                </a:solidFill>
              </a:rPr>
              <a:t>By: Taylor Duncan</a:t>
            </a:r>
          </a:p>
        </p:txBody>
      </p:sp>
      <p:sp>
        <p:nvSpPr>
          <p:cNvPr id="12" name="Freeform: Shape 11">
            <a:extLst>
              <a:ext uri="{FF2B5EF4-FFF2-40B4-BE49-F238E27FC236}">
                <a16:creationId xmlns:a16="http://schemas.microsoft.com/office/drawing/2014/main" id="{AEFD2FD1-B3A5-4E1D-BCC8-7684A5440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667538" y="0"/>
            <a:ext cx="5476462" cy="91834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 name="connsiteX0" fmla="*/ 4686423 w 9517857"/>
              <a:gd name="connsiteY0" fmla="*/ 247919 h 918356"/>
              <a:gd name="connsiteX1" fmla="*/ 4689051 w 9517857"/>
              <a:gd name="connsiteY1" fmla="*/ 250968 h 918356"/>
              <a:gd name="connsiteX2" fmla="*/ 4687244 w 9517857"/>
              <a:gd name="connsiteY2" fmla="*/ 251298 h 918356"/>
              <a:gd name="connsiteX3" fmla="*/ 4686423 w 9517857"/>
              <a:gd name="connsiteY3" fmla="*/ 247919 h 918356"/>
              <a:gd name="connsiteX4" fmla="*/ 4685225 w 9517857"/>
              <a:gd name="connsiteY4" fmla="*/ 246530 h 918356"/>
              <a:gd name="connsiteX5" fmla="*/ 4686133 w 9517857"/>
              <a:gd name="connsiteY5" fmla="*/ 246727 h 918356"/>
              <a:gd name="connsiteX6" fmla="*/ 4686423 w 9517857"/>
              <a:gd name="connsiteY6" fmla="*/ 247919 h 918356"/>
              <a:gd name="connsiteX7" fmla="*/ 4685225 w 9517857"/>
              <a:gd name="connsiteY7" fmla="*/ 246530 h 918356"/>
              <a:gd name="connsiteX8" fmla="*/ 9517856 w 9517857"/>
              <a:gd name="connsiteY8" fmla="*/ 0 h 918356"/>
              <a:gd name="connsiteX9" fmla="*/ 9517857 w 9517857"/>
              <a:gd name="connsiteY9" fmla="*/ 12 h 918356"/>
              <a:gd name="connsiteX10" fmla="*/ 9517857 w 9517857"/>
              <a:gd name="connsiteY10" fmla="*/ 918356 h 918356"/>
              <a:gd name="connsiteX11" fmla="*/ 14604 w 9517857"/>
              <a:gd name="connsiteY11" fmla="*/ 918356 h 918356"/>
              <a:gd name="connsiteX12" fmla="*/ 12841 w 9517857"/>
              <a:gd name="connsiteY12" fmla="*/ 917763 h 918356"/>
              <a:gd name="connsiteX13" fmla="*/ 93 w 9517857"/>
              <a:gd name="connsiteY13" fmla="*/ 912471 h 918356"/>
              <a:gd name="connsiteX14" fmla="*/ 58674 w 9517857"/>
              <a:gd name="connsiteY14" fmla="*/ 890322 h 918356"/>
              <a:gd name="connsiteX15" fmla="*/ 275005 w 9517857"/>
              <a:gd name="connsiteY15" fmla="*/ 807229 h 918356"/>
              <a:gd name="connsiteX16" fmla="*/ 587824 w 9517857"/>
              <a:gd name="connsiteY16" fmla="*/ 798195 h 918356"/>
              <a:gd name="connsiteX17" fmla="*/ 651826 w 9517857"/>
              <a:gd name="connsiteY17" fmla="*/ 738338 h 918356"/>
              <a:gd name="connsiteX18" fmla="*/ 727985 w 9517857"/>
              <a:gd name="connsiteY18" fmla="*/ 719826 h 918356"/>
              <a:gd name="connsiteX19" fmla="*/ 778982 w 9517857"/>
              <a:gd name="connsiteY19" fmla="*/ 710142 h 918356"/>
              <a:gd name="connsiteX20" fmla="*/ 849944 w 9517857"/>
              <a:gd name="connsiteY20" fmla="*/ 717987 h 918356"/>
              <a:gd name="connsiteX21" fmla="*/ 921659 w 9517857"/>
              <a:gd name="connsiteY21" fmla="*/ 712695 h 918356"/>
              <a:gd name="connsiteX22" fmla="*/ 930946 w 9517857"/>
              <a:gd name="connsiteY22" fmla="*/ 734046 h 918356"/>
              <a:gd name="connsiteX23" fmla="*/ 986250 w 9517857"/>
              <a:gd name="connsiteY23" fmla="*/ 713530 h 918356"/>
              <a:gd name="connsiteX24" fmla="*/ 1013752 w 9517857"/>
              <a:gd name="connsiteY24" fmla="*/ 713361 h 918356"/>
              <a:gd name="connsiteX25" fmla="*/ 1023734 w 9517857"/>
              <a:gd name="connsiteY25" fmla="*/ 718571 h 918356"/>
              <a:gd name="connsiteX26" fmla="*/ 1063207 w 9517857"/>
              <a:gd name="connsiteY26" fmla="*/ 715651 h 918356"/>
              <a:gd name="connsiteX27" fmla="*/ 1081980 w 9517857"/>
              <a:gd name="connsiteY27" fmla="*/ 738455 h 918356"/>
              <a:gd name="connsiteX28" fmla="*/ 1218120 w 9517857"/>
              <a:gd name="connsiteY28" fmla="*/ 713280 h 918356"/>
              <a:gd name="connsiteX29" fmla="*/ 1397459 w 9517857"/>
              <a:gd name="connsiteY29" fmla="*/ 691190 h 918356"/>
              <a:gd name="connsiteX30" fmla="*/ 1580688 w 9517857"/>
              <a:gd name="connsiteY30" fmla="*/ 693697 h 918356"/>
              <a:gd name="connsiteX31" fmla="*/ 1772334 w 9517857"/>
              <a:gd name="connsiteY31" fmla="*/ 710640 h 918356"/>
              <a:gd name="connsiteX32" fmla="*/ 2002561 w 9517857"/>
              <a:gd name="connsiteY32" fmla="*/ 659917 h 918356"/>
              <a:gd name="connsiteX33" fmla="*/ 2135144 w 9517857"/>
              <a:gd name="connsiteY33" fmla="*/ 636501 h 918356"/>
              <a:gd name="connsiteX34" fmla="*/ 2440292 w 9517857"/>
              <a:gd name="connsiteY34" fmla="*/ 593862 h 918356"/>
              <a:gd name="connsiteX35" fmla="*/ 2547829 w 9517857"/>
              <a:gd name="connsiteY35" fmla="*/ 566150 h 918356"/>
              <a:gd name="connsiteX36" fmla="*/ 2658055 w 9517857"/>
              <a:gd name="connsiteY36" fmla="*/ 578727 h 918356"/>
              <a:gd name="connsiteX37" fmla="*/ 2693698 w 9517857"/>
              <a:gd name="connsiteY37" fmla="*/ 560029 h 918356"/>
              <a:gd name="connsiteX38" fmla="*/ 2699673 w 9517857"/>
              <a:gd name="connsiteY38" fmla="*/ 556400 h 918356"/>
              <a:gd name="connsiteX39" fmla="*/ 2727306 w 9517857"/>
              <a:gd name="connsiteY39" fmla="*/ 550698 h 918356"/>
              <a:gd name="connsiteX40" fmla="*/ 2730451 w 9517857"/>
              <a:gd name="connsiteY40" fmla="*/ 538058 h 918356"/>
              <a:gd name="connsiteX41" fmla="*/ 2768713 w 9517857"/>
              <a:gd name="connsiteY41" fmla="*/ 521575 h 918356"/>
              <a:gd name="connsiteX42" fmla="*/ 2820868 w 9517857"/>
              <a:gd name="connsiteY42" fmla="*/ 514160 h 918356"/>
              <a:gd name="connsiteX43" fmla="*/ 3073635 w 9517857"/>
              <a:gd name="connsiteY43" fmla="*/ 491294 h 918356"/>
              <a:gd name="connsiteX44" fmla="*/ 3222071 w 9517857"/>
              <a:gd name="connsiteY44" fmla="*/ 470559 h 918356"/>
              <a:gd name="connsiteX45" fmla="*/ 3274069 w 9517857"/>
              <a:gd name="connsiteY45" fmla="*/ 451605 h 918356"/>
              <a:gd name="connsiteX46" fmla="*/ 3349632 w 9517857"/>
              <a:gd name="connsiteY46" fmla="*/ 432583 h 918356"/>
              <a:gd name="connsiteX47" fmla="*/ 3479593 w 9517857"/>
              <a:gd name="connsiteY47" fmla="*/ 390437 h 918356"/>
              <a:gd name="connsiteX48" fmla="*/ 3660110 w 9517857"/>
              <a:gd name="connsiteY48" fmla="*/ 348726 h 918356"/>
              <a:gd name="connsiteX49" fmla="*/ 3750023 w 9517857"/>
              <a:gd name="connsiteY49" fmla="*/ 370678 h 918356"/>
              <a:gd name="connsiteX50" fmla="*/ 3844133 w 9517857"/>
              <a:gd name="connsiteY50" fmla="*/ 360648 h 918356"/>
              <a:gd name="connsiteX51" fmla="*/ 3913545 w 9517857"/>
              <a:gd name="connsiteY51" fmla="*/ 344235 h 918356"/>
              <a:gd name="connsiteX52" fmla="*/ 4266740 w 9517857"/>
              <a:gd name="connsiteY52" fmla="*/ 361454 h 918356"/>
              <a:gd name="connsiteX53" fmla="*/ 4430770 w 9517857"/>
              <a:gd name="connsiteY53" fmla="*/ 342643 h 918356"/>
              <a:gd name="connsiteX54" fmla="*/ 4512664 w 9517857"/>
              <a:gd name="connsiteY54" fmla="*/ 319948 h 918356"/>
              <a:gd name="connsiteX55" fmla="*/ 4616423 w 9517857"/>
              <a:gd name="connsiteY55" fmla="*/ 290914 h 918356"/>
              <a:gd name="connsiteX56" fmla="*/ 4691675 w 9517857"/>
              <a:gd name="connsiteY56" fmla="*/ 254011 h 918356"/>
              <a:gd name="connsiteX57" fmla="*/ 4689051 w 9517857"/>
              <a:gd name="connsiteY57" fmla="*/ 250968 h 918356"/>
              <a:gd name="connsiteX58" fmla="*/ 4719994 w 9517857"/>
              <a:gd name="connsiteY58" fmla="*/ 245307 h 918356"/>
              <a:gd name="connsiteX59" fmla="*/ 4752894 w 9517857"/>
              <a:gd name="connsiteY59" fmla="*/ 239875 h 918356"/>
              <a:gd name="connsiteX60" fmla="*/ 4769329 w 9517857"/>
              <a:gd name="connsiteY60" fmla="*/ 233585 h 918356"/>
              <a:gd name="connsiteX61" fmla="*/ 4775634 w 9517857"/>
              <a:gd name="connsiteY61" fmla="*/ 234063 h 918356"/>
              <a:gd name="connsiteX62" fmla="*/ 4790452 w 9517857"/>
              <a:gd name="connsiteY62" fmla="*/ 233572 h 918356"/>
              <a:gd name="connsiteX63" fmla="*/ 4789062 w 9517857"/>
              <a:gd name="connsiteY63" fmla="*/ 241924 h 918356"/>
              <a:gd name="connsiteX64" fmla="*/ 4827826 w 9517857"/>
              <a:gd name="connsiteY64" fmla="*/ 246977 h 918356"/>
              <a:gd name="connsiteX65" fmla="*/ 4892569 w 9517857"/>
              <a:gd name="connsiteY65" fmla="*/ 249933 h 918356"/>
              <a:gd name="connsiteX66" fmla="*/ 4896611 w 9517857"/>
              <a:gd name="connsiteY66" fmla="*/ 240448 h 918356"/>
              <a:gd name="connsiteX67" fmla="*/ 4917286 w 9517857"/>
              <a:gd name="connsiteY67" fmla="*/ 243659 h 918356"/>
              <a:gd name="connsiteX68" fmla="*/ 4981173 w 9517857"/>
              <a:gd name="connsiteY68" fmla="*/ 247103 h 918356"/>
              <a:gd name="connsiteX69" fmla="*/ 5060397 w 9517857"/>
              <a:gd name="connsiteY69" fmla="*/ 263688 h 918356"/>
              <a:gd name="connsiteX70" fmla="*/ 5252996 w 9517857"/>
              <a:gd name="connsiteY70" fmla="*/ 270655 h 918356"/>
              <a:gd name="connsiteX71" fmla="*/ 5358056 w 9517857"/>
              <a:gd name="connsiteY71" fmla="*/ 247248 h 918356"/>
              <a:gd name="connsiteX72" fmla="*/ 5426496 w 9517857"/>
              <a:gd name="connsiteY72" fmla="*/ 235142 h 918356"/>
              <a:gd name="connsiteX73" fmla="*/ 5497161 w 9517857"/>
              <a:gd name="connsiteY73" fmla="*/ 228808 h 918356"/>
              <a:gd name="connsiteX74" fmla="*/ 5826043 w 9517857"/>
              <a:gd name="connsiteY74" fmla="*/ 148073 h 918356"/>
              <a:gd name="connsiteX75" fmla="*/ 6013415 w 9517857"/>
              <a:gd name="connsiteY75" fmla="*/ 137316 h 918356"/>
              <a:gd name="connsiteX76" fmla="*/ 6080994 w 9517857"/>
              <a:gd name="connsiteY76" fmla="*/ 142938 h 918356"/>
              <a:gd name="connsiteX77" fmla="*/ 6194152 w 9517857"/>
              <a:gd name="connsiteY77" fmla="*/ 151772 h 918356"/>
              <a:gd name="connsiteX78" fmla="*/ 6281379 w 9517857"/>
              <a:gd name="connsiteY78" fmla="*/ 181626 h 918356"/>
              <a:gd name="connsiteX79" fmla="*/ 6374947 w 9517857"/>
              <a:gd name="connsiteY79" fmla="*/ 179799 h 918356"/>
              <a:gd name="connsiteX80" fmla="*/ 6448518 w 9517857"/>
              <a:gd name="connsiteY80" fmla="*/ 164378 h 918356"/>
              <a:gd name="connsiteX81" fmla="*/ 6544700 w 9517857"/>
              <a:gd name="connsiteY81" fmla="*/ 167161 h 918356"/>
              <a:gd name="connsiteX82" fmla="*/ 6648353 w 9517857"/>
              <a:gd name="connsiteY82" fmla="*/ 172250 h 918356"/>
              <a:gd name="connsiteX83" fmla="*/ 6736227 w 9517857"/>
              <a:gd name="connsiteY83" fmla="*/ 173216 h 918356"/>
              <a:gd name="connsiteX84" fmla="*/ 6977218 w 9517857"/>
              <a:gd name="connsiteY84" fmla="*/ 184289 h 918356"/>
              <a:gd name="connsiteX85" fmla="*/ 7065221 w 9517857"/>
              <a:gd name="connsiteY85" fmla="*/ 227531 h 918356"/>
              <a:gd name="connsiteX86" fmla="*/ 7565449 w 9517857"/>
              <a:gd name="connsiteY86" fmla="*/ 258950 h 918356"/>
              <a:gd name="connsiteX87" fmla="*/ 7599285 w 9517857"/>
              <a:gd name="connsiteY87" fmla="*/ 266021 h 918356"/>
              <a:gd name="connsiteX88" fmla="*/ 7644411 w 9517857"/>
              <a:gd name="connsiteY88" fmla="*/ 258986 h 918356"/>
              <a:gd name="connsiteX89" fmla="*/ 7825110 w 9517857"/>
              <a:gd name="connsiteY89" fmla="*/ 229109 h 918356"/>
              <a:gd name="connsiteX90" fmla="*/ 7965804 w 9517857"/>
              <a:gd name="connsiteY90" fmla="*/ 190545 h 918356"/>
              <a:gd name="connsiteX91" fmla="*/ 8147401 w 9517857"/>
              <a:gd name="connsiteY91" fmla="*/ 205617 h 918356"/>
              <a:gd name="connsiteX92" fmla="*/ 8256033 w 9517857"/>
              <a:gd name="connsiteY92" fmla="*/ 193713 h 918356"/>
              <a:gd name="connsiteX93" fmla="*/ 8410677 w 9517857"/>
              <a:gd name="connsiteY93" fmla="*/ 172167 h 918356"/>
              <a:gd name="connsiteX94" fmla="*/ 8617841 w 9517857"/>
              <a:gd name="connsiteY94" fmla="*/ 155167 h 918356"/>
              <a:gd name="connsiteX95" fmla="*/ 8715976 w 9517857"/>
              <a:gd name="connsiteY95" fmla="*/ 178374 h 918356"/>
              <a:gd name="connsiteX96" fmla="*/ 8778827 w 9517857"/>
              <a:gd name="connsiteY96" fmla="*/ 172936 h 918356"/>
              <a:gd name="connsiteX97" fmla="*/ 8840778 w 9517857"/>
              <a:gd name="connsiteY97" fmla="*/ 143149 h 918356"/>
              <a:gd name="connsiteX98" fmla="*/ 9010380 w 9517857"/>
              <a:gd name="connsiteY98" fmla="*/ 91891 h 918356"/>
              <a:gd name="connsiteX99" fmla="*/ 9110856 w 9517857"/>
              <a:gd name="connsiteY99" fmla="*/ 70997 h 918356"/>
              <a:gd name="connsiteX100" fmla="*/ 9268817 w 9517857"/>
              <a:gd name="connsiteY100" fmla="*/ 53082 h 918356"/>
              <a:gd name="connsiteX101" fmla="*/ 9316667 w 9517857"/>
              <a:gd name="connsiteY101" fmla="*/ 45047 h 918356"/>
              <a:gd name="connsiteX102" fmla="*/ 9428209 w 9517857"/>
              <a:gd name="connsiteY102" fmla="*/ 29923 h 918356"/>
              <a:gd name="connsiteX103" fmla="*/ 9517856 w 9517857"/>
              <a:gd name="connsiteY103" fmla="*/ 0 h 918356"/>
              <a:gd name="connsiteX0" fmla="*/ 4686423 w 9517857"/>
              <a:gd name="connsiteY0" fmla="*/ 247919 h 918356"/>
              <a:gd name="connsiteX1" fmla="*/ 4689051 w 9517857"/>
              <a:gd name="connsiteY1" fmla="*/ 250968 h 918356"/>
              <a:gd name="connsiteX2" fmla="*/ 4687244 w 9517857"/>
              <a:gd name="connsiteY2" fmla="*/ 251298 h 918356"/>
              <a:gd name="connsiteX3" fmla="*/ 4686423 w 9517857"/>
              <a:gd name="connsiteY3" fmla="*/ 247919 h 918356"/>
              <a:gd name="connsiteX4" fmla="*/ 4685225 w 9517857"/>
              <a:gd name="connsiteY4" fmla="*/ 246530 h 918356"/>
              <a:gd name="connsiteX5" fmla="*/ 4686133 w 9517857"/>
              <a:gd name="connsiteY5" fmla="*/ 246727 h 918356"/>
              <a:gd name="connsiteX6" fmla="*/ 4686423 w 9517857"/>
              <a:gd name="connsiteY6" fmla="*/ 247919 h 918356"/>
              <a:gd name="connsiteX7" fmla="*/ 4685225 w 9517857"/>
              <a:gd name="connsiteY7" fmla="*/ 246530 h 918356"/>
              <a:gd name="connsiteX8" fmla="*/ 9517856 w 9517857"/>
              <a:gd name="connsiteY8" fmla="*/ 0 h 918356"/>
              <a:gd name="connsiteX9" fmla="*/ 9517857 w 9517857"/>
              <a:gd name="connsiteY9" fmla="*/ 12 h 918356"/>
              <a:gd name="connsiteX10" fmla="*/ 9517857 w 9517857"/>
              <a:gd name="connsiteY10" fmla="*/ 918356 h 918356"/>
              <a:gd name="connsiteX11" fmla="*/ 14604 w 9517857"/>
              <a:gd name="connsiteY11" fmla="*/ 918356 h 918356"/>
              <a:gd name="connsiteX12" fmla="*/ 12841 w 9517857"/>
              <a:gd name="connsiteY12" fmla="*/ 917763 h 918356"/>
              <a:gd name="connsiteX13" fmla="*/ 93 w 9517857"/>
              <a:gd name="connsiteY13" fmla="*/ 912471 h 918356"/>
              <a:gd name="connsiteX14" fmla="*/ 58674 w 9517857"/>
              <a:gd name="connsiteY14" fmla="*/ 890322 h 918356"/>
              <a:gd name="connsiteX15" fmla="*/ 275005 w 9517857"/>
              <a:gd name="connsiteY15" fmla="*/ 807229 h 918356"/>
              <a:gd name="connsiteX16" fmla="*/ 587824 w 9517857"/>
              <a:gd name="connsiteY16" fmla="*/ 798195 h 918356"/>
              <a:gd name="connsiteX17" fmla="*/ 651826 w 9517857"/>
              <a:gd name="connsiteY17" fmla="*/ 738338 h 918356"/>
              <a:gd name="connsiteX18" fmla="*/ 727985 w 9517857"/>
              <a:gd name="connsiteY18" fmla="*/ 719826 h 918356"/>
              <a:gd name="connsiteX19" fmla="*/ 778982 w 9517857"/>
              <a:gd name="connsiteY19" fmla="*/ 710142 h 918356"/>
              <a:gd name="connsiteX20" fmla="*/ 849944 w 9517857"/>
              <a:gd name="connsiteY20" fmla="*/ 717987 h 918356"/>
              <a:gd name="connsiteX21" fmla="*/ 921659 w 9517857"/>
              <a:gd name="connsiteY21" fmla="*/ 712695 h 918356"/>
              <a:gd name="connsiteX22" fmla="*/ 930946 w 9517857"/>
              <a:gd name="connsiteY22" fmla="*/ 734046 h 918356"/>
              <a:gd name="connsiteX23" fmla="*/ 986250 w 9517857"/>
              <a:gd name="connsiteY23" fmla="*/ 713530 h 918356"/>
              <a:gd name="connsiteX24" fmla="*/ 1013752 w 9517857"/>
              <a:gd name="connsiteY24" fmla="*/ 713361 h 918356"/>
              <a:gd name="connsiteX25" fmla="*/ 1023734 w 9517857"/>
              <a:gd name="connsiteY25" fmla="*/ 718571 h 918356"/>
              <a:gd name="connsiteX26" fmla="*/ 1063207 w 9517857"/>
              <a:gd name="connsiteY26" fmla="*/ 715651 h 918356"/>
              <a:gd name="connsiteX27" fmla="*/ 1081980 w 9517857"/>
              <a:gd name="connsiteY27" fmla="*/ 738455 h 918356"/>
              <a:gd name="connsiteX28" fmla="*/ 1218120 w 9517857"/>
              <a:gd name="connsiteY28" fmla="*/ 713280 h 918356"/>
              <a:gd name="connsiteX29" fmla="*/ 1397459 w 9517857"/>
              <a:gd name="connsiteY29" fmla="*/ 691190 h 918356"/>
              <a:gd name="connsiteX30" fmla="*/ 1580688 w 9517857"/>
              <a:gd name="connsiteY30" fmla="*/ 693697 h 918356"/>
              <a:gd name="connsiteX31" fmla="*/ 1772334 w 9517857"/>
              <a:gd name="connsiteY31" fmla="*/ 710640 h 918356"/>
              <a:gd name="connsiteX32" fmla="*/ 2002561 w 9517857"/>
              <a:gd name="connsiteY32" fmla="*/ 659917 h 918356"/>
              <a:gd name="connsiteX33" fmla="*/ 2135144 w 9517857"/>
              <a:gd name="connsiteY33" fmla="*/ 636501 h 918356"/>
              <a:gd name="connsiteX34" fmla="*/ 2440292 w 9517857"/>
              <a:gd name="connsiteY34" fmla="*/ 593862 h 918356"/>
              <a:gd name="connsiteX35" fmla="*/ 2547829 w 9517857"/>
              <a:gd name="connsiteY35" fmla="*/ 566150 h 918356"/>
              <a:gd name="connsiteX36" fmla="*/ 2658055 w 9517857"/>
              <a:gd name="connsiteY36" fmla="*/ 578727 h 918356"/>
              <a:gd name="connsiteX37" fmla="*/ 2693698 w 9517857"/>
              <a:gd name="connsiteY37" fmla="*/ 560029 h 918356"/>
              <a:gd name="connsiteX38" fmla="*/ 2699673 w 9517857"/>
              <a:gd name="connsiteY38" fmla="*/ 556400 h 918356"/>
              <a:gd name="connsiteX39" fmla="*/ 2727306 w 9517857"/>
              <a:gd name="connsiteY39" fmla="*/ 550698 h 918356"/>
              <a:gd name="connsiteX40" fmla="*/ 2730451 w 9517857"/>
              <a:gd name="connsiteY40" fmla="*/ 538058 h 918356"/>
              <a:gd name="connsiteX41" fmla="*/ 2768713 w 9517857"/>
              <a:gd name="connsiteY41" fmla="*/ 521575 h 918356"/>
              <a:gd name="connsiteX42" fmla="*/ 2820868 w 9517857"/>
              <a:gd name="connsiteY42" fmla="*/ 514160 h 918356"/>
              <a:gd name="connsiteX43" fmla="*/ 3073635 w 9517857"/>
              <a:gd name="connsiteY43" fmla="*/ 491294 h 918356"/>
              <a:gd name="connsiteX44" fmla="*/ 3222071 w 9517857"/>
              <a:gd name="connsiteY44" fmla="*/ 470559 h 918356"/>
              <a:gd name="connsiteX45" fmla="*/ 3274069 w 9517857"/>
              <a:gd name="connsiteY45" fmla="*/ 451605 h 918356"/>
              <a:gd name="connsiteX46" fmla="*/ 3349632 w 9517857"/>
              <a:gd name="connsiteY46" fmla="*/ 432583 h 918356"/>
              <a:gd name="connsiteX47" fmla="*/ 3479593 w 9517857"/>
              <a:gd name="connsiteY47" fmla="*/ 390437 h 918356"/>
              <a:gd name="connsiteX48" fmla="*/ 3660110 w 9517857"/>
              <a:gd name="connsiteY48" fmla="*/ 348726 h 918356"/>
              <a:gd name="connsiteX49" fmla="*/ 3750023 w 9517857"/>
              <a:gd name="connsiteY49" fmla="*/ 370678 h 918356"/>
              <a:gd name="connsiteX50" fmla="*/ 3844133 w 9517857"/>
              <a:gd name="connsiteY50" fmla="*/ 360648 h 918356"/>
              <a:gd name="connsiteX51" fmla="*/ 3913545 w 9517857"/>
              <a:gd name="connsiteY51" fmla="*/ 344235 h 918356"/>
              <a:gd name="connsiteX52" fmla="*/ 4266740 w 9517857"/>
              <a:gd name="connsiteY52" fmla="*/ 361454 h 918356"/>
              <a:gd name="connsiteX53" fmla="*/ 4430770 w 9517857"/>
              <a:gd name="connsiteY53" fmla="*/ 342643 h 918356"/>
              <a:gd name="connsiteX54" fmla="*/ 4512664 w 9517857"/>
              <a:gd name="connsiteY54" fmla="*/ 319948 h 918356"/>
              <a:gd name="connsiteX55" fmla="*/ 4616423 w 9517857"/>
              <a:gd name="connsiteY55" fmla="*/ 290914 h 918356"/>
              <a:gd name="connsiteX56" fmla="*/ 4691675 w 9517857"/>
              <a:gd name="connsiteY56" fmla="*/ 254011 h 918356"/>
              <a:gd name="connsiteX57" fmla="*/ 4689051 w 9517857"/>
              <a:gd name="connsiteY57" fmla="*/ 250968 h 918356"/>
              <a:gd name="connsiteX58" fmla="*/ 4719994 w 9517857"/>
              <a:gd name="connsiteY58" fmla="*/ 245307 h 918356"/>
              <a:gd name="connsiteX59" fmla="*/ 4752894 w 9517857"/>
              <a:gd name="connsiteY59" fmla="*/ 239875 h 918356"/>
              <a:gd name="connsiteX60" fmla="*/ 4769329 w 9517857"/>
              <a:gd name="connsiteY60" fmla="*/ 233585 h 918356"/>
              <a:gd name="connsiteX61" fmla="*/ 4775634 w 9517857"/>
              <a:gd name="connsiteY61" fmla="*/ 234063 h 918356"/>
              <a:gd name="connsiteX62" fmla="*/ 4790452 w 9517857"/>
              <a:gd name="connsiteY62" fmla="*/ 233572 h 918356"/>
              <a:gd name="connsiteX63" fmla="*/ 4789062 w 9517857"/>
              <a:gd name="connsiteY63" fmla="*/ 241924 h 918356"/>
              <a:gd name="connsiteX64" fmla="*/ 4827826 w 9517857"/>
              <a:gd name="connsiteY64" fmla="*/ 246977 h 918356"/>
              <a:gd name="connsiteX65" fmla="*/ 4892569 w 9517857"/>
              <a:gd name="connsiteY65" fmla="*/ 249933 h 918356"/>
              <a:gd name="connsiteX66" fmla="*/ 4896611 w 9517857"/>
              <a:gd name="connsiteY66" fmla="*/ 240448 h 918356"/>
              <a:gd name="connsiteX67" fmla="*/ 4917286 w 9517857"/>
              <a:gd name="connsiteY67" fmla="*/ 243659 h 918356"/>
              <a:gd name="connsiteX68" fmla="*/ 4981173 w 9517857"/>
              <a:gd name="connsiteY68" fmla="*/ 247103 h 918356"/>
              <a:gd name="connsiteX69" fmla="*/ 5060397 w 9517857"/>
              <a:gd name="connsiteY69" fmla="*/ 263688 h 918356"/>
              <a:gd name="connsiteX70" fmla="*/ 5252996 w 9517857"/>
              <a:gd name="connsiteY70" fmla="*/ 270655 h 918356"/>
              <a:gd name="connsiteX71" fmla="*/ 5358056 w 9517857"/>
              <a:gd name="connsiteY71" fmla="*/ 247248 h 918356"/>
              <a:gd name="connsiteX72" fmla="*/ 5426496 w 9517857"/>
              <a:gd name="connsiteY72" fmla="*/ 235142 h 918356"/>
              <a:gd name="connsiteX73" fmla="*/ 5497161 w 9517857"/>
              <a:gd name="connsiteY73" fmla="*/ 228808 h 918356"/>
              <a:gd name="connsiteX74" fmla="*/ 5826043 w 9517857"/>
              <a:gd name="connsiteY74" fmla="*/ 148073 h 918356"/>
              <a:gd name="connsiteX75" fmla="*/ 6013415 w 9517857"/>
              <a:gd name="connsiteY75" fmla="*/ 137316 h 918356"/>
              <a:gd name="connsiteX76" fmla="*/ 6080994 w 9517857"/>
              <a:gd name="connsiteY76" fmla="*/ 142938 h 918356"/>
              <a:gd name="connsiteX77" fmla="*/ 6194152 w 9517857"/>
              <a:gd name="connsiteY77" fmla="*/ 151772 h 918356"/>
              <a:gd name="connsiteX78" fmla="*/ 6281379 w 9517857"/>
              <a:gd name="connsiteY78" fmla="*/ 181626 h 918356"/>
              <a:gd name="connsiteX79" fmla="*/ 6374947 w 9517857"/>
              <a:gd name="connsiteY79" fmla="*/ 179799 h 918356"/>
              <a:gd name="connsiteX80" fmla="*/ 6448518 w 9517857"/>
              <a:gd name="connsiteY80" fmla="*/ 164378 h 918356"/>
              <a:gd name="connsiteX81" fmla="*/ 6544700 w 9517857"/>
              <a:gd name="connsiteY81" fmla="*/ 167161 h 918356"/>
              <a:gd name="connsiteX82" fmla="*/ 6648353 w 9517857"/>
              <a:gd name="connsiteY82" fmla="*/ 172250 h 918356"/>
              <a:gd name="connsiteX83" fmla="*/ 6736227 w 9517857"/>
              <a:gd name="connsiteY83" fmla="*/ 173216 h 918356"/>
              <a:gd name="connsiteX84" fmla="*/ 6977218 w 9517857"/>
              <a:gd name="connsiteY84" fmla="*/ 184289 h 918356"/>
              <a:gd name="connsiteX85" fmla="*/ 7065221 w 9517857"/>
              <a:gd name="connsiteY85" fmla="*/ 227531 h 918356"/>
              <a:gd name="connsiteX86" fmla="*/ 7565449 w 9517857"/>
              <a:gd name="connsiteY86" fmla="*/ 258950 h 918356"/>
              <a:gd name="connsiteX87" fmla="*/ 7599285 w 9517857"/>
              <a:gd name="connsiteY87" fmla="*/ 266021 h 918356"/>
              <a:gd name="connsiteX88" fmla="*/ 7644411 w 9517857"/>
              <a:gd name="connsiteY88" fmla="*/ 258986 h 918356"/>
              <a:gd name="connsiteX89" fmla="*/ 7825110 w 9517857"/>
              <a:gd name="connsiteY89" fmla="*/ 229109 h 918356"/>
              <a:gd name="connsiteX90" fmla="*/ 7965804 w 9517857"/>
              <a:gd name="connsiteY90" fmla="*/ 190545 h 918356"/>
              <a:gd name="connsiteX91" fmla="*/ 8147401 w 9517857"/>
              <a:gd name="connsiteY91" fmla="*/ 205617 h 918356"/>
              <a:gd name="connsiteX92" fmla="*/ 8256033 w 9517857"/>
              <a:gd name="connsiteY92" fmla="*/ 193713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 name="connsiteX102" fmla="*/ 9517856 w 9517857"/>
              <a:gd name="connsiteY102" fmla="*/ 0 h 918356"/>
              <a:gd name="connsiteX0" fmla="*/ 4686423 w 9517857"/>
              <a:gd name="connsiteY0" fmla="*/ 247919 h 918356"/>
              <a:gd name="connsiteX1" fmla="*/ 4689051 w 9517857"/>
              <a:gd name="connsiteY1" fmla="*/ 250968 h 918356"/>
              <a:gd name="connsiteX2" fmla="*/ 4687244 w 9517857"/>
              <a:gd name="connsiteY2" fmla="*/ 251298 h 918356"/>
              <a:gd name="connsiteX3" fmla="*/ 4686423 w 9517857"/>
              <a:gd name="connsiteY3" fmla="*/ 247919 h 918356"/>
              <a:gd name="connsiteX4" fmla="*/ 4685225 w 9517857"/>
              <a:gd name="connsiteY4" fmla="*/ 246530 h 918356"/>
              <a:gd name="connsiteX5" fmla="*/ 4686133 w 9517857"/>
              <a:gd name="connsiteY5" fmla="*/ 246727 h 918356"/>
              <a:gd name="connsiteX6" fmla="*/ 4686423 w 9517857"/>
              <a:gd name="connsiteY6" fmla="*/ 247919 h 918356"/>
              <a:gd name="connsiteX7" fmla="*/ 4685225 w 9517857"/>
              <a:gd name="connsiteY7" fmla="*/ 246530 h 918356"/>
              <a:gd name="connsiteX8" fmla="*/ 9517856 w 9517857"/>
              <a:gd name="connsiteY8" fmla="*/ 0 h 918356"/>
              <a:gd name="connsiteX9" fmla="*/ 9517857 w 9517857"/>
              <a:gd name="connsiteY9" fmla="*/ 12 h 918356"/>
              <a:gd name="connsiteX10" fmla="*/ 9517857 w 9517857"/>
              <a:gd name="connsiteY10" fmla="*/ 918356 h 918356"/>
              <a:gd name="connsiteX11" fmla="*/ 14604 w 9517857"/>
              <a:gd name="connsiteY11" fmla="*/ 918356 h 918356"/>
              <a:gd name="connsiteX12" fmla="*/ 12841 w 9517857"/>
              <a:gd name="connsiteY12" fmla="*/ 917763 h 918356"/>
              <a:gd name="connsiteX13" fmla="*/ 93 w 9517857"/>
              <a:gd name="connsiteY13" fmla="*/ 912471 h 918356"/>
              <a:gd name="connsiteX14" fmla="*/ 58674 w 9517857"/>
              <a:gd name="connsiteY14" fmla="*/ 890322 h 918356"/>
              <a:gd name="connsiteX15" fmla="*/ 275005 w 9517857"/>
              <a:gd name="connsiteY15" fmla="*/ 807229 h 918356"/>
              <a:gd name="connsiteX16" fmla="*/ 587824 w 9517857"/>
              <a:gd name="connsiteY16" fmla="*/ 798195 h 918356"/>
              <a:gd name="connsiteX17" fmla="*/ 651826 w 9517857"/>
              <a:gd name="connsiteY17" fmla="*/ 738338 h 918356"/>
              <a:gd name="connsiteX18" fmla="*/ 727985 w 9517857"/>
              <a:gd name="connsiteY18" fmla="*/ 719826 h 918356"/>
              <a:gd name="connsiteX19" fmla="*/ 778982 w 9517857"/>
              <a:gd name="connsiteY19" fmla="*/ 710142 h 918356"/>
              <a:gd name="connsiteX20" fmla="*/ 849944 w 9517857"/>
              <a:gd name="connsiteY20" fmla="*/ 717987 h 918356"/>
              <a:gd name="connsiteX21" fmla="*/ 921659 w 9517857"/>
              <a:gd name="connsiteY21" fmla="*/ 712695 h 918356"/>
              <a:gd name="connsiteX22" fmla="*/ 930946 w 9517857"/>
              <a:gd name="connsiteY22" fmla="*/ 734046 h 918356"/>
              <a:gd name="connsiteX23" fmla="*/ 986250 w 9517857"/>
              <a:gd name="connsiteY23" fmla="*/ 713530 h 918356"/>
              <a:gd name="connsiteX24" fmla="*/ 1013752 w 9517857"/>
              <a:gd name="connsiteY24" fmla="*/ 713361 h 918356"/>
              <a:gd name="connsiteX25" fmla="*/ 1023734 w 9517857"/>
              <a:gd name="connsiteY25" fmla="*/ 718571 h 918356"/>
              <a:gd name="connsiteX26" fmla="*/ 1063207 w 9517857"/>
              <a:gd name="connsiteY26" fmla="*/ 715651 h 918356"/>
              <a:gd name="connsiteX27" fmla="*/ 1081980 w 9517857"/>
              <a:gd name="connsiteY27" fmla="*/ 738455 h 918356"/>
              <a:gd name="connsiteX28" fmla="*/ 1218120 w 9517857"/>
              <a:gd name="connsiteY28" fmla="*/ 713280 h 918356"/>
              <a:gd name="connsiteX29" fmla="*/ 1397459 w 9517857"/>
              <a:gd name="connsiteY29" fmla="*/ 691190 h 918356"/>
              <a:gd name="connsiteX30" fmla="*/ 1580688 w 9517857"/>
              <a:gd name="connsiteY30" fmla="*/ 693697 h 918356"/>
              <a:gd name="connsiteX31" fmla="*/ 1772334 w 9517857"/>
              <a:gd name="connsiteY31" fmla="*/ 710640 h 918356"/>
              <a:gd name="connsiteX32" fmla="*/ 2002561 w 9517857"/>
              <a:gd name="connsiteY32" fmla="*/ 659917 h 918356"/>
              <a:gd name="connsiteX33" fmla="*/ 2135144 w 9517857"/>
              <a:gd name="connsiteY33" fmla="*/ 636501 h 918356"/>
              <a:gd name="connsiteX34" fmla="*/ 2440292 w 9517857"/>
              <a:gd name="connsiteY34" fmla="*/ 593862 h 918356"/>
              <a:gd name="connsiteX35" fmla="*/ 2547829 w 9517857"/>
              <a:gd name="connsiteY35" fmla="*/ 566150 h 918356"/>
              <a:gd name="connsiteX36" fmla="*/ 2658055 w 9517857"/>
              <a:gd name="connsiteY36" fmla="*/ 578727 h 918356"/>
              <a:gd name="connsiteX37" fmla="*/ 2693698 w 9517857"/>
              <a:gd name="connsiteY37" fmla="*/ 560029 h 918356"/>
              <a:gd name="connsiteX38" fmla="*/ 2699673 w 9517857"/>
              <a:gd name="connsiteY38" fmla="*/ 556400 h 918356"/>
              <a:gd name="connsiteX39" fmla="*/ 2727306 w 9517857"/>
              <a:gd name="connsiteY39" fmla="*/ 550698 h 918356"/>
              <a:gd name="connsiteX40" fmla="*/ 2730451 w 9517857"/>
              <a:gd name="connsiteY40" fmla="*/ 538058 h 918356"/>
              <a:gd name="connsiteX41" fmla="*/ 2768713 w 9517857"/>
              <a:gd name="connsiteY41" fmla="*/ 521575 h 918356"/>
              <a:gd name="connsiteX42" fmla="*/ 2820868 w 9517857"/>
              <a:gd name="connsiteY42" fmla="*/ 514160 h 918356"/>
              <a:gd name="connsiteX43" fmla="*/ 3073635 w 9517857"/>
              <a:gd name="connsiteY43" fmla="*/ 491294 h 918356"/>
              <a:gd name="connsiteX44" fmla="*/ 3222071 w 9517857"/>
              <a:gd name="connsiteY44" fmla="*/ 470559 h 918356"/>
              <a:gd name="connsiteX45" fmla="*/ 3274069 w 9517857"/>
              <a:gd name="connsiteY45" fmla="*/ 451605 h 918356"/>
              <a:gd name="connsiteX46" fmla="*/ 3349632 w 9517857"/>
              <a:gd name="connsiteY46" fmla="*/ 432583 h 918356"/>
              <a:gd name="connsiteX47" fmla="*/ 3479593 w 9517857"/>
              <a:gd name="connsiteY47" fmla="*/ 390437 h 918356"/>
              <a:gd name="connsiteX48" fmla="*/ 3660110 w 9517857"/>
              <a:gd name="connsiteY48" fmla="*/ 348726 h 918356"/>
              <a:gd name="connsiteX49" fmla="*/ 3750023 w 9517857"/>
              <a:gd name="connsiteY49" fmla="*/ 370678 h 918356"/>
              <a:gd name="connsiteX50" fmla="*/ 3844133 w 9517857"/>
              <a:gd name="connsiteY50" fmla="*/ 360648 h 918356"/>
              <a:gd name="connsiteX51" fmla="*/ 3913545 w 9517857"/>
              <a:gd name="connsiteY51" fmla="*/ 344235 h 918356"/>
              <a:gd name="connsiteX52" fmla="*/ 4266740 w 9517857"/>
              <a:gd name="connsiteY52" fmla="*/ 361454 h 918356"/>
              <a:gd name="connsiteX53" fmla="*/ 4430770 w 9517857"/>
              <a:gd name="connsiteY53" fmla="*/ 342643 h 918356"/>
              <a:gd name="connsiteX54" fmla="*/ 4512664 w 9517857"/>
              <a:gd name="connsiteY54" fmla="*/ 319948 h 918356"/>
              <a:gd name="connsiteX55" fmla="*/ 4616423 w 9517857"/>
              <a:gd name="connsiteY55" fmla="*/ 290914 h 918356"/>
              <a:gd name="connsiteX56" fmla="*/ 4691675 w 9517857"/>
              <a:gd name="connsiteY56" fmla="*/ 254011 h 918356"/>
              <a:gd name="connsiteX57" fmla="*/ 4689051 w 9517857"/>
              <a:gd name="connsiteY57" fmla="*/ 250968 h 918356"/>
              <a:gd name="connsiteX58" fmla="*/ 4719994 w 9517857"/>
              <a:gd name="connsiteY58" fmla="*/ 245307 h 918356"/>
              <a:gd name="connsiteX59" fmla="*/ 4752894 w 9517857"/>
              <a:gd name="connsiteY59" fmla="*/ 239875 h 918356"/>
              <a:gd name="connsiteX60" fmla="*/ 4769329 w 9517857"/>
              <a:gd name="connsiteY60" fmla="*/ 233585 h 918356"/>
              <a:gd name="connsiteX61" fmla="*/ 4775634 w 9517857"/>
              <a:gd name="connsiteY61" fmla="*/ 234063 h 918356"/>
              <a:gd name="connsiteX62" fmla="*/ 4790452 w 9517857"/>
              <a:gd name="connsiteY62" fmla="*/ 233572 h 918356"/>
              <a:gd name="connsiteX63" fmla="*/ 4789062 w 9517857"/>
              <a:gd name="connsiteY63" fmla="*/ 241924 h 918356"/>
              <a:gd name="connsiteX64" fmla="*/ 4827826 w 9517857"/>
              <a:gd name="connsiteY64" fmla="*/ 246977 h 918356"/>
              <a:gd name="connsiteX65" fmla="*/ 4892569 w 9517857"/>
              <a:gd name="connsiteY65" fmla="*/ 249933 h 918356"/>
              <a:gd name="connsiteX66" fmla="*/ 4896611 w 9517857"/>
              <a:gd name="connsiteY66" fmla="*/ 240448 h 918356"/>
              <a:gd name="connsiteX67" fmla="*/ 4917286 w 9517857"/>
              <a:gd name="connsiteY67" fmla="*/ 243659 h 918356"/>
              <a:gd name="connsiteX68" fmla="*/ 4981173 w 9517857"/>
              <a:gd name="connsiteY68" fmla="*/ 247103 h 918356"/>
              <a:gd name="connsiteX69" fmla="*/ 5060397 w 9517857"/>
              <a:gd name="connsiteY69" fmla="*/ 263688 h 918356"/>
              <a:gd name="connsiteX70" fmla="*/ 5252996 w 9517857"/>
              <a:gd name="connsiteY70" fmla="*/ 270655 h 918356"/>
              <a:gd name="connsiteX71" fmla="*/ 5358056 w 9517857"/>
              <a:gd name="connsiteY71" fmla="*/ 247248 h 918356"/>
              <a:gd name="connsiteX72" fmla="*/ 5426496 w 9517857"/>
              <a:gd name="connsiteY72" fmla="*/ 235142 h 918356"/>
              <a:gd name="connsiteX73" fmla="*/ 5497161 w 9517857"/>
              <a:gd name="connsiteY73" fmla="*/ 228808 h 918356"/>
              <a:gd name="connsiteX74" fmla="*/ 5826043 w 9517857"/>
              <a:gd name="connsiteY74" fmla="*/ 148073 h 918356"/>
              <a:gd name="connsiteX75" fmla="*/ 6013415 w 9517857"/>
              <a:gd name="connsiteY75" fmla="*/ 137316 h 918356"/>
              <a:gd name="connsiteX76" fmla="*/ 6080994 w 9517857"/>
              <a:gd name="connsiteY76" fmla="*/ 142938 h 918356"/>
              <a:gd name="connsiteX77" fmla="*/ 6194152 w 9517857"/>
              <a:gd name="connsiteY77" fmla="*/ 151772 h 918356"/>
              <a:gd name="connsiteX78" fmla="*/ 6281379 w 9517857"/>
              <a:gd name="connsiteY78" fmla="*/ 181626 h 918356"/>
              <a:gd name="connsiteX79" fmla="*/ 6374947 w 9517857"/>
              <a:gd name="connsiteY79" fmla="*/ 179799 h 918356"/>
              <a:gd name="connsiteX80" fmla="*/ 6448518 w 9517857"/>
              <a:gd name="connsiteY80" fmla="*/ 164378 h 918356"/>
              <a:gd name="connsiteX81" fmla="*/ 6544700 w 9517857"/>
              <a:gd name="connsiteY81" fmla="*/ 167161 h 918356"/>
              <a:gd name="connsiteX82" fmla="*/ 6648353 w 9517857"/>
              <a:gd name="connsiteY82" fmla="*/ 172250 h 918356"/>
              <a:gd name="connsiteX83" fmla="*/ 6736227 w 9517857"/>
              <a:gd name="connsiteY83" fmla="*/ 173216 h 918356"/>
              <a:gd name="connsiteX84" fmla="*/ 6977218 w 9517857"/>
              <a:gd name="connsiteY84" fmla="*/ 184289 h 918356"/>
              <a:gd name="connsiteX85" fmla="*/ 7065221 w 9517857"/>
              <a:gd name="connsiteY85" fmla="*/ 227531 h 918356"/>
              <a:gd name="connsiteX86" fmla="*/ 7565449 w 9517857"/>
              <a:gd name="connsiteY86" fmla="*/ 258950 h 918356"/>
              <a:gd name="connsiteX87" fmla="*/ 7599285 w 9517857"/>
              <a:gd name="connsiteY87" fmla="*/ 266021 h 918356"/>
              <a:gd name="connsiteX88" fmla="*/ 7644411 w 9517857"/>
              <a:gd name="connsiteY88" fmla="*/ 258986 h 918356"/>
              <a:gd name="connsiteX89" fmla="*/ 7825110 w 9517857"/>
              <a:gd name="connsiteY89" fmla="*/ 229109 h 918356"/>
              <a:gd name="connsiteX90" fmla="*/ 7965804 w 9517857"/>
              <a:gd name="connsiteY90" fmla="*/ 190545 h 918356"/>
              <a:gd name="connsiteX91" fmla="*/ 8147401 w 9517857"/>
              <a:gd name="connsiteY91" fmla="*/ 205617 h 918356"/>
              <a:gd name="connsiteX92" fmla="*/ 8256033 w 9517857"/>
              <a:gd name="connsiteY92" fmla="*/ 193713 h 918356"/>
              <a:gd name="connsiteX93" fmla="*/ 8551625 w 9517857"/>
              <a:gd name="connsiteY93" fmla="*/ 16151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 name="connsiteX102" fmla="*/ 9517856 w 9517857"/>
              <a:gd name="connsiteY102" fmla="*/ 0 h 918356"/>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660110 w 9517857"/>
              <a:gd name="connsiteY48" fmla="*/ 348714 h 918344"/>
              <a:gd name="connsiteX49" fmla="*/ 3750023 w 9517857"/>
              <a:gd name="connsiteY49" fmla="*/ 370666 h 918344"/>
              <a:gd name="connsiteX50" fmla="*/ 3844133 w 9517857"/>
              <a:gd name="connsiteY50" fmla="*/ 360636 h 918344"/>
              <a:gd name="connsiteX51" fmla="*/ 3913545 w 9517857"/>
              <a:gd name="connsiteY51" fmla="*/ 344223 h 918344"/>
              <a:gd name="connsiteX52" fmla="*/ 4266740 w 9517857"/>
              <a:gd name="connsiteY52" fmla="*/ 361442 h 918344"/>
              <a:gd name="connsiteX53" fmla="*/ 4430770 w 9517857"/>
              <a:gd name="connsiteY53" fmla="*/ 342631 h 918344"/>
              <a:gd name="connsiteX54" fmla="*/ 4512664 w 9517857"/>
              <a:gd name="connsiteY54" fmla="*/ 319936 h 918344"/>
              <a:gd name="connsiteX55" fmla="*/ 4616423 w 9517857"/>
              <a:gd name="connsiteY55" fmla="*/ 290902 h 918344"/>
              <a:gd name="connsiteX56" fmla="*/ 4691675 w 9517857"/>
              <a:gd name="connsiteY56" fmla="*/ 253999 h 918344"/>
              <a:gd name="connsiteX57" fmla="*/ 4689051 w 9517857"/>
              <a:gd name="connsiteY57" fmla="*/ 250956 h 918344"/>
              <a:gd name="connsiteX58" fmla="*/ 4719994 w 9517857"/>
              <a:gd name="connsiteY58" fmla="*/ 245295 h 918344"/>
              <a:gd name="connsiteX59" fmla="*/ 4752894 w 9517857"/>
              <a:gd name="connsiteY59" fmla="*/ 239863 h 918344"/>
              <a:gd name="connsiteX60" fmla="*/ 4769329 w 9517857"/>
              <a:gd name="connsiteY60" fmla="*/ 233573 h 918344"/>
              <a:gd name="connsiteX61" fmla="*/ 4775634 w 9517857"/>
              <a:gd name="connsiteY61" fmla="*/ 234051 h 918344"/>
              <a:gd name="connsiteX62" fmla="*/ 4790452 w 9517857"/>
              <a:gd name="connsiteY62" fmla="*/ 233560 h 918344"/>
              <a:gd name="connsiteX63" fmla="*/ 4789062 w 9517857"/>
              <a:gd name="connsiteY63" fmla="*/ 241912 h 918344"/>
              <a:gd name="connsiteX64" fmla="*/ 4827826 w 9517857"/>
              <a:gd name="connsiteY64" fmla="*/ 246965 h 918344"/>
              <a:gd name="connsiteX65" fmla="*/ 4892569 w 9517857"/>
              <a:gd name="connsiteY65" fmla="*/ 249921 h 918344"/>
              <a:gd name="connsiteX66" fmla="*/ 4896611 w 9517857"/>
              <a:gd name="connsiteY66" fmla="*/ 240436 h 918344"/>
              <a:gd name="connsiteX67" fmla="*/ 4917286 w 9517857"/>
              <a:gd name="connsiteY67" fmla="*/ 243647 h 918344"/>
              <a:gd name="connsiteX68" fmla="*/ 4981173 w 9517857"/>
              <a:gd name="connsiteY68" fmla="*/ 247091 h 918344"/>
              <a:gd name="connsiteX69" fmla="*/ 5060397 w 9517857"/>
              <a:gd name="connsiteY69" fmla="*/ 263676 h 918344"/>
              <a:gd name="connsiteX70" fmla="*/ 5252996 w 9517857"/>
              <a:gd name="connsiteY70" fmla="*/ 270643 h 918344"/>
              <a:gd name="connsiteX71" fmla="*/ 5358056 w 9517857"/>
              <a:gd name="connsiteY71" fmla="*/ 247236 h 918344"/>
              <a:gd name="connsiteX72" fmla="*/ 5426496 w 9517857"/>
              <a:gd name="connsiteY72" fmla="*/ 235130 h 918344"/>
              <a:gd name="connsiteX73" fmla="*/ 5497161 w 9517857"/>
              <a:gd name="connsiteY73" fmla="*/ 228796 h 918344"/>
              <a:gd name="connsiteX74" fmla="*/ 5826043 w 9517857"/>
              <a:gd name="connsiteY74" fmla="*/ 148061 h 918344"/>
              <a:gd name="connsiteX75" fmla="*/ 6013415 w 9517857"/>
              <a:gd name="connsiteY75" fmla="*/ 137304 h 918344"/>
              <a:gd name="connsiteX76" fmla="*/ 6080994 w 9517857"/>
              <a:gd name="connsiteY76" fmla="*/ 142926 h 918344"/>
              <a:gd name="connsiteX77" fmla="*/ 6194152 w 9517857"/>
              <a:gd name="connsiteY77" fmla="*/ 151760 h 918344"/>
              <a:gd name="connsiteX78" fmla="*/ 6281379 w 9517857"/>
              <a:gd name="connsiteY78" fmla="*/ 181614 h 918344"/>
              <a:gd name="connsiteX79" fmla="*/ 6374947 w 9517857"/>
              <a:gd name="connsiteY79" fmla="*/ 179787 h 918344"/>
              <a:gd name="connsiteX80" fmla="*/ 6448518 w 9517857"/>
              <a:gd name="connsiteY80" fmla="*/ 164366 h 918344"/>
              <a:gd name="connsiteX81" fmla="*/ 6544700 w 9517857"/>
              <a:gd name="connsiteY81" fmla="*/ 167149 h 918344"/>
              <a:gd name="connsiteX82" fmla="*/ 6648353 w 9517857"/>
              <a:gd name="connsiteY82" fmla="*/ 172238 h 918344"/>
              <a:gd name="connsiteX83" fmla="*/ 6736227 w 9517857"/>
              <a:gd name="connsiteY83" fmla="*/ 173204 h 918344"/>
              <a:gd name="connsiteX84" fmla="*/ 6977218 w 9517857"/>
              <a:gd name="connsiteY84" fmla="*/ 184277 h 918344"/>
              <a:gd name="connsiteX85" fmla="*/ 7065221 w 9517857"/>
              <a:gd name="connsiteY85" fmla="*/ 227519 h 918344"/>
              <a:gd name="connsiteX86" fmla="*/ 7565449 w 9517857"/>
              <a:gd name="connsiteY86" fmla="*/ 258938 h 918344"/>
              <a:gd name="connsiteX87" fmla="*/ 7599285 w 9517857"/>
              <a:gd name="connsiteY87" fmla="*/ 266009 h 918344"/>
              <a:gd name="connsiteX88" fmla="*/ 7644411 w 9517857"/>
              <a:gd name="connsiteY88" fmla="*/ 258974 h 918344"/>
              <a:gd name="connsiteX89" fmla="*/ 7825110 w 9517857"/>
              <a:gd name="connsiteY89" fmla="*/ 229097 h 918344"/>
              <a:gd name="connsiteX90" fmla="*/ 7965804 w 9517857"/>
              <a:gd name="connsiteY90" fmla="*/ 190533 h 918344"/>
              <a:gd name="connsiteX91" fmla="*/ 8147401 w 9517857"/>
              <a:gd name="connsiteY91" fmla="*/ 205605 h 918344"/>
              <a:gd name="connsiteX92" fmla="*/ 8256033 w 9517857"/>
              <a:gd name="connsiteY92" fmla="*/ 193701 h 918344"/>
              <a:gd name="connsiteX93" fmla="*/ 8551625 w 9517857"/>
              <a:gd name="connsiteY93" fmla="*/ 161505 h 918344"/>
              <a:gd name="connsiteX94" fmla="*/ 8715976 w 9517857"/>
              <a:gd name="connsiteY94" fmla="*/ 178362 h 918344"/>
              <a:gd name="connsiteX95" fmla="*/ 8778827 w 9517857"/>
              <a:gd name="connsiteY95" fmla="*/ 172924 h 918344"/>
              <a:gd name="connsiteX96" fmla="*/ 8840778 w 9517857"/>
              <a:gd name="connsiteY96" fmla="*/ 143137 h 918344"/>
              <a:gd name="connsiteX97" fmla="*/ 9010380 w 9517857"/>
              <a:gd name="connsiteY97" fmla="*/ 91879 h 918344"/>
              <a:gd name="connsiteX98" fmla="*/ 9110856 w 9517857"/>
              <a:gd name="connsiteY98" fmla="*/ 70985 h 918344"/>
              <a:gd name="connsiteX99" fmla="*/ 9268817 w 9517857"/>
              <a:gd name="connsiteY99" fmla="*/ 53070 h 918344"/>
              <a:gd name="connsiteX100" fmla="*/ 9316667 w 9517857"/>
              <a:gd name="connsiteY100" fmla="*/ 45035 h 918344"/>
              <a:gd name="connsiteX101" fmla="*/ 9428209 w 9517857"/>
              <a:gd name="connsiteY101"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660110 w 9517857"/>
              <a:gd name="connsiteY48" fmla="*/ 348714 h 918344"/>
              <a:gd name="connsiteX49" fmla="*/ 3750023 w 9517857"/>
              <a:gd name="connsiteY49" fmla="*/ 370666 h 918344"/>
              <a:gd name="connsiteX50" fmla="*/ 3844133 w 9517857"/>
              <a:gd name="connsiteY50" fmla="*/ 360636 h 918344"/>
              <a:gd name="connsiteX51" fmla="*/ 3913545 w 9517857"/>
              <a:gd name="connsiteY51" fmla="*/ 344223 h 918344"/>
              <a:gd name="connsiteX52" fmla="*/ 4266740 w 9517857"/>
              <a:gd name="connsiteY52" fmla="*/ 361442 h 918344"/>
              <a:gd name="connsiteX53" fmla="*/ 4430770 w 9517857"/>
              <a:gd name="connsiteY53" fmla="*/ 342631 h 918344"/>
              <a:gd name="connsiteX54" fmla="*/ 4512664 w 9517857"/>
              <a:gd name="connsiteY54" fmla="*/ 319936 h 918344"/>
              <a:gd name="connsiteX55" fmla="*/ 4616423 w 9517857"/>
              <a:gd name="connsiteY55" fmla="*/ 290902 h 918344"/>
              <a:gd name="connsiteX56" fmla="*/ 4691675 w 9517857"/>
              <a:gd name="connsiteY56" fmla="*/ 253999 h 918344"/>
              <a:gd name="connsiteX57" fmla="*/ 4689051 w 9517857"/>
              <a:gd name="connsiteY57" fmla="*/ 250956 h 918344"/>
              <a:gd name="connsiteX58" fmla="*/ 4719994 w 9517857"/>
              <a:gd name="connsiteY58" fmla="*/ 245295 h 918344"/>
              <a:gd name="connsiteX59" fmla="*/ 4752894 w 9517857"/>
              <a:gd name="connsiteY59" fmla="*/ 239863 h 918344"/>
              <a:gd name="connsiteX60" fmla="*/ 4769329 w 9517857"/>
              <a:gd name="connsiteY60" fmla="*/ 233573 h 918344"/>
              <a:gd name="connsiteX61" fmla="*/ 4775634 w 9517857"/>
              <a:gd name="connsiteY61" fmla="*/ 234051 h 918344"/>
              <a:gd name="connsiteX62" fmla="*/ 4790452 w 9517857"/>
              <a:gd name="connsiteY62" fmla="*/ 233560 h 918344"/>
              <a:gd name="connsiteX63" fmla="*/ 4789062 w 9517857"/>
              <a:gd name="connsiteY63" fmla="*/ 241912 h 918344"/>
              <a:gd name="connsiteX64" fmla="*/ 4827826 w 9517857"/>
              <a:gd name="connsiteY64" fmla="*/ 246965 h 918344"/>
              <a:gd name="connsiteX65" fmla="*/ 4892569 w 9517857"/>
              <a:gd name="connsiteY65" fmla="*/ 249921 h 918344"/>
              <a:gd name="connsiteX66" fmla="*/ 4896611 w 9517857"/>
              <a:gd name="connsiteY66" fmla="*/ 240436 h 918344"/>
              <a:gd name="connsiteX67" fmla="*/ 4917286 w 9517857"/>
              <a:gd name="connsiteY67" fmla="*/ 243647 h 918344"/>
              <a:gd name="connsiteX68" fmla="*/ 5060397 w 9517857"/>
              <a:gd name="connsiteY68" fmla="*/ 263676 h 918344"/>
              <a:gd name="connsiteX69" fmla="*/ 5252996 w 9517857"/>
              <a:gd name="connsiteY69" fmla="*/ 270643 h 918344"/>
              <a:gd name="connsiteX70" fmla="*/ 5358056 w 9517857"/>
              <a:gd name="connsiteY70" fmla="*/ 247236 h 918344"/>
              <a:gd name="connsiteX71" fmla="*/ 5426496 w 9517857"/>
              <a:gd name="connsiteY71" fmla="*/ 235130 h 918344"/>
              <a:gd name="connsiteX72" fmla="*/ 5497161 w 9517857"/>
              <a:gd name="connsiteY72" fmla="*/ 228796 h 918344"/>
              <a:gd name="connsiteX73" fmla="*/ 5826043 w 9517857"/>
              <a:gd name="connsiteY73" fmla="*/ 148061 h 918344"/>
              <a:gd name="connsiteX74" fmla="*/ 6013415 w 9517857"/>
              <a:gd name="connsiteY74" fmla="*/ 137304 h 918344"/>
              <a:gd name="connsiteX75" fmla="*/ 6080994 w 9517857"/>
              <a:gd name="connsiteY75" fmla="*/ 142926 h 918344"/>
              <a:gd name="connsiteX76" fmla="*/ 6194152 w 9517857"/>
              <a:gd name="connsiteY76" fmla="*/ 151760 h 918344"/>
              <a:gd name="connsiteX77" fmla="*/ 6281379 w 9517857"/>
              <a:gd name="connsiteY77" fmla="*/ 181614 h 918344"/>
              <a:gd name="connsiteX78" fmla="*/ 6374947 w 9517857"/>
              <a:gd name="connsiteY78" fmla="*/ 179787 h 918344"/>
              <a:gd name="connsiteX79" fmla="*/ 6448518 w 9517857"/>
              <a:gd name="connsiteY79" fmla="*/ 164366 h 918344"/>
              <a:gd name="connsiteX80" fmla="*/ 6544700 w 9517857"/>
              <a:gd name="connsiteY80" fmla="*/ 167149 h 918344"/>
              <a:gd name="connsiteX81" fmla="*/ 6648353 w 9517857"/>
              <a:gd name="connsiteY81" fmla="*/ 172238 h 918344"/>
              <a:gd name="connsiteX82" fmla="*/ 6736227 w 9517857"/>
              <a:gd name="connsiteY82" fmla="*/ 173204 h 918344"/>
              <a:gd name="connsiteX83" fmla="*/ 6977218 w 9517857"/>
              <a:gd name="connsiteY83" fmla="*/ 184277 h 918344"/>
              <a:gd name="connsiteX84" fmla="*/ 7065221 w 9517857"/>
              <a:gd name="connsiteY84" fmla="*/ 227519 h 918344"/>
              <a:gd name="connsiteX85" fmla="*/ 7565449 w 9517857"/>
              <a:gd name="connsiteY85" fmla="*/ 258938 h 918344"/>
              <a:gd name="connsiteX86" fmla="*/ 7599285 w 9517857"/>
              <a:gd name="connsiteY86" fmla="*/ 266009 h 918344"/>
              <a:gd name="connsiteX87" fmla="*/ 7644411 w 9517857"/>
              <a:gd name="connsiteY87" fmla="*/ 258974 h 918344"/>
              <a:gd name="connsiteX88" fmla="*/ 7825110 w 9517857"/>
              <a:gd name="connsiteY88" fmla="*/ 229097 h 918344"/>
              <a:gd name="connsiteX89" fmla="*/ 7965804 w 9517857"/>
              <a:gd name="connsiteY89" fmla="*/ 190533 h 918344"/>
              <a:gd name="connsiteX90" fmla="*/ 8147401 w 9517857"/>
              <a:gd name="connsiteY90" fmla="*/ 205605 h 918344"/>
              <a:gd name="connsiteX91" fmla="*/ 8256033 w 9517857"/>
              <a:gd name="connsiteY91" fmla="*/ 193701 h 918344"/>
              <a:gd name="connsiteX92" fmla="*/ 8551625 w 9517857"/>
              <a:gd name="connsiteY92" fmla="*/ 161505 h 918344"/>
              <a:gd name="connsiteX93" fmla="*/ 8715976 w 9517857"/>
              <a:gd name="connsiteY93" fmla="*/ 178362 h 918344"/>
              <a:gd name="connsiteX94" fmla="*/ 8778827 w 9517857"/>
              <a:gd name="connsiteY94" fmla="*/ 172924 h 918344"/>
              <a:gd name="connsiteX95" fmla="*/ 8840778 w 9517857"/>
              <a:gd name="connsiteY95" fmla="*/ 143137 h 918344"/>
              <a:gd name="connsiteX96" fmla="*/ 9010380 w 9517857"/>
              <a:gd name="connsiteY96" fmla="*/ 91879 h 918344"/>
              <a:gd name="connsiteX97" fmla="*/ 9110856 w 9517857"/>
              <a:gd name="connsiteY97" fmla="*/ 70985 h 918344"/>
              <a:gd name="connsiteX98" fmla="*/ 9268817 w 9517857"/>
              <a:gd name="connsiteY98" fmla="*/ 53070 h 918344"/>
              <a:gd name="connsiteX99" fmla="*/ 9316667 w 9517857"/>
              <a:gd name="connsiteY99" fmla="*/ 45035 h 918344"/>
              <a:gd name="connsiteX100" fmla="*/ 9428209 w 9517857"/>
              <a:gd name="connsiteY100"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26043 w 9517857"/>
              <a:gd name="connsiteY72" fmla="*/ 148061 h 918344"/>
              <a:gd name="connsiteX73" fmla="*/ 6013415 w 9517857"/>
              <a:gd name="connsiteY73" fmla="*/ 137304 h 918344"/>
              <a:gd name="connsiteX74" fmla="*/ 6080994 w 9517857"/>
              <a:gd name="connsiteY74" fmla="*/ 142926 h 918344"/>
              <a:gd name="connsiteX75" fmla="*/ 6194152 w 9517857"/>
              <a:gd name="connsiteY75" fmla="*/ 151760 h 918344"/>
              <a:gd name="connsiteX76" fmla="*/ 6281379 w 9517857"/>
              <a:gd name="connsiteY76" fmla="*/ 181614 h 918344"/>
              <a:gd name="connsiteX77" fmla="*/ 6374947 w 9517857"/>
              <a:gd name="connsiteY77" fmla="*/ 179787 h 918344"/>
              <a:gd name="connsiteX78" fmla="*/ 6448518 w 9517857"/>
              <a:gd name="connsiteY78" fmla="*/ 164366 h 918344"/>
              <a:gd name="connsiteX79" fmla="*/ 6544700 w 9517857"/>
              <a:gd name="connsiteY79" fmla="*/ 167149 h 918344"/>
              <a:gd name="connsiteX80" fmla="*/ 6648353 w 9517857"/>
              <a:gd name="connsiteY80" fmla="*/ 172238 h 918344"/>
              <a:gd name="connsiteX81" fmla="*/ 6736227 w 9517857"/>
              <a:gd name="connsiteY81" fmla="*/ 173204 h 918344"/>
              <a:gd name="connsiteX82" fmla="*/ 6977218 w 9517857"/>
              <a:gd name="connsiteY82" fmla="*/ 184277 h 918344"/>
              <a:gd name="connsiteX83" fmla="*/ 7065221 w 9517857"/>
              <a:gd name="connsiteY83" fmla="*/ 227519 h 918344"/>
              <a:gd name="connsiteX84" fmla="*/ 7565449 w 9517857"/>
              <a:gd name="connsiteY84" fmla="*/ 258938 h 918344"/>
              <a:gd name="connsiteX85" fmla="*/ 7599285 w 9517857"/>
              <a:gd name="connsiteY85" fmla="*/ 266009 h 918344"/>
              <a:gd name="connsiteX86" fmla="*/ 7644411 w 9517857"/>
              <a:gd name="connsiteY86" fmla="*/ 258974 h 918344"/>
              <a:gd name="connsiteX87" fmla="*/ 7825110 w 9517857"/>
              <a:gd name="connsiteY87" fmla="*/ 229097 h 918344"/>
              <a:gd name="connsiteX88" fmla="*/ 7965804 w 9517857"/>
              <a:gd name="connsiteY88" fmla="*/ 190533 h 918344"/>
              <a:gd name="connsiteX89" fmla="*/ 8147401 w 9517857"/>
              <a:gd name="connsiteY89" fmla="*/ 205605 h 918344"/>
              <a:gd name="connsiteX90" fmla="*/ 8256033 w 9517857"/>
              <a:gd name="connsiteY90" fmla="*/ 193701 h 918344"/>
              <a:gd name="connsiteX91" fmla="*/ 8551625 w 9517857"/>
              <a:gd name="connsiteY91" fmla="*/ 161505 h 918344"/>
              <a:gd name="connsiteX92" fmla="*/ 8715976 w 9517857"/>
              <a:gd name="connsiteY92" fmla="*/ 178362 h 918344"/>
              <a:gd name="connsiteX93" fmla="*/ 8778827 w 9517857"/>
              <a:gd name="connsiteY93" fmla="*/ 172924 h 918344"/>
              <a:gd name="connsiteX94" fmla="*/ 8840778 w 9517857"/>
              <a:gd name="connsiteY94" fmla="*/ 143137 h 918344"/>
              <a:gd name="connsiteX95" fmla="*/ 9010380 w 9517857"/>
              <a:gd name="connsiteY95" fmla="*/ 91879 h 918344"/>
              <a:gd name="connsiteX96" fmla="*/ 9110856 w 9517857"/>
              <a:gd name="connsiteY96" fmla="*/ 70985 h 918344"/>
              <a:gd name="connsiteX97" fmla="*/ 9268817 w 9517857"/>
              <a:gd name="connsiteY97" fmla="*/ 53070 h 918344"/>
              <a:gd name="connsiteX98" fmla="*/ 9316667 w 9517857"/>
              <a:gd name="connsiteY98" fmla="*/ 45035 h 918344"/>
              <a:gd name="connsiteX99" fmla="*/ 9428209 w 9517857"/>
              <a:gd name="connsiteY99"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6013415 w 9517857"/>
              <a:gd name="connsiteY72" fmla="*/ 137304 h 918344"/>
              <a:gd name="connsiteX73" fmla="*/ 6080994 w 9517857"/>
              <a:gd name="connsiteY73" fmla="*/ 1429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599285 w 9517857"/>
              <a:gd name="connsiteY84" fmla="*/ 2660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80994 w 9517857"/>
              <a:gd name="connsiteY73" fmla="*/ 1429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599285 w 9517857"/>
              <a:gd name="connsiteY84" fmla="*/ 2660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599285 w 9517857"/>
              <a:gd name="connsiteY84" fmla="*/ 2660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350974 w 9517857"/>
              <a:gd name="connsiteY84" fmla="*/ 3803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366801 w 9517857"/>
              <a:gd name="connsiteY83" fmla="*/ 258938 h 918344"/>
              <a:gd name="connsiteX84" fmla="*/ 7350974 w 9517857"/>
              <a:gd name="connsiteY84" fmla="*/ 3803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366801 w 9517857"/>
              <a:gd name="connsiteY83" fmla="*/ 258938 h 918344"/>
              <a:gd name="connsiteX84" fmla="*/ 7433745 w 9517857"/>
              <a:gd name="connsiteY84" fmla="*/ 24695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547829 w 9517857"/>
              <a:gd name="connsiteY34" fmla="*/ 5661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13545 w 9517857"/>
              <a:gd name="connsiteY49" fmla="*/ 34422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7965804 w 9517857"/>
              <a:gd name="connsiteY86" fmla="*/ 190533 h 918344"/>
              <a:gd name="connsiteX87" fmla="*/ 8147401 w 9517857"/>
              <a:gd name="connsiteY87" fmla="*/ 205605 h 918344"/>
              <a:gd name="connsiteX88" fmla="*/ 8256033 w 9517857"/>
              <a:gd name="connsiteY88" fmla="*/ 193701 h 918344"/>
              <a:gd name="connsiteX89" fmla="*/ 8551625 w 9517857"/>
              <a:gd name="connsiteY89" fmla="*/ 161505 h 918344"/>
              <a:gd name="connsiteX90" fmla="*/ 8715976 w 9517857"/>
              <a:gd name="connsiteY90" fmla="*/ 178362 h 918344"/>
              <a:gd name="connsiteX91" fmla="*/ 8778827 w 9517857"/>
              <a:gd name="connsiteY91" fmla="*/ 172924 h 918344"/>
              <a:gd name="connsiteX92" fmla="*/ 8840778 w 9517857"/>
              <a:gd name="connsiteY92" fmla="*/ 143137 h 918344"/>
              <a:gd name="connsiteX93" fmla="*/ 9010380 w 9517857"/>
              <a:gd name="connsiteY93" fmla="*/ 91879 h 918344"/>
              <a:gd name="connsiteX94" fmla="*/ 9110856 w 9517857"/>
              <a:gd name="connsiteY94" fmla="*/ 70985 h 918344"/>
              <a:gd name="connsiteX95" fmla="*/ 9268817 w 9517857"/>
              <a:gd name="connsiteY95" fmla="*/ 53070 h 918344"/>
              <a:gd name="connsiteX96" fmla="*/ 9316667 w 9517857"/>
              <a:gd name="connsiteY96" fmla="*/ 45035 h 918344"/>
              <a:gd name="connsiteX97" fmla="*/ 9428209 w 9517857"/>
              <a:gd name="connsiteY97"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13545 w 9517857"/>
              <a:gd name="connsiteY49" fmla="*/ 34422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7965804 w 9517857"/>
              <a:gd name="connsiteY86" fmla="*/ 190533 h 918344"/>
              <a:gd name="connsiteX87" fmla="*/ 8147401 w 9517857"/>
              <a:gd name="connsiteY87" fmla="*/ 205605 h 918344"/>
              <a:gd name="connsiteX88" fmla="*/ 8256033 w 9517857"/>
              <a:gd name="connsiteY88" fmla="*/ 193701 h 918344"/>
              <a:gd name="connsiteX89" fmla="*/ 8551625 w 9517857"/>
              <a:gd name="connsiteY89" fmla="*/ 161505 h 918344"/>
              <a:gd name="connsiteX90" fmla="*/ 8715976 w 9517857"/>
              <a:gd name="connsiteY90" fmla="*/ 178362 h 918344"/>
              <a:gd name="connsiteX91" fmla="*/ 8778827 w 9517857"/>
              <a:gd name="connsiteY91" fmla="*/ 172924 h 918344"/>
              <a:gd name="connsiteX92" fmla="*/ 8840778 w 9517857"/>
              <a:gd name="connsiteY92" fmla="*/ 143137 h 918344"/>
              <a:gd name="connsiteX93" fmla="*/ 9010380 w 9517857"/>
              <a:gd name="connsiteY93" fmla="*/ 91879 h 918344"/>
              <a:gd name="connsiteX94" fmla="*/ 9110856 w 9517857"/>
              <a:gd name="connsiteY94" fmla="*/ 70985 h 918344"/>
              <a:gd name="connsiteX95" fmla="*/ 9268817 w 9517857"/>
              <a:gd name="connsiteY95" fmla="*/ 53070 h 918344"/>
              <a:gd name="connsiteX96" fmla="*/ 9316667 w 9517857"/>
              <a:gd name="connsiteY96" fmla="*/ 45035 h 918344"/>
              <a:gd name="connsiteX97" fmla="*/ 9428209 w 9517857"/>
              <a:gd name="connsiteY97"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7965804 w 9517857"/>
              <a:gd name="connsiteY86" fmla="*/ 190533 h 918344"/>
              <a:gd name="connsiteX87" fmla="*/ 8147401 w 9517857"/>
              <a:gd name="connsiteY87" fmla="*/ 205605 h 918344"/>
              <a:gd name="connsiteX88" fmla="*/ 8256033 w 9517857"/>
              <a:gd name="connsiteY88" fmla="*/ 193701 h 918344"/>
              <a:gd name="connsiteX89" fmla="*/ 8551625 w 9517857"/>
              <a:gd name="connsiteY89" fmla="*/ 161505 h 918344"/>
              <a:gd name="connsiteX90" fmla="*/ 8715976 w 9517857"/>
              <a:gd name="connsiteY90" fmla="*/ 178362 h 918344"/>
              <a:gd name="connsiteX91" fmla="*/ 8778827 w 9517857"/>
              <a:gd name="connsiteY91" fmla="*/ 172924 h 918344"/>
              <a:gd name="connsiteX92" fmla="*/ 8840778 w 9517857"/>
              <a:gd name="connsiteY92" fmla="*/ 143137 h 918344"/>
              <a:gd name="connsiteX93" fmla="*/ 9010380 w 9517857"/>
              <a:gd name="connsiteY93" fmla="*/ 91879 h 918344"/>
              <a:gd name="connsiteX94" fmla="*/ 9110856 w 9517857"/>
              <a:gd name="connsiteY94" fmla="*/ 70985 h 918344"/>
              <a:gd name="connsiteX95" fmla="*/ 9268817 w 9517857"/>
              <a:gd name="connsiteY95" fmla="*/ 53070 h 918344"/>
              <a:gd name="connsiteX96" fmla="*/ 9316667 w 9517857"/>
              <a:gd name="connsiteY96" fmla="*/ 45035 h 918344"/>
              <a:gd name="connsiteX97" fmla="*/ 9428209 w 9517857"/>
              <a:gd name="connsiteY97"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8147401 w 9517857"/>
              <a:gd name="connsiteY86" fmla="*/ 205605 h 918344"/>
              <a:gd name="connsiteX87" fmla="*/ 8256033 w 9517857"/>
              <a:gd name="connsiteY87" fmla="*/ 193701 h 918344"/>
              <a:gd name="connsiteX88" fmla="*/ 8551625 w 9517857"/>
              <a:gd name="connsiteY88" fmla="*/ 161505 h 918344"/>
              <a:gd name="connsiteX89" fmla="*/ 8715976 w 9517857"/>
              <a:gd name="connsiteY89" fmla="*/ 178362 h 918344"/>
              <a:gd name="connsiteX90" fmla="*/ 8778827 w 9517857"/>
              <a:gd name="connsiteY90" fmla="*/ 172924 h 918344"/>
              <a:gd name="connsiteX91" fmla="*/ 8840778 w 9517857"/>
              <a:gd name="connsiteY91" fmla="*/ 143137 h 918344"/>
              <a:gd name="connsiteX92" fmla="*/ 9010380 w 9517857"/>
              <a:gd name="connsiteY92" fmla="*/ 91879 h 918344"/>
              <a:gd name="connsiteX93" fmla="*/ 9110856 w 9517857"/>
              <a:gd name="connsiteY93" fmla="*/ 70985 h 918344"/>
              <a:gd name="connsiteX94" fmla="*/ 9268817 w 9517857"/>
              <a:gd name="connsiteY94" fmla="*/ 53070 h 918344"/>
              <a:gd name="connsiteX95" fmla="*/ 9316667 w 9517857"/>
              <a:gd name="connsiteY95" fmla="*/ 45035 h 918344"/>
              <a:gd name="connsiteX96" fmla="*/ 9428209 w 9517857"/>
              <a:gd name="connsiteY96"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8106016 w 9517857"/>
              <a:gd name="connsiteY86" fmla="*/ 231005 h 918344"/>
              <a:gd name="connsiteX87" fmla="*/ 8256033 w 9517857"/>
              <a:gd name="connsiteY87" fmla="*/ 193701 h 918344"/>
              <a:gd name="connsiteX88" fmla="*/ 8551625 w 9517857"/>
              <a:gd name="connsiteY88" fmla="*/ 161505 h 918344"/>
              <a:gd name="connsiteX89" fmla="*/ 8715976 w 9517857"/>
              <a:gd name="connsiteY89" fmla="*/ 178362 h 918344"/>
              <a:gd name="connsiteX90" fmla="*/ 8778827 w 9517857"/>
              <a:gd name="connsiteY90" fmla="*/ 172924 h 918344"/>
              <a:gd name="connsiteX91" fmla="*/ 8840778 w 9517857"/>
              <a:gd name="connsiteY91" fmla="*/ 143137 h 918344"/>
              <a:gd name="connsiteX92" fmla="*/ 9010380 w 9517857"/>
              <a:gd name="connsiteY92" fmla="*/ 91879 h 918344"/>
              <a:gd name="connsiteX93" fmla="*/ 9110856 w 9517857"/>
              <a:gd name="connsiteY93" fmla="*/ 70985 h 918344"/>
              <a:gd name="connsiteX94" fmla="*/ 9268817 w 9517857"/>
              <a:gd name="connsiteY94" fmla="*/ 53070 h 918344"/>
              <a:gd name="connsiteX95" fmla="*/ 9316667 w 9517857"/>
              <a:gd name="connsiteY95" fmla="*/ 45035 h 918344"/>
              <a:gd name="connsiteX96" fmla="*/ 9428209 w 9517857"/>
              <a:gd name="connsiteY96"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6014778 w 9517857"/>
              <a:gd name="connsiteY71" fmla="*/ 16832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840778 w 9517857"/>
              <a:gd name="connsiteY89" fmla="*/ 143137 h 918344"/>
              <a:gd name="connsiteX90" fmla="*/ 9010380 w 9517857"/>
              <a:gd name="connsiteY90" fmla="*/ 91879 h 918344"/>
              <a:gd name="connsiteX91" fmla="*/ 9110856 w 9517857"/>
              <a:gd name="connsiteY91" fmla="*/ 70985 h 918344"/>
              <a:gd name="connsiteX92" fmla="*/ 9268817 w 9517857"/>
              <a:gd name="connsiteY92" fmla="*/ 53070 h 918344"/>
              <a:gd name="connsiteX93" fmla="*/ 9316667 w 9517857"/>
              <a:gd name="connsiteY93" fmla="*/ 45035 h 918344"/>
              <a:gd name="connsiteX94" fmla="*/ 9428209 w 9517857"/>
              <a:gd name="connsiteY94"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840778 w 9517857"/>
              <a:gd name="connsiteY88" fmla="*/ 143137 h 918344"/>
              <a:gd name="connsiteX89" fmla="*/ 9010380 w 9517857"/>
              <a:gd name="connsiteY89" fmla="*/ 9187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91116 w 9517857"/>
              <a:gd name="connsiteY88" fmla="*/ 143137 h 918344"/>
              <a:gd name="connsiteX89" fmla="*/ 9010380 w 9517857"/>
              <a:gd name="connsiteY89" fmla="*/ 9187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91116 w 9517857"/>
              <a:gd name="connsiteY88" fmla="*/ 143137 h 918344"/>
              <a:gd name="connsiteX89" fmla="*/ 9010380 w 9517857"/>
              <a:gd name="connsiteY89" fmla="*/ 9187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91116 w 9517857"/>
              <a:gd name="connsiteY88" fmla="*/ 143137 h 918344"/>
              <a:gd name="connsiteX89" fmla="*/ 9002103 w 9517857"/>
              <a:gd name="connsiteY89" fmla="*/ 8552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683515 w 9517857"/>
              <a:gd name="connsiteY88" fmla="*/ 143137 h 918344"/>
              <a:gd name="connsiteX89" fmla="*/ 9002103 w 9517857"/>
              <a:gd name="connsiteY89" fmla="*/ 8552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63955 w 9517857"/>
              <a:gd name="connsiteY85" fmla="*/ 205605 h 918344"/>
              <a:gd name="connsiteX86" fmla="*/ 8256033 w 9517857"/>
              <a:gd name="connsiteY86" fmla="*/ 193701 h 918344"/>
              <a:gd name="connsiteX87" fmla="*/ 8551625 w 9517857"/>
              <a:gd name="connsiteY87" fmla="*/ 161505 h 918344"/>
              <a:gd name="connsiteX88" fmla="*/ 8683515 w 9517857"/>
              <a:gd name="connsiteY88" fmla="*/ 143137 h 918344"/>
              <a:gd name="connsiteX89" fmla="*/ 9002103 w 9517857"/>
              <a:gd name="connsiteY89" fmla="*/ 8552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9517857" h="918344">
                <a:moveTo>
                  <a:pt x="4686423" y="247907"/>
                </a:moveTo>
                <a:lnTo>
                  <a:pt x="4689051" y="250956"/>
                </a:lnTo>
                <a:lnTo>
                  <a:pt x="4687244" y="251286"/>
                </a:lnTo>
                <a:lnTo>
                  <a:pt x="4686423" y="247907"/>
                </a:lnTo>
                <a:close/>
                <a:moveTo>
                  <a:pt x="4685225" y="246518"/>
                </a:moveTo>
                <a:cubicBezTo>
                  <a:pt x="4688837" y="243186"/>
                  <a:pt x="4687468" y="244586"/>
                  <a:pt x="4686133" y="246715"/>
                </a:cubicBezTo>
                <a:cubicBezTo>
                  <a:pt x="4686230" y="247112"/>
                  <a:pt x="4686326" y="247510"/>
                  <a:pt x="4686423" y="247907"/>
                </a:cubicBezTo>
                <a:lnTo>
                  <a:pt x="4685225" y="246518"/>
                </a:lnTo>
                <a:close/>
                <a:moveTo>
                  <a:pt x="9428209" y="29911"/>
                </a:moveTo>
                <a:lnTo>
                  <a:pt x="9517857" y="0"/>
                </a:lnTo>
                <a:lnTo>
                  <a:pt x="9517857" y="918344"/>
                </a:lnTo>
                <a:lnTo>
                  <a:pt x="14604" y="918344"/>
                </a:lnTo>
                <a:lnTo>
                  <a:pt x="12841" y="917751"/>
                </a:lnTo>
                <a:cubicBezTo>
                  <a:pt x="4532" y="914852"/>
                  <a:pt x="-773" y="912795"/>
                  <a:pt x="93" y="912459"/>
                </a:cubicBezTo>
                <a:cubicBezTo>
                  <a:pt x="172" y="912286"/>
                  <a:pt x="58594" y="890483"/>
                  <a:pt x="58674" y="890310"/>
                </a:cubicBezTo>
                <a:cubicBezTo>
                  <a:pt x="127436" y="929602"/>
                  <a:pt x="206243" y="828214"/>
                  <a:pt x="275005" y="807217"/>
                </a:cubicBezTo>
                <a:cubicBezTo>
                  <a:pt x="303983" y="806075"/>
                  <a:pt x="504960" y="777363"/>
                  <a:pt x="587824" y="798183"/>
                </a:cubicBezTo>
                <a:cubicBezTo>
                  <a:pt x="598733" y="769336"/>
                  <a:pt x="682904" y="785912"/>
                  <a:pt x="651826" y="738326"/>
                </a:cubicBezTo>
                <a:cubicBezTo>
                  <a:pt x="688440" y="737850"/>
                  <a:pt x="753255" y="750384"/>
                  <a:pt x="727985" y="719814"/>
                </a:cubicBezTo>
                <a:cubicBezTo>
                  <a:pt x="739648" y="718737"/>
                  <a:pt x="775717" y="715075"/>
                  <a:pt x="778982" y="710130"/>
                </a:cubicBezTo>
                <a:cubicBezTo>
                  <a:pt x="779189" y="709395"/>
                  <a:pt x="849736" y="718709"/>
                  <a:pt x="849944" y="717975"/>
                </a:cubicBezTo>
                <a:lnTo>
                  <a:pt x="921659" y="712683"/>
                </a:lnTo>
                <a:lnTo>
                  <a:pt x="930946" y="734034"/>
                </a:lnTo>
                <a:lnTo>
                  <a:pt x="986250" y="713518"/>
                </a:lnTo>
                <a:lnTo>
                  <a:pt x="1013752" y="713349"/>
                </a:lnTo>
                <a:lnTo>
                  <a:pt x="1023734" y="718559"/>
                </a:lnTo>
                <a:cubicBezTo>
                  <a:pt x="1033291" y="721264"/>
                  <a:pt x="1045398" y="721382"/>
                  <a:pt x="1063207" y="715639"/>
                </a:cubicBezTo>
                <a:lnTo>
                  <a:pt x="1081980" y="738443"/>
                </a:lnTo>
                <a:lnTo>
                  <a:pt x="1218120" y="713268"/>
                </a:lnTo>
                <a:cubicBezTo>
                  <a:pt x="1230137" y="716150"/>
                  <a:pt x="1387179" y="685167"/>
                  <a:pt x="1397459" y="691178"/>
                </a:cubicBezTo>
                <a:cubicBezTo>
                  <a:pt x="1490025" y="704972"/>
                  <a:pt x="1465878" y="715592"/>
                  <a:pt x="1580688" y="693685"/>
                </a:cubicBezTo>
                <a:cubicBezTo>
                  <a:pt x="1607067" y="704367"/>
                  <a:pt x="1719477" y="658227"/>
                  <a:pt x="1772334" y="710628"/>
                </a:cubicBezTo>
                <a:cubicBezTo>
                  <a:pt x="1745536" y="644812"/>
                  <a:pt x="1976078" y="716424"/>
                  <a:pt x="2002561" y="659905"/>
                </a:cubicBezTo>
                <a:cubicBezTo>
                  <a:pt x="2045346" y="660345"/>
                  <a:pt x="2166676" y="654379"/>
                  <a:pt x="2135144" y="636489"/>
                </a:cubicBezTo>
                <a:cubicBezTo>
                  <a:pt x="2226022" y="620861"/>
                  <a:pt x="2361353" y="588467"/>
                  <a:pt x="2448505" y="578838"/>
                </a:cubicBezTo>
                <a:cubicBezTo>
                  <a:pt x="2446114" y="626857"/>
                  <a:pt x="2632278" y="528268"/>
                  <a:pt x="2658055" y="578715"/>
                </a:cubicBezTo>
                <a:cubicBezTo>
                  <a:pt x="2670795" y="573569"/>
                  <a:pt x="2682322" y="566993"/>
                  <a:pt x="2693698" y="560017"/>
                </a:cubicBezTo>
                <a:lnTo>
                  <a:pt x="2699673" y="556388"/>
                </a:lnTo>
                <a:lnTo>
                  <a:pt x="2727306" y="550686"/>
                </a:lnTo>
                <a:lnTo>
                  <a:pt x="2730451" y="538046"/>
                </a:lnTo>
                <a:lnTo>
                  <a:pt x="2768713" y="521563"/>
                </a:lnTo>
                <a:cubicBezTo>
                  <a:pt x="2783756" y="517092"/>
                  <a:pt x="2800788" y="514279"/>
                  <a:pt x="2820868" y="514148"/>
                </a:cubicBezTo>
                <a:cubicBezTo>
                  <a:pt x="2894791" y="532873"/>
                  <a:pt x="2981506" y="465495"/>
                  <a:pt x="3073635" y="491282"/>
                </a:cubicBezTo>
                <a:cubicBezTo>
                  <a:pt x="3106872" y="496612"/>
                  <a:pt x="3205785" y="487706"/>
                  <a:pt x="3222071" y="470547"/>
                </a:cubicBezTo>
                <a:cubicBezTo>
                  <a:pt x="3242193" y="465502"/>
                  <a:pt x="3267163" y="469124"/>
                  <a:pt x="3274069" y="451593"/>
                </a:cubicBezTo>
                <a:cubicBezTo>
                  <a:pt x="3286659" y="430153"/>
                  <a:pt x="3363648" y="455559"/>
                  <a:pt x="3349632" y="432571"/>
                </a:cubicBezTo>
                <a:lnTo>
                  <a:pt x="3479593" y="390425"/>
                </a:lnTo>
                <a:cubicBezTo>
                  <a:pt x="3546325" y="380108"/>
                  <a:pt x="3689266" y="375631"/>
                  <a:pt x="3750023" y="370666"/>
                </a:cubicBezTo>
                <a:cubicBezTo>
                  <a:pt x="3810780" y="365701"/>
                  <a:pt x="3796187" y="363985"/>
                  <a:pt x="3844133" y="360636"/>
                </a:cubicBezTo>
                <a:cubicBezTo>
                  <a:pt x="3892079" y="357287"/>
                  <a:pt x="4007004" y="338828"/>
                  <a:pt x="4037701" y="350573"/>
                </a:cubicBezTo>
                <a:cubicBezTo>
                  <a:pt x="4133026" y="338752"/>
                  <a:pt x="4159924" y="363178"/>
                  <a:pt x="4266740" y="361442"/>
                </a:cubicBezTo>
                <a:cubicBezTo>
                  <a:pt x="4385770" y="354362"/>
                  <a:pt x="4314535" y="340131"/>
                  <a:pt x="4430770" y="342631"/>
                </a:cubicBezTo>
                <a:cubicBezTo>
                  <a:pt x="4439969" y="322582"/>
                  <a:pt x="4478290" y="314633"/>
                  <a:pt x="4512664" y="319936"/>
                </a:cubicBezTo>
                <a:cubicBezTo>
                  <a:pt x="4570011" y="315126"/>
                  <a:pt x="4549085" y="269587"/>
                  <a:pt x="4616423" y="290902"/>
                </a:cubicBezTo>
                <a:cubicBezTo>
                  <a:pt x="4599641" y="270265"/>
                  <a:pt x="4692085" y="269204"/>
                  <a:pt x="4691675" y="253999"/>
                </a:cubicBezTo>
                <a:lnTo>
                  <a:pt x="4689051" y="250956"/>
                </a:lnTo>
                <a:lnTo>
                  <a:pt x="4719994" y="245295"/>
                </a:lnTo>
                <a:cubicBezTo>
                  <a:pt x="4732635" y="242763"/>
                  <a:pt x="4745300" y="240323"/>
                  <a:pt x="4752894" y="239863"/>
                </a:cubicBezTo>
                <a:lnTo>
                  <a:pt x="4769329" y="233573"/>
                </a:lnTo>
                <a:lnTo>
                  <a:pt x="4775634" y="234051"/>
                </a:lnTo>
                <a:lnTo>
                  <a:pt x="4790452" y="233560"/>
                </a:lnTo>
                <a:lnTo>
                  <a:pt x="4789062" y="241912"/>
                </a:lnTo>
                <a:cubicBezTo>
                  <a:pt x="4786342" y="249920"/>
                  <a:pt x="4804560" y="248619"/>
                  <a:pt x="4827826" y="246965"/>
                </a:cubicBezTo>
                <a:cubicBezTo>
                  <a:pt x="4875782" y="239557"/>
                  <a:pt x="4874112" y="283401"/>
                  <a:pt x="4892569" y="249921"/>
                </a:cubicBezTo>
                <a:lnTo>
                  <a:pt x="4896611" y="240436"/>
                </a:lnTo>
                <a:lnTo>
                  <a:pt x="4917286" y="243647"/>
                </a:lnTo>
                <a:cubicBezTo>
                  <a:pt x="4944584" y="247520"/>
                  <a:pt x="5004445" y="259177"/>
                  <a:pt x="5060397" y="263676"/>
                </a:cubicBezTo>
                <a:cubicBezTo>
                  <a:pt x="5093356" y="238577"/>
                  <a:pt x="5149615" y="249939"/>
                  <a:pt x="5244719" y="245243"/>
                </a:cubicBezTo>
                <a:cubicBezTo>
                  <a:pt x="5280563" y="216460"/>
                  <a:pt x="5287005" y="287909"/>
                  <a:pt x="5358056" y="247236"/>
                </a:cubicBezTo>
                <a:cubicBezTo>
                  <a:pt x="5361752" y="250245"/>
                  <a:pt x="5403312" y="238203"/>
                  <a:pt x="5426496" y="235130"/>
                </a:cubicBezTo>
                <a:cubicBezTo>
                  <a:pt x="5449679" y="232057"/>
                  <a:pt x="5473549" y="245599"/>
                  <a:pt x="5497161" y="228796"/>
                </a:cubicBezTo>
                <a:cubicBezTo>
                  <a:pt x="5639351" y="214989"/>
                  <a:pt x="5707050" y="169433"/>
                  <a:pt x="5923732" y="187376"/>
                </a:cubicBezTo>
                <a:cubicBezTo>
                  <a:pt x="5980821" y="181528"/>
                  <a:pt x="6140195" y="184371"/>
                  <a:pt x="6194152" y="151760"/>
                </a:cubicBezTo>
                <a:cubicBezTo>
                  <a:pt x="6187280" y="177771"/>
                  <a:pt x="6304222" y="153398"/>
                  <a:pt x="6281379" y="181614"/>
                </a:cubicBezTo>
                <a:cubicBezTo>
                  <a:pt x="6321899" y="201807"/>
                  <a:pt x="6335111" y="162578"/>
                  <a:pt x="6374947" y="179787"/>
                </a:cubicBezTo>
                <a:cubicBezTo>
                  <a:pt x="6417404" y="181324"/>
                  <a:pt x="6402484" y="169682"/>
                  <a:pt x="6448518" y="164366"/>
                </a:cubicBezTo>
                <a:cubicBezTo>
                  <a:pt x="6504958" y="162476"/>
                  <a:pt x="6493438" y="111191"/>
                  <a:pt x="6544700" y="167149"/>
                </a:cubicBezTo>
                <a:cubicBezTo>
                  <a:pt x="6601507" y="148685"/>
                  <a:pt x="6566269" y="164374"/>
                  <a:pt x="6648353" y="172238"/>
                </a:cubicBezTo>
                <a:cubicBezTo>
                  <a:pt x="6680008" y="155211"/>
                  <a:pt x="6707960" y="160661"/>
                  <a:pt x="6736227" y="173204"/>
                </a:cubicBezTo>
                <a:cubicBezTo>
                  <a:pt x="6813963" y="164272"/>
                  <a:pt x="6888143" y="181284"/>
                  <a:pt x="6977218" y="184277"/>
                </a:cubicBezTo>
                <a:cubicBezTo>
                  <a:pt x="7040424" y="188306"/>
                  <a:pt x="7000291" y="215076"/>
                  <a:pt x="7065221" y="227519"/>
                </a:cubicBezTo>
                <a:cubicBezTo>
                  <a:pt x="7130151" y="239962"/>
                  <a:pt x="7277790" y="252523"/>
                  <a:pt x="7366801" y="258938"/>
                </a:cubicBezTo>
                <a:cubicBezTo>
                  <a:pt x="7377311" y="252420"/>
                  <a:pt x="7435314" y="238566"/>
                  <a:pt x="7433745" y="246959"/>
                </a:cubicBezTo>
                <a:cubicBezTo>
                  <a:pt x="7446076" y="243878"/>
                  <a:pt x="7639946" y="245807"/>
                  <a:pt x="7644411" y="258974"/>
                </a:cubicBezTo>
                <a:cubicBezTo>
                  <a:pt x="7708015" y="258000"/>
                  <a:pt x="7770249" y="247712"/>
                  <a:pt x="7825110" y="229097"/>
                </a:cubicBezTo>
                <a:cubicBezTo>
                  <a:pt x="7908941" y="220202"/>
                  <a:pt x="8092134" y="211504"/>
                  <a:pt x="8163955" y="205605"/>
                </a:cubicBezTo>
                <a:cubicBezTo>
                  <a:pt x="8183007" y="196598"/>
                  <a:pt x="8225048" y="207087"/>
                  <a:pt x="8256033" y="193701"/>
                </a:cubicBezTo>
                <a:cubicBezTo>
                  <a:pt x="8334440" y="185293"/>
                  <a:pt x="8474968" y="164062"/>
                  <a:pt x="8551625" y="161505"/>
                </a:cubicBezTo>
                <a:cubicBezTo>
                  <a:pt x="8649083" y="153078"/>
                  <a:pt x="8607056" y="154741"/>
                  <a:pt x="8683515" y="143137"/>
                </a:cubicBezTo>
                <a:cubicBezTo>
                  <a:pt x="8746256" y="121084"/>
                  <a:pt x="8897706" y="99547"/>
                  <a:pt x="9002103" y="85529"/>
                </a:cubicBezTo>
                <a:cubicBezTo>
                  <a:pt x="9018826" y="50490"/>
                  <a:pt x="9112524" y="108345"/>
                  <a:pt x="9110856" y="70985"/>
                </a:cubicBezTo>
                <a:cubicBezTo>
                  <a:pt x="9148189" y="94238"/>
                  <a:pt x="9209809" y="53273"/>
                  <a:pt x="9268817" y="53070"/>
                </a:cubicBezTo>
                <a:cubicBezTo>
                  <a:pt x="9279135" y="35985"/>
                  <a:pt x="9292736" y="36508"/>
                  <a:pt x="9316667" y="45035"/>
                </a:cubicBezTo>
                <a:cubicBezTo>
                  <a:pt x="9352186" y="45850"/>
                  <a:pt x="9390008" y="39787"/>
                  <a:pt x="9428209" y="29911"/>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40183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Introduction &amp; Objectives</a:t>
            </a:r>
          </a:p>
        </p:txBody>
      </p:sp>
      <p:graphicFrame>
        <p:nvGraphicFramePr>
          <p:cNvPr id="5" name="Content Placeholder 2">
            <a:extLst>
              <a:ext uri="{FF2B5EF4-FFF2-40B4-BE49-F238E27FC236}">
                <a16:creationId xmlns:a16="http://schemas.microsoft.com/office/drawing/2014/main" id="{C6E9D60A-226D-D940-277F-37A195E15191}"/>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1" name="Group 10">
            <a:extLst>
              <a:ext uri="{FF2B5EF4-FFF2-40B4-BE49-F238E27FC236}">
                <a16:creationId xmlns:a16="http://schemas.microsoft.com/office/drawing/2014/main" id="{05314994-6337-4875-8CF5-652CAFE834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9143998" cy="4267200"/>
            <a:chOff x="7467600" y="0"/>
            <a:chExt cx="4724400" cy="6858000"/>
          </a:xfrm>
        </p:grpSpPr>
        <p:sp>
          <p:nvSpPr>
            <p:cNvPr id="12" name="Rectangle 11">
              <a:extLst>
                <a:ext uri="{FF2B5EF4-FFF2-40B4-BE49-F238E27FC236}">
                  <a16:creationId xmlns:a16="http://schemas.microsoft.com/office/drawing/2014/main" id="{B3A2D4D6-D501-439A-9FC6-397879C46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5CD20BAA-1998-4EBB-AD61-13A92072E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5" name="Freeform: Shape 14">
            <a:extLst>
              <a:ext uri="{FF2B5EF4-FFF2-40B4-BE49-F238E27FC236}">
                <a16:creationId xmlns:a16="http://schemas.microsoft.com/office/drawing/2014/main" id="{7449A6C7-D15F-4AA5-BFA5-71A404B47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7" name="Rectangle 16">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457201"/>
            <a:ext cx="8458200" cy="5943598"/>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p:cNvSpPr>
            <a:spLocks noGrp="1"/>
          </p:cNvSpPr>
          <p:nvPr>
            <p:ph type="title"/>
          </p:nvPr>
        </p:nvSpPr>
        <p:spPr>
          <a:xfrm>
            <a:off x="857250" y="990599"/>
            <a:ext cx="7429500" cy="685800"/>
          </a:xfrm>
        </p:spPr>
        <p:txBody>
          <a:bodyPr anchor="t">
            <a:normAutofit/>
          </a:bodyPr>
          <a:lstStyle/>
          <a:p>
            <a:r>
              <a:rPr lang="en-US" sz="3500"/>
              <a:t>Dataset &amp; Key Variables</a:t>
            </a:r>
          </a:p>
        </p:txBody>
      </p:sp>
      <p:graphicFrame>
        <p:nvGraphicFramePr>
          <p:cNvPr id="5" name="Content Placeholder 2">
            <a:extLst>
              <a:ext uri="{FF2B5EF4-FFF2-40B4-BE49-F238E27FC236}">
                <a16:creationId xmlns:a16="http://schemas.microsoft.com/office/drawing/2014/main" id="{4AB24673-2269-ACC2-70B4-ECA3A8B5880F}"/>
              </a:ext>
            </a:extLst>
          </p:cNvPr>
          <p:cNvGraphicFramePr>
            <a:graphicFrameLocks noGrp="1"/>
          </p:cNvGraphicFramePr>
          <p:nvPr>
            <p:ph idx="1"/>
            <p:extLst>
              <p:ext uri="{D42A27DB-BD31-4B8C-83A1-F6EECF244321}">
                <p14:modId xmlns:p14="http://schemas.microsoft.com/office/powerpoint/2010/main" val="177830889"/>
              </p:ext>
            </p:extLst>
          </p:nvPr>
        </p:nvGraphicFramePr>
        <p:xfrm>
          <a:off x="514350" y="2137228"/>
          <a:ext cx="8115300" cy="37337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US" sz="3300"/>
              <a:t>Data Preparation &amp; Assumptions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914F3CF-5C48-11A6-3108-CE8D7695B9AD}"/>
              </a:ext>
            </a:extLst>
          </p:cNvPr>
          <p:cNvGraphicFramePr>
            <a:graphicFrameLocks noGrp="1"/>
          </p:cNvGraphicFramePr>
          <p:nvPr>
            <p:ph idx="1"/>
            <p:extLst>
              <p:ext uri="{D42A27DB-BD31-4B8C-83A1-F6EECF244321}">
                <p14:modId xmlns:p14="http://schemas.microsoft.com/office/powerpoint/2010/main" val="197245254"/>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202" y="639520"/>
            <a:ext cx="2571750" cy="1719072"/>
          </a:xfrm>
        </p:spPr>
        <p:txBody>
          <a:bodyPr anchor="b">
            <a:normAutofit/>
          </a:bodyPr>
          <a:lstStyle/>
          <a:p>
            <a:pPr>
              <a:lnSpc>
                <a:spcPct val="90000"/>
              </a:lnSpc>
            </a:pPr>
            <a:r>
              <a:rPr lang="en-US" sz="3600"/>
              <a:t>National Cost Trends (2008-2018)</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73202" y="2807208"/>
            <a:ext cx="2571750" cy="3410712"/>
          </a:xfrm>
        </p:spPr>
        <p:txBody>
          <a:bodyPr anchor="t">
            <a:normAutofit/>
          </a:bodyPr>
          <a:lstStyle/>
          <a:p>
            <a:pPr>
              <a:defRPr sz="1400">
                <a:solidFill>
                  <a:srgbClr val="323232"/>
                </a:solidFill>
              </a:defRPr>
            </a:pPr>
            <a:r>
              <a:rPr lang="en-US" sz="1900"/>
              <a:t>Line chart: Average national cost per day (UNR_16)</a:t>
            </a:r>
          </a:p>
          <a:p>
            <a:pPr>
              <a:defRPr sz="1400">
                <a:solidFill>
                  <a:srgbClr val="323232"/>
                </a:solidFill>
              </a:defRPr>
            </a:pPr>
            <a:r>
              <a:rPr lang="en-US" sz="1900"/>
              <a:t>Highlight steady increase over 11 years</a:t>
            </a:r>
          </a:p>
          <a:p>
            <a:pPr>
              <a:defRPr sz="1400">
                <a:solidFill>
                  <a:srgbClr val="323232"/>
                </a:solidFill>
              </a:defRPr>
            </a:pPr>
            <a:r>
              <a:rPr lang="en-US" sz="1900"/>
              <a:t>National average: ~$7.47/day, peak values up to $36</a:t>
            </a:r>
          </a:p>
        </p:txBody>
      </p:sp>
      <p:pic>
        <p:nvPicPr>
          <p:cNvPr id="5" name="Picture 4">
            <a:extLst>
              <a:ext uri="{FF2B5EF4-FFF2-40B4-BE49-F238E27FC236}">
                <a16:creationId xmlns:a16="http://schemas.microsoft.com/office/drawing/2014/main" id="{C52F079F-25F2-6900-10E9-544A4E2302F7}"/>
              </a:ext>
            </a:extLst>
          </p:cNvPr>
          <p:cNvPicPr>
            <a:picLocks noChangeAspect="1"/>
          </p:cNvPicPr>
          <p:nvPr/>
        </p:nvPicPr>
        <p:blipFill>
          <a:blip r:embed="rId3"/>
          <a:stretch/>
        </p:blipFill>
        <p:spPr>
          <a:xfrm>
            <a:off x="3490722" y="2179858"/>
            <a:ext cx="5177790" cy="249828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Shape 49">
            <a:extLst>
              <a:ext uri="{FF2B5EF4-FFF2-40B4-BE49-F238E27FC236}">
                <a16:creationId xmlns:a16="http://schemas.microsoft.com/office/drawing/2014/main" id="{3529E97A-97C3-40EA-8A04-5C02398D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473202" y="630936"/>
            <a:ext cx="2699766" cy="1463040"/>
          </a:xfrm>
        </p:spPr>
        <p:txBody>
          <a:bodyPr anchor="ctr">
            <a:normAutofit/>
          </a:bodyPr>
          <a:lstStyle/>
          <a:p>
            <a:r>
              <a:rPr lang="en-US" sz="4200">
                <a:solidFill>
                  <a:srgbClr val="FFFFFF"/>
                </a:solidFill>
              </a:rPr>
              <a:t>Geographic Disparities</a:t>
            </a:r>
          </a:p>
        </p:txBody>
      </p:sp>
      <p:sp>
        <p:nvSpPr>
          <p:cNvPr id="56" name="sketch line">
            <a:extLst>
              <a:ext uri="{FF2B5EF4-FFF2-40B4-BE49-F238E27FC236}">
                <a16:creationId xmlns:a16="http://schemas.microsoft.com/office/drawing/2014/main" id="{59FA8C2E-A5A7-4490-927A-7CD58343ED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480309" y="1355598"/>
            <a:ext cx="1554480" cy="13716"/>
          </a:xfrm>
          <a:custGeom>
            <a:avLst/>
            <a:gdLst>
              <a:gd name="connsiteX0" fmla="*/ 0 w 1554480"/>
              <a:gd name="connsiteY0" fmla="*/ 0 h 13716"/>
              <a:gd name="connsiteX1" fmla="*/ 549250 w 1554480"/>
              <a:gd name="connsiteY1" fmla="*/ 0 h 13716"/>
              <a:gd name="connsiteX2" fmla="*/ 1082954 w 1554480"/>
              <a:gd name="connsiteY2" fmla="*/ 0 h 13716"/>
              <a:gd name="connsiteX3" fmla="*/ 1554480 w 1554480"/>
              <a:gd name="connsiteY3" fmla="*/ 0 h 13716"/>
              <a:gd name="connsiteX4" fmla="*/ 1554480 w 1554480"/>
              <a:gd name="connsiteY4" fmla="*/ 13716 h 13716"/>
              <a:gd name="connsiteX5" fmla="*/ 1067410 w 1554480"/>
              <a:gd name="connsiteY5" fmla="*/ 13716 h 13716"/>
              <a:gd name="connsiteX6" fmla="*/ 549250 w 1554480"/>
              <a:gd name="connsiteY6" fmla="*/ 13716 h 13716"/>
              <a:gd name="connsiteX7" fmla="*/ 0 w 1554480"/>
              <a:gd name="connsiteY7" fmla="*/ 13716 h 13716"/>
              <a:gd name="connsiteX8" fmla="*/ 0 w 1554480"/>
              <a:gd name="connsiteY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3716"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3820" y="4959"/>
                  <a:pt x="1554594" y="10798"/>
                  <a:pt x="1554480" y="13716"/>
                </a:cubicBezTo>
                <a:cubicBezTo>
                  <a:pt x="1338847" y="1555"/>
                  <a:pt x="1215066" y="33279"/>
                  <a:pt x="1067410" y="13716"/>
                </a:cubicBezTo>
                <a:cubicBezTo>
                  <a:pt x="919754" y="-5847"/>
                  <a:pt x="800465" y="-1492"/>
                  <a:pt x="549250" y="13716"/>
                </a:cubicBezTo>
                <a:cubicBezTo>
                  <a:pt x="298035" y="28924"/>
                  <a:pt x="158868" y="18197"/>
                  <a:pt x="0" y="13716"/>
                </a:cubicBezTo>
                <a:cubicBezTo>
                  <a:pt x="488" y="8630"/>
                  <a:pt x="480" y="6612"/>
                  <a:pt x="0" y="0"/>
                </a:cubicBezTo>
                <a:close/>
              </a:path>
              <a:path w="1554480" h="13716"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232" y="4157"/>
                  <a:pt x="1554673" y="7559"/>
                  <a:pt x="1554480" y="13716"/>
                </a:cubicBezTo>
                <a:cubicBezTo>
                  <a:pt x="1336087" y="7600"/>
                  <a:pt x="1310024" y="15187"/>
                  <a:pt x="1067410" y="13716"/>
                </a:cubicBezTo>
                <a:cubicBezTo>
                  <a:pt x="824796" y="12246"/>
                  <a:pt x="787902" y="30075"/>
                  <a:pt x="518160" y="13716"/>
                </a:cubicBezTo>
                <a:cubicBezTo>
                  <a:pt x="248418" y="-2643"/>
                  <a:pt x="133160" y="4633"/>
                  <a:pt x="0" y="13716"/>
                </a:cubicBezTo>
                <a:cubicBezTo>
                  <a:pt x="43" y="9160"/>
                  <a:pt x="-111" y="4811"/>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355846" y="630936"/>
            <a:ext cx="5305807" cy="1463040"/>
          </a:xfrm>
        </p:spPr>
        <p:txBody>
          <a:bodyPr anchor="ctr">
            <a:normAutofit/>
          </a:bodyPr>
          <a:lstStyle/>
          <a:p>
            <a:pPr>
              <a:defRPr sz="1400">
                <a:solidFill>
                  <a:srgbClr val="323232"/>
                </a:solidFill>
              </a:defRPr>
            </a:pPr>
            <a:r>
              <a:rPr lang="en-US" sz="1900">
                <a:solidFill>
                  <a:srgbClr val="FFFFFF"/>
                </a:solidFill>
              </a:rPr>
              <a:t>Choropleth map: State-level cost variations</a:t>
            </a:r>
          </a:p>
          <a:p>
            <a:pPr>
              <a:defRPr sz="1400">
                <a:solidFill>
                  <a:srgbClr val="323232"/>
                </a:solidFill>
              </a:defRPr>
            </a:pPr>
            <a:r>
              <a:rPr lang="en-US" sz="1900">
                <a:solidFill>
                  <a:srgbClr val="FFFFFF"/>
                </a:solidFill>
              </a:rPr>
              <a:t>Northeast &amp; West: higher costs</a:t>
            </a:r>
          </a:p>
          <a:p>
            <a:pPr>
              <a:defRPr sz="1400">
                <a:solidFill>
                  <a:srgbClr val="323232"/>
                </a:solidFill>
              </a:defRPr>
            </a:pPr>
            <a:r>
              <a:rPr lang="en-US" sz="1900">
                <a:solidFill>
                  <a:srgbClr val="FFFFFF"/>
                </a:solidFill>
              </a:rPr>
              <a:t>South &amp; Midwest: lower averages</a:t>
            </a:r>
          </a:p>
        </p:txBody>
      </p:sp>
      <p:pic>
        <p:nvPicPr>
          <p:cNvPr id="4" name="Picture 3">
            <a:extLst>
              <a:ext uri="{FF2B5EF4-FFF2-40B4-BE49-F238E27FC236}">
                <a16:creationId xmlns:a16="http://schemas.microsoft.com/office/drawing/2014/main" id="{2077B3E8-E4A8-9377-02A4-235D1D2ED5AE}"/>
              </a:ext>
            </a:extLst>
          </p:cNvPr>
          <p:cNvPicPr>
            <a:picLocks noChangeAspect="1"/>
          </p:cNvPicPr>
          <p:nvPr/>
        </p:nvPicPr>
        <p:blipFill>
          <a:blip r:embed="rId3"/>
          <a:stretch>
            <a:fillRect/>
          </a:stretch>
        </p:blipFill>
        <p:spPr>
          <a:xfrm>
            <a:off x="473202" y="3485132"/>
            <a:ext cx="8188452" cy="225182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0"/>
            <a:ext cx="8375586"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20">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196" y="0"/>
            <a:ext cx="836676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6676" y="548640"/>
            <a:ext cx="7626096" cy="1179576"/>
          </a:xfrm>
        </p:spPr>
        <p:txBody>
          <a:bodyPr>
            <a:normAutofit/>
          </a:bodyPr>
          <a:lstStyle/>
          <a:p>
            <a:r>
              <a:rPr lang="en-US" sz="3500"/>
              <a:t>Cost Growth Hotspots</a:t>
            </a:r>
          </a:p>
        </p:txBody>
      </p:sp>
      <p:sp>
        <p:nvSpPr>
          <p:cNvPr id="22" name="Rectangle 21">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770799"/>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C3AD5252-CEA2-9DD5-4605-41A53ABE16D3}"/>
              </a:ext>
            </a:extLst>
          </p:cNvPr>
          <p:cNvPicPr>
            <a:picLocks noChangeAspect="1"/>
          </p:cNvPicPr>
          <p:nvPr/>
        </p:nvPicPr>
        <p:blipFill>
          <a:blip r:embed="rId3"/>
          <a:srcRect l="18132" r="20861" b="1"/>
          <a:stretch>
            <a:fillRect/>
          </a:stretch>
        </p:blipFill>
        <p:spPr>
          <a:xfrm>
            <a:off x="681228" y="2478024"/>
            <a:ext cx="4507391" cy="3694176"/>
          </a:xfrm>
          <a:prstGeom prst="rect">
            <a:avLst/>
          </a:prstGeom>
        </p:spPr>
      </p:pic>
      <p:sp>
        <p:nvSpPr>
          <p:cNvPr id="3" name="Content Placeholder 2"/>
          <p:cNvSpPr>
            <a:spLocks noGrp="1"/>
          </p:cNvSpPr>
          <p:nvPr>
            <p:ph idx="1"/>
          </p:nvPr>
        </p:nvSpPr>
        <p:spPr>
          <a:xfrm>
            <a:off x="5558589" y="2478024"/>
            <a:ext cx="2904183" cy="3694176"/>
          </a:xfrm>
        </p:spPr>
        <p:txBody>
          <a:bodyPr anchor="ctr">
            <a:normAutofit/>
          </a:bodyPr>
          <a:lstStyle/>
          <a:p>
            <a:pPr>
              <a:defRPr sz="1400">
                <a:solidFill>
                  <a:srgbClr val="323232"/>
                </a:solidFill>
              </a:defRPr>
            </a:pPr>
            <a:r>
              <a:rPr lang="en-US" sz="1600"/>
              <a:t>Top 5 most expensive counties (2018)</a:t>
            </a:r>
          </a:p>
          <a:p>
            <a:pPr>
              <a:defRPr sz="1400">
                <a:solidFill>
                  <a:srgbClr val="323232"/>
                </a:solidFill>
              </a:defRPr>
            </a:pPr>
            <a:r>
              <a:rPr lang="en-US" sz="1600"/>
              <a:t>Fastest-growing counties (2015-2018)</a:t>
            </a:r>
          </a:p>
          <a:p>
            <a:pPr>
              <a:defRPr sz="1400">
                <a:solidFill>
                  <a:srgbClr val="323232"/>
                </a:solidFill>
              </a:defRPr>
            </a:pPr>
            <a:r>
              <a:rPr lang="en-US" sz="1600"/>
              <a:t>Bar chart comparison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202" y="639520"/>
            <a:ext cx="2571750" cy="1719072"/>
          </a:xfrm>
        </p:spPr>
        <p:txBody>
          <a:bodyPr anchor="b">
            <a:normAutofit/>
          </a:bodyPr>
          <a:lstStyle/>
          <a:p>
            <a:pPr>
              <a:lnSpc>
                <a:spcPct val="90000"/>
              </a:lnSpc>
            </a:pPr>
            <a:r>
              <a:rPr lang="en-US" sz="2900"/>
              <a:t>Socioeconomic Impact</a:t>
            </a:r>
          </a:p>
        </p:txBody>
      </p:sp>
      <p:sp>
        <p:nvSpPr>
          <p:cNvPr id="11"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73202" y="2807208"/>
            <a:ext cx="2571750" cy="3410712"/>
          </a:xfrm>
        </p:spPr>
        <p:txBody>
          <a:bodyPr anchor="t">
            <a:normAutofit/>
          </a:bodyPr>
          <a:lstStyle/>
          <a:p>
            <a:pPr>
              <a:defRPr sz="1400">
                <a:solidFill>
                  <a:srgbClr val="323232"/>
                </a:solidFill>
              </a:defRPr>
            </a:pPr>
            <a:r>
              <a:rPr lang="en-US" sz="1900"/>
              <a:t>Scatterplot: UNR_16 vs. Female labor force participation (FUNR_20to64)</a:t>
            </a:r>
          </a:p>
          <a:p>
            <a:pPr>
              <a:defRPr sz="1400">
                <a:solidFill>
                  <a:srgbClr val="323232"/>
                </a:solidFill>
              </a:defRPr>
            </a:pPr>
            <a:r>
              <a:rPr lang="en-US" sz="1900"/>
              <a:t>Observation: Higher childcare costs often correlate with slightly lower female participation rates</a:t>
            </a:r>
          </a:p>
        </p:txBody>
      </p:sp>
      <p:pic>
        <p:nvPicPr>
          <p:cNvPr id="4" name="Picture 3">
            <a:extLst>
              <a:ext uri="{FF2B5EF4-FFF2-40B4-BE49-F238E27FC236}">
                <a16:creationId xmlns:a16="http://schemas.microsoft.com/office/drawing/2014/main" id="{033199A7-E7F9-25B4-122B-032895041C9D}"/>
              </a:ext>
            </a:extLst>
          </p:cNvPr>
          <p:cNvPicPr>
            <a:picLocks noChangeAspect="1"/>
          </p:cNvPicPr>
          <p:nvPr/>
        </p:nvPicPr>
        <p:blipFill>
          <a:blip r:embed="rId3"/>
          <a:stretch>
            <a:fillRect/>
          </a:stretch>
        </p:blipFill>
        <p:spPr>
          <a:xfrm>
            <a:off x="3490722" y="1480857"/>
            <a:ext cx="5177790" cy="38962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548640"/>
            <a:ext cx="2700645" cy="5431536"/>
          </a:xfrm>
        </p:spPr>
        <p:txBody>
          <a:bodyPr>
            <a:normAutofit/>
          </a:bodyPr>
          <a:lstStyle/>
          <a:p>
            <a:r>
              <a:rPr lang="en-US" sz="4700"/>
              <a:t>Key Insights</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47917" y="3261001"/>
            <a:ext cx="4480560" cy="13716"/>
          </a:xfrm>
          <a:custGeom>
            <a:avLst/>
            <a:gdLst>
              <a:gd name="connsiteX0" fmla="*/ 0 w 4480560"/>
              <a:gd name="connsiteY0" fmla="*/ 0 h 13716"/>
              <a:gd name="connsiteX1" fmla="*/ 595274 w 4480560"/>
              <a:gd name="connsiteY1" fmla="*/ 0 h 13716"/>
              <a:gd name="connsiteX2" fmla="*/ 1100938 w 4480560"/>
              <a:gd name="connsiteY2" fmla="*/ 0 h 13716"/>
              <a:gd name="connsiteX3" fmla="*/ 1651406 w 4480560"/>
              <a:gd name="connsiteY3" fmla="*/ 0 h 13716"/>
              <a:gd name="connsiteX4" fmla="*/ 2336292 w 4480560"/>
              <a:gd name="connsiteY4" fmla="*/ 0 h 13716"/>
              <a:gd name="connsiteX5" fmla="*/ 2931566 w 4480560"/>
              <a:gd name="connsiteY5" fmla="*/ 0 h 13716"/>
              <a:gd name="connsiteX6" fmla="*/ 3482035 w 4480560"/>
              <a:gd name="connsiteY6" fmla="*/ 0 h 13716"/>
              <a:gd name="connsiteX7" fmla="*/ 4480560 w 4480560"/>
              <a:gd name="connsiteY7" fmla="*/ 0 h 13716"/>
              <a:gd name="connsiteX8" fmla="*/ 4480560 w 4480560"/>
              <a:gd name="connsiteY8" fmla="*/ 13716 h 13716"/>
              <a:gd name="connsiteX9" fmla="*/ 3840480 w 4480560"/>
              <a:gd name="connsiteY9" fmla="*/ 13716 h 13716"/>
              <a:gd name="connsiteX10" fmla="*/ 3290011 w 4480560"/>
              <a:gd name="connsiteY10" fmla="*/ 13716 h 13716"/>
              <a:gd name="connsiteX11" fmla="*/ 2560320 w 4480560"/>
              <a:gd name="connsiteY11" fmla="*/ 13716 h 13716"/>
              <a:gd name="connsiteX12" fmla="*/ 1965046 w 4480560"/>
              <a:gd name="connsiteY12" fmla="*/ 13716 h 13716"/>
              <a:gd name="connsiteX13" fmla="*/ 1459382 w 4480560"/>
              <a:gd name="connsiteY13" fmla="*/ 13716 h 13716"/>
              <a:gd name="connsiteX14" fmla="*/ 774497 w 4480560"/>
              <a:gd name="connsiteY14" fmla="*/ 13716 h 13716"/>
              <a:gd name="connsiteX15" fmla="*/ 0 w 4480560"/>
              <a:gd name="connsiteY15" fmla="*/ 13716 h 13716"/>
              <a:gd name="connsiteX16" fmla="*/ 0 w 4480560"/>
              <a:gd name="connsiteY1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3716"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273" y="3379"/>
                  <a:pt x="4480768" y="9289"/>
                  <a:pt x="4480560" y="13716"/>
                </a:cubicBezTo>
                <a:cubicBezTo>
                  <a:pt x="4314132" y="10352"/>
                  <a:pt x="4028383" y="32060"/>
                  <a:pt x="3840480" y="13716"/>
                </a:cubicBezTo>
                <a:cubicBezTo>
                  <a:pt x="3652577" y="-4628"/>
                  <a:pt x="3547615" y="-1724"/>
                  <a:pt x="3290011" y="13716"/>
                </a:cubicBezTo>
                <a:cubicBezTo>
                  <a:pt x="3032407" y="29156"/>
                  <a:pt x="2830268" y="4147"/>
                  <a:pt x="2560320" y="13716"/>
                </a:cubicBezTo>
                <a:cubicBezTo>
                  <a:pt x="2290372" y="23285"/>
                  <a:pt x="2147422" y="2156"/>
                  <a:pt x="1965046" y="13716"/>
                </a:cubicBezTo>
                <a:cubicBezTo>
                  <a:pt x="1782670" y="25276"/>
                  <a:pt x="1689791" y="36108"/>
                  <a:pt x="1459382" y="13716"/>
                </a:cubicBezTo>
                <a:cubicBezTo>
                  <a:pt x="1228973" y="-8676"/>
                  <a:pt x="915486" y="31929"/>
                  <a:pt x="774497" y="13716"/>
                </a:cubicBezTo>
                <a:cubicBezTo>
                  <a:pt x="633508" y="-4497"/>
                  <a:pt x="361442" y="-15679"/>
                  <a:pt x="0" y="13716"/>
                </a:cubicBezTo>
                <a:cubicBezTo>
                  <a:pt x="-362" y="8190"/>
                  <a:pt x="-434" y="6098"/>
                  <a:pt x="0" y="0"/>
                </a:cubicBezTo>
                <a:close/>
              </a:path>
              <a:path w="4480560" h="13716"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360" y="3832"/>
                  <a:pt x="4481152" y="9314"/>
                  <a:pt x="4480560" y="13716"/>
                </a:cubicBezTo>
                <a:cubicBezTo>
                  <a:pt x="4279652" y="-11422"/>
                  <a:pt x="4200762" y="36994"/>
                  <a:pt x="3930091" y="13716"/>
                </a:cubicBezTo>
                <a:cubicBezTo>
                  <a:pt x="3659420" y="-9562"/>
                  <a:pt x="3456052" y="17722"/>
                  <a:pt x="3290011" y="13716"/>
                </a:cubicBezTo>
                <a:cubicBezTo>
                  <a:pt x="3123970" y="9710"/>
                  <a:pt x="2882392" y="28246"/>
                  <a:pt x="2649931" y="13716"/>
                </a:cubicBezTo>
                <a:cubicBezTo>
                  <a:pt x="2417470" y="-814"/>
                  <a:pt x="2238426" y="2765"/>
                  <a:pt x="2054657" y="13716"/>
                </a:cubicBezTo>
                <a:cubicBezTo>
                  <a:pt x="1870888" y="24667"/>
                  <a:pt x="1566368" y="40468"/>
                  <a:pt x="1324966" y="13716"/>
                </a:cubicBezTo>
                <a:cubicBezTo>
                  <a:pt x="1083564" y="-13036"/>
                  <a:pt x="787410" y="6374"/>
                  <a:pt x="595274" y="13716"/>
                </a:cubicBezTo>
                <a:cubicBezTo>
                  <a:pt x="403138" y="21058"/>
                  <a:pt x="169622" y="5927"/>
                  <a:pt x="0" y="13716"/>
                </a:cubicBezTo>
                <a:cubicBezTo>
                  <a:pt x="-475" y="8699"/>
                  <a:pt x="-565" y="440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44813" y="552091"/>
            <a:ext cx="4668251" cy="5431536"/>
          </a:xfrm>
        </p:spPr>
        <p:txBody>
          <a:bodyPr anchor="ctr">
            <a:normAutofit/>
          </a:bodyPr>
          <a:lstStyle/>
          <a:p>
            <a:pPr>
              <a:defRPr sz="1400">
                <a:solidFill>
                  <a:srgbClr val="323232"/>
                </a:solidFill>
              </a:defRPr>
            </a:pPr>
            <a:r>
              <a:rPr lang="en-US" sz="1900"/>
              <a:t>Costs rising nationwide, but unevenly</a:t>
            </a:r>
          </a:p>
          <a:p>
            <a:pPr>
              <a:defRPr sz="1400">
                <a:solidFill>
                  <a:srgbClr val="323232"/>
                </a:solidFill>
              </a:defRPr>
            </a:pPr>
            <a:r>
              <a:rPr lang="en-US" sz="1900"/>
              <a:t>Significant regional disparities</a:t>
            </a:r>
          </a:p>
          <a:p>
            <a:pPr>
              <a:defRPr sz="1400">
                <a:solidFill>
                  <a:srgbClr val="323232"/>
                </a:solidFill>
              </a:defRPr>
            </a:pPr>
            <a:r>
              <a:rPr lang="en-US" sz="1900"/>
              <a:t>Potential barrier to female workforce participation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548640"/>
            <a:ext cx="2700645" cy="5431536"/>
          </a:xfrm>
        </p:spPr>
        <p:txBody>
          <a:bodyPr>
            <a:normAutofit/>
          </a:bodyPr>
          <a:lstStyle/>
          <a:p>
            <a:r>
              <a:rPr lang="en-US" sz="2600"/>
              <a:t>Policy Recommendations</a:t>
            </a:r>
          </a:p>
        </p:txBody>
      </p:sp>
      <p:sp>
        <p:nvSpPr>
          <p:cNvPr id="2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47917" y="3261001"/>
            <a:ext cx="4480560" cy="13716"/>
          </a:xfrm>
          <a:custGeom>
            <a:avLst/>
            <a:gdLst>
              <a:gd name="connsiteX0" fmla="*/ 0 w 4480560"/>
              <a:gd name="connsiteY0" fmla="*/ 0 h 13716"/>
              <a:gd name="connsiteX1" fmla="*/ 595274 w 4480560"/>
              <a:gd name="connsiteY1" fmla="*/ 0 h 13716"/>
              <a:gd name="connsiteX2" fmla="*/ 1100938 w 4480560"/>
              <a:gd name="connsiteY2" fmla="*/ 0 h 13716"/>
              <a:gd name="connsiteX3" fmla="*/ 1651406 w 4480560"/>
              <a:gd name="connsiteY3" fmla="*/ 0 h 13716"/>
              <a:gd name="connsiteX4" fmla="*/ 2336292 w 4480560"/>
              <a:gd name="connsiteY4" fmla="*/ 0 h 13716"/>
              <a:gd name="connsiteX5" fmla="*/ 2931566 w 4480560"/>
              <a:gd name="connsiteY5" fmla="*/ 0 h 13716"/>
              <a:gd name="connsiteX6" fmla="*/ 3482035 w 4480560"/>
              <a:gd name="connsiteY6" fmla="*/ 0 h 13716"/>
              <a:gd name="connsiteX7" fmla="*/ 4480560 w 4480560"/>
              <a:gd name="connsiteY7" fmla="*/ 0 h 13716"/>
              <a:gd name="connsiteX8" fmla="*/ 4480560 w 4480560"/>
              <a:gd name="connsiteY8" fmla="*/ 13716 h 13716"/>
              <a:gd name="connsiteX9" fmla="*/ 3840480 w 4480560"/>
              <a:gd name="connsiteY9" fmla="*/ 13716 h 13716"/>
              <a:gd name="connsiteX10" fmla="*/ 3290011 w 4480560"/>
              <a:gd name="connsiteY10" fmla="*/ 13716 h 13716"/>
              <a:gd name="connsiteX11" fmla="*/ 2560320 w 4480560"/>
              <a:gd name="connsiteY11" fmla="*/ 13716 h 13716"/>
              <a:gd name="connsiteX12" fmla="*/ 1965046 w 4480560"/>
              <a:gd name="connsiteY12" fmla="*/ 13716 h 13716"/>
              <a:gd name="connsiteX13" fmla="*/ 1459382 w 4480560"/>
              <a:gd name="connsiteY13" fmla="*/ 13716 h 13716"/>
              <a:gd name="connsiteX14" fmla="*/ 774497 w 4480560"/>
              <a:gd name="connsiteY14" fmla="*/ 13716 h 13716"/>
              <a:gd name="connsiteX15" fmla="*/ 0 w 4480560"/>
              <a:gd name="connsiteY15" fmla="*/ 13716 h 13716"/>
              <a:gd name="connsiteX16" fmla="*/ 0 w 4480560"/>
              <a:gd name="connsiteY1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3716"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273" y="3379"/>
                  <a:pt x="4480768" y="9289"/>
                  <a:pt x="4480560" y="13716"/>
                </a:cubicBezTo>
                <a:cubicBezTo>
                  <a:pt x="4314132" y="10352"/>
                  <a:pt x="4028383" y="32060"/>
                  <a:pt x="3840480" y="13716"/>
                </a:cubicBezTo>
                <a:cubicBezTo>
                  <a:pt x="3652577" y="-4628"/>
                  <a:pt x="3547615" y="-1724"/>
                  <a:pt x="3290011" y="13716"/>
                </a:cubicBezTo>
                <a:cubicBezTo>
                  <a:pt x="3032407" y="29156"/>
                  <a:pt x="2830268" y="4147"/>
                  <a:pt x="2560320" y="13716"/>
                </a:cubicBezTo>
                <a:cubicBezTo>
                  <a:pt x="2290372" y="23285"/>
                  <a:pt x="2147422" y="2156"/>
                  <a:pt x="1965046" y="13716"/>
                </a:cubicBezTo>
                <a:cubicBezTo>
                  <a:pt x="1782670" y="25276"/>
                  <a:pt x="1689791" y="36108"/>
                  <a:pt x="1459382" y="13716"/>
                </a:cubicBezTo>
                <a:cubicBezTo>
                  <a:pt x="1228973" y="-8676"/>
                  <a:pt x="915486" y="31929"/>
                  <a:pt x="774497" y="13716"/>
                </a:cubicBezTo>
                <a:cubicBezTo>
                  <a:pt x="633508" y="-4497"/>
                  <a:pt x="361442" y="-15679"/>
                  <a:pt x="0" y="13716"/>
                </a:cubicBezTo>
                <a:cubicBezTo>
                  <a:pt x="-362" y="8190"/>
                  <a:pt x="-434" y="6098"/>
                  <a:pt x="0" y="0"/>
                </a:cubicBezTo>
                <a:close/>
              </a:path>
              <a:path w="4480560" h="13716"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360" y="3832"/>
                  <a:pt x="4481152" y="9314"/>
                  <a:pt x="4480560" y="13716"/>
                </a:cubicBezTo>
                <a:cubicBezTo>
                  <a:pt x="4279652" y="-11422"/>
                  <a:pt x="4200762" y="36994"/>
                  <a:pt x="3930091" y="13716"/>
                </a:cubicBezTo>
                <a:cubicBezTo>
                  <a:pt x="3659420" y="-9562"/>
                  <a:pt x="3456052" y="17722"/>
                  <a:pt x="3290011" y="13716"/>
                </a:cubicBezTo>
                <a:cubicBezTo>
                  <a:pt x="3123970" y="9710"/>
                  <a:pt x="2882392" y="28246"/>
                  <a:pt x="2649931" y="13716"/>
                </a:cubicBezTo>
                <a:cubicBezTo>
                  <a:pt x="2417470" y="-814"/>
                  <a:pt x="2238426" y="2765"/>
                  <a:pt x="2054657" y="13716"/>
                </a:cubicBezTo>
                <a:cubicBezTo>
                  <a:pt x="1870888" y="24667"/>
                  <a:pt x="1566368" y="40468"/>
                  <a:pt x="1324966" y="13716"/>
                </a:cubicBezTo>
                <a:cubicBezTo>
                  <a:pt x="1083564" y="-13036"/>
                  <a:pt x="787410" y="6374"/>
                  <a:pt x="595274" y="13716"/>
                </a:cubicBezTo>
                <a:cubicBezTo>
                  <a:pt x="403138" y="21058"/>
                  <a:pt x="169622" y="5927"/>
                  <a:pt x="0" y="13716"/>
                </a:cubicBezTo>
                <a:cubicBezTo>
                  <a:pt x="-475" y="8699"/>
                  <a:pt x="-565" y="440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44813" y="552091"/>
            <a:ext cx="4668251" cy="5431536"/>
          </a:xfrm>
        </p:spPr>
        <p:txBody>
          <a:bodyPr anchor="ctr">
            <a:normAutofit/>
          </a:bodyPr>
          <a:lstStyle/>
          <a:p>
            <a:pPr>
              <a:defRPr sz="1400">
                <a:solidFill>
                  <a:srgbClr val="323232"/>
                </a:solidFill>
              </a:defRPr>
            </a:pPr>
            <a:r>
              <a:rPr lang="en-US" sz="1900"/>
              <a:t>Subsidies for high-cost regions</a:t>
            </a:r>
          </a:p>
          <a:p>
            <a:pPr>
              <a:defRPr sz="1400">
                <a:solidFill>
                  <a:srgbClr val="323232"/>
                </a:solidFill>
              </a:defRPr>
            </a:pPr>
            <a:r>
              <a:rPr lang="en-US" sz="1900"/>
              <a:t>Inflation-indexed cost monitoring</a:t>
            </a:r>
          </a:p>
          <a:p>
            <a:pPr>
              <a:defRPr sz="1400">
                <a:solidFill>
                  <a:srgbClr val="323232"/>
                </a:solidFill>
              </a:defRPr>
            </a:pPr>
            <a:r>
              <a:rPr lang="en-US" sz="1900"/>
              <a:t>Improved provider regulation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548640"/>
            <a:ext cx="2700645" cy="5431536"/>
          </a:xfrm>
        </p:spPr>
        <p:txBody>
          <a:bodyPr>
            <a:normAutofit/>
          </a:bodyPr>
          <a:lstStyle/>
          <a:p>
            <a:r>
              <a:rPr lang="en-US" sz="2900"/>
              <a:t>Ethical Considerations &amp; Limitations</a:t>
            </a:r>
          </a:p>
        </p:txBody>
      </p:sp>
      <p:sp>
        <p:nvSpPr>
          <p:cNvPr id="2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47917" y="3261001"/>
            <a:ext cx="4480560" cy="13716"/>
          </a:xfrm>
          <a:custGeom>
            <a:avLst/>
            <a:gdLst>
              <a:gd name="connsiteX0" fmla="*/ 0 w 4480560"/>
              <a:gd name="connsiteY0" fmla="*/ 0 h 13716"/>
              <a:gd name="connsiteX1" fmla="*/ 595274 w 4480560"/>
              <a:gd name="connsiteY1" fmla="*/ 0 h 13716"/>
              <a:gd name="connsiteX2" fmla="*/ 1100938 w 4480560"/>
              <a:gd name="connsiteY2" fmla="*/ 0 h 13716"/>
              <a:gd name="connsiteX3" fmla="*/ 1651406 w 4480560"/>
              <a:gd name="connsiteY3" fmla="*/ 0 h 13716"/>
              <a:gd name="connsiteX4" fmla="*/ 2336292 w 4480560"/>
              <a:gd name="connsiteY4" fmla="*/ 0 h 13716"/>
              <a:gd name="connsiteX5" fmla="*/ 2931566 w 4480560"/>
              <a:gd name="connsiteY5" fmla="*/ 0 h 13716"/>
              <a:gd name="connsiteX6" fmla="*/ 3482035 w 4480560"/>
              <a:gd name="connsiteY6" fmla="*/ 0 h 13716"/>
              <a:gd name="connsiteX7" fmla="*/ 4480560 w 4480560"/>
              <a:gd name="connsiteY7" fmla="*/ 0 h 13716"/>
              <a:gd name="connsiteX8" fmla="*/ 4480560 w 4480560"/>
              <a:gd name="connsiteY8" fmla="*/ 13716 h 13716"/>
              <a:gd name="connsiteX9" fmla="*/ 3840480 w 4480560"/>
              <a:gd name="connsiteY9" fmla="*/ 13716 h 13716"/>
              <a:gd name="connsiteX10" fmla="*/ 3290011 w 4480560"/>
              <a:gd name="connsiteY10" fmla="*/ 13716 h 13716"/>
              <a:gd name="connsiteX11" fmla="*/ 2560320 w 4480560"/>
              <a:gd name="connsiteY11" fmla="*/ 13716 h 13716"/>
              <a:gd name="connsiteX12" fmla="*/ 1965046 w 4480560"/>
              <a:gd name="connsiteY12" fmla="*/ 13716 h 13716"/>
              <a:gd name="connsiteX13" fmla="*/ 1459382 w 4480560"/>
              <a:gd name="connsiteY13" fmla="*/ 13716 h 13716"/>
              <a:gd name="connsiteX14" fmla="*/ 774497 w 4480560"/>
              <a:gd name="connsiteY14" fmla="*/ 13716 h 13716"/>
              <a:gd name="connsiteX15" fmla="*/ 0 w 4480560"/>
              <a:gd name="connsiteY15" fmla="*/ 13716 h 13716"/>
              <a:gd name="connsiteX16" fmla="*/ 0 w 4480560"/>
              <a:gd name="connsiteY1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3716"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273" y="3379"/>
                  <a:pt x="4480768" y="9289"/>
                  <a:pt x="4480560" y="13716"/>
                </a:cubicBezTo>
                <a:cubicBezTo>
                  <a:pt x="4314132" y="10352"/>
                  <a:pt x="4028383" y="32060"/>
                  <a:pt x="3840480" y="13716"/>
                </a:cubicBezTo>
                <a:cubicBezTo>
                  <a:pt x="3652577" y="-4628"/>
                  <a:pt x="3547615" y="-1724"/>
                  <a:pt x="3290011" y="13716"/>
                </a:cubicBezTo>
                <a:cubicBezTo>
                  <a:pt x="3032407" y="29156"/>
                  <a:pt x="2830268" y="4147"/>
                  <a:pt x="2560320" y="13716"/>
                </a:cubicBezTo>
                <a:cubicBezTo>
                  <a:pt x="2290372" y="23285"/>
                  <a:pt x="2147422" y="2156"/>
                  <a:pt x="1965046" y="13716"/>
                </a:cubicBezTo>
                <a:cubicBezTo>
                  <a:pt x="1782670" y="25276"/>
                  <a:pt x="1689791" y="36108"/>
                  <a:pt x="1459382" y="13716"/>
                </a:cubicBezTo>
                <a:cubicBezTo>
                  <a:pt x="1228973" y="-8676"/>
                  <a:pt x="915486" y="31929"/>
                  <a:pt x="774497" y="13716"/>
                </a:cubicBezTo>
                <a:cubicBezTo>
                  <a:pt x="633508" y="-4497"/>
                  <a:pt x="361442" y="-15679"/>
                  <a:pt x="0" y="13716"/>
                </a:cubicBezTo>
                <a:cubicBezTo>
                  <a:pt x="-362" y="8190"/>
                  <a:pt x="-434" y="6098"/>
                  <a:pt x="0" y="0"/>
                </a:cubicBezTo>
                <a:close/>
              </a:path>
              <a:path w="4480560" h="13716"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360" y="3832"/>
                  <a:pt x="4481152" y="9314"/>
                  <a:pt x="4480560" y="13716"/>
                </a:cubicBezTo>
                <a:cubicBezTo>
                  <a:pt x="4279652" y="-11422"/>
                  <a:pt x="4200762" y="36994"/>
                  <a:pt x="3930091" y="13716"/>
                </a:cubicBezTo>
                <a:cubicBezTo>
                  <a:pt x="3659420" y="-9562"/>
                  <a:pt x="3456052" y="17722"/>
                  <a:pt x="3290011" y="13716"/>
                </a:cubicBezTo>
                <a:cubicBezTo>
                  <a:pt x="3123970" y="9710"/>
                  <a:pt x="2882392" y="28246"/>
                  <a:pt x="2649931" y="13716"/>
                </a:cubicBezTo>
                <a:cubicBezTo>
                  <a:pt x="2417470" y="-814"/>
                  <a:pt x="2238426" y="2765"/>
                  <a:pt x="2054657" y="13716"/>
                </a:cubicBezTo>
                <a:cubicBezTo>
                  <a:pt x="1870888" y="24667"/>
                  <a:pt x="1566368" y="40468"/>
                  <a:pt x="1324966" y="13716"/>
                </a:cubicBezTo>
                <a:cubicBezTo>
                  <a:pt x="1083564" y="-13036"/>
                  <a:pt x="787410" y="6374"/>
                  <a:pt x="595274" y="13716"/>
                </a:cubicBezTo>
                <a:cubicBezTo>
                  <a:pt x="403138" y="21058"/>
                  <a:pt x="169622" y="5927"/>
                  <a:pt x="0" y="13716"/>
                </a:cubicBezTo>
                <a:cubicBezTo>
                  <a:pt x="-475" y="8699"/>
                  <a:pt x="-565" y="440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44813" y="552091"/>
            <a:ext cx="4668251" cy="5431536"/>
          </a:xfrm>
        </p:spPr>
        <p:txBody>
          <a:bodyPr anchor="ctr">
            <a:normAutofit/>
          </a:bodyPr>
          <a:lstStyle/>
          <a:p>
            <a:pPr>
              <a:defRPr sz="1400">
                <a:solidFill>
                  <a:srgbClr val="323232"/>
                </a:solidFill>
              </a:defRPr>
            </a:pPr>
            <a:r>
              <a:rPr lang="en-US" sz="1900"/>
              <a:t>Transparency in data cleaning &amp; transformations</a:t>
            </a:r>
          </a:p>
          <a:p>
            <a:pPr>
              <a:defRPr sz="1400">
                <a:solidFill>
                  <a:srgbClr val="323232"/>
                </a:solidFill>
              </a:defRPr>
            </a:pPr>
            <a:r>
              <a:rPr lang="en-US" sz="1900"/>
              <a:t>Risk of overgeneralization when aggregating</a:t>
            </a:r>
          </a:p>
          <a:p>
            <a:pPr>
              <a:defRPr sz="1400">
                <a:solidFill>
                  <a:srgbClr val="323232"/>
                </a:solidFill>
              </a:defRPr>
            </a:pPr>
            <a:r>
              <a:rPr lang="en-US" sz="1900"/>
              <a:t>Need for demographic overlays for deeper context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Triangle 15">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6825" y="1188637"/>
            <a:ext cx="2241175" cy="4480726"/>
          </a:xfrm>
        </p:spPr>
        <p:txBody>
          <a:bodyPr>
            <a:normAutofit/>
          </a:bodyPr>
          <a:lstStyle/>
          <a:p>
            <a:pPr algn="r"/>
            <a:r>
              <a:rPr lang="en-US" sz="3600"/>
              <a:t>Conclusion &amp; Next Steps</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941445" y="1648870"/>
            <a:ext cx="3527136" cy="3560260"/>
          </a:xfrm>
        </p:spPr>
        <p:txBody>
          <a:bodyPr anchor="ctr">
            <a:normAutofit/>
          </a:bodyPr>
          <a:lstStyle/>
          <a:p>
            <a:pPr>
              <a:defRPr sz="1400">
                <a:solidFill>
                  <a:srgbClr val="323232"/>
                </a:solidFill>
              </a:defRPr>
            </a:pPr>
            <a:r>
              <a:rPr lang="en-US" sz="2100"/>
              <a:t>Summary of findings</a:t>
            </a:r>
          </a:p>
          <a:p>
            <a:pPr>
              <a:defRPr sz="1400">
                <a:solidFill>
                  <a:srgbClr val="323232"/>
                </a:solidFill>
              </a:defRPr>
            </a:pPr>
            <a:r>
              <a:rPr lang="en-US" sz="2100"/>
              <a:t>Future plans: Inflation adjustment, demographic integration, multivariate modeling</a:t>
            </a:r>
          </a:p>
          <a:p>
            <a:pPr>
              <a:defRPr sz="1400">
                <a:solidFill>
                  <a:srgbClr val="323232"/>
                </a:solidFill>
              </a:defRPr>
            </a:pPr>
            <a:r>
              <a:rPr lang="en-US" sz="2100"/>
              <a:t>Closing remark: Data-driven strategies for equitable childcare access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TotalTime>
  <Words>779</Words>
  <Application>Microsoft Macintosh PowerPoint</Application>
  <PresentationFormat>On-screen Show (4:3)</PresentationFormat>
  <Paragraphs>56</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National Database of Child Care Prices Analysis </vt:lpstr>
      <vt:lpstr>Introduction &amp; Objectives</vt:lpstr>
      <vt:lpstr>Dataset &amp; Key Variables</vt:lpstr>
      <vt:lpstr>Data Preparation &amp; Assumptions</vt:lpstr>
      <vt:lpstr>National Cost Trends (2008-2018)</vt:lpstr>
      <vt:lpstr>Geographic Disparities</vt:lpstr>
      <vt:lpstr>Cost Growth Hotspots</vt:lpstr>
      <vt:lpstr>Socioeconomic Impact</vt:lpstr>
      <vt:lpstr>Key Insights</vt:lpstr>
      <vt:lpstr>Policy Recommendations</vt:lpstr>
      <vt:lpstr>Ethical Considerations &amp; Limitations</vt:lpstr>
      <vt:lpstr>Conclusion &amp; Next Steps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Taylor Duncan</cp:lastModifiedBy>
  <cp:revision>4</cp:revision>
  <dcterms:created xsi:type="dcterms:W3CDTF">2013-01-27T09:14:16Z</dcterms:created>
  <dcterms:modified xsi:type="dcterms:W3CDTF">2025-08-10T18:25:05Z</dcterms:modified>
  <cp:category/>
</cp:coreProperties>
</file>